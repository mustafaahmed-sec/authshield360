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a937dc47334e0d" /><Relationship Type="http://schemas.openxmlformats.org/officeDocument/2006/relationships/extended-properties" Target="/docProps/app.xml" Id="R1de94c5048fb4155" /><Relationship Type="http://schemas.openxmlformats.org/officeDocument/2006/relationships/officeDocument" Target="/ppt/presentation.xml" Id="R892a92b50dec485a" /></Relationships>
</file>

<file path=ppt/presentation.xml><?xml version="1.0" encoding="utf-8"?>
<p:presentation xmlns:p="http://schemas.openxmlformats.org/presentationml/2006/main">
  <p:sldMasterIdLst>
    <p:sldMasterId xmlns:r="http://schemas.openxmlformats.org/officeDocument/2006/relationships" id="2147483648" r:id="Rdc23d14ad2c849fb"/>
  </p:sldMasterIdLst>
  <p:notesMasterIdLst>
    <p:notesMasterId xmlns:r="http://schemas.openxmlformats.org/officeDocument/2006/relationships" r:id="Ref49d75d066e4804"/>
  </p:notesMasterIdLst>
  <p:sldIdLst>
    <p:sldId xmlns:r="http://schemas.openxmlformats.org/officeDocument/2006/relationships" id="256" r:id="R46cd9165a2644009"/>
    <p:sldId xmlns:r="http://schemas.openxmlformats.org/officeDocument/2006/relationships" id="257" r:id="R8abb52851a4a465d"/>
    <p:sldId xmlns:r="http://schemas.openxmlformats.org/officeDocument/2006/relationships" id="258" r:id="R99996332f4544b8a"/>
    <p:sldId xmlns:r="http://schemas.openxmlformats.org/officeDocument/2006/relationships" id="259" r:id="Rd66a6743f2a24ae4"/>
    <p:sldId xmlns:r="http://schemas.openxmlformats.org/officeDocument/2006/relationships" id="260" r:id="R2edbc8a1f0a24d08"/>
    <p:sldId xmlns:r="http://schemas.openxmlformats.org/officeDocument/2006/relationships" id="261" r:id="R265cd381a1fa4d0e"/>
    <p:sldId xmlns:r="http://schemas.openxmlformats.org/officeDocument/2006/relationships" id="262" r:id="R1fe5534d0a95489c"/>
    <p:sldId xmlns:r="http://schemas.openxmlformats.org/officeDocument/2006/relationships" id="263" r:id="R1671f09910fd48f4"/>
    <p:sldId xmlns:r="http://schemas.openxmlformats.org/officeDocument/2006/relationships" id="264" r:id="Radb0d9d5913a4dc9"/>
    <p:sldId xmlns:r="http://schemas.openxmlformats.org/officeDocument/2006/relationships" id="265" r:id="R69c8850e316d4786"/>
    <p:sldId xmlns:r="http://schemas.openxmlformats.org/officeDocument/2006/relationships" id="266" r:id="R3fe2b965c3734f84"/>
    <p:sldId xmlns:r="http://schemas.openxmlformats.org/officeDocument/2006/relationships" id="267" r:id="Re302fe0199f345ee"/>
    <p:sldId xmlns:r="http://schemas.openxmlformats.org/officeDocument/2006/relationships" id="268" r:id="R28c531bb6f804d0b"/>
    <p:sldId xmlns:r="http://schemas.openxmlformats.org/officeDocument/2006/relationships" id="269" r:id="R0557e1fb48414c59"/>
    <p:sldId xmlns:r="http://schemas.openxmlformats.org/officeDocument/2006/relationships" id="270" r:id="R45b92dd1e3c34074"/>
    <p:sldId xmlns:r="http://schemas.openxmlformats.org/officeDocument/2006/relationships" id="271" r:id="Rf48682c49b6c4bab"/>
    <p:sldId xmlns:r="http://schemas.openxmlformats.org/officeDocument/2006/relationships" id="272" r:id="R8d42fb1eee7e43c4"/>
    <p:sldId xmlns:r="http://schemas.openxmlformats.org/officeDocument/2006/relationships" id="273" r:id="R433021fcab7c4879"/>
    <p:sldId xmlns:r="http://schemas.openxmlformats.org/officeDocument/2006/relationships" id="274" r:id="Rf24c8462abc2401f"/>
    <p:sldId xmlns:r="http://schemas.openxmlformats.org/officeDocument/2006/relationships" id="275" r:id="R4df76ab7aa5b4a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46845433c84c59" /><Relationship Type="http://schemas.openxmlformats.org/officeDocument/2006/relationships/slideMaster" Target="/ppt/slideMasters/slideMaster1.xml" Id="Rdc23d14ad2c849fb" /><Relationship Type="http://schemas.openxmlformats.org/officeDocument/2006/relationships/notesMaster" Target="/ppt/notesMasters/notesMaster1.xml" Id="Ref49d75d066e4804" /><Relationship Type="http://schemas.openxmlformats.org/officeDocument/2006/relationships/presProps" Target="/ppt/presProps.xml" Id="R25280275e76a4f91" /><Relationship Type="http://schemas.openxmlformats.org/officeDocument/2006/relationships/tableStyles" Target="/ppt/tableStyles.xml" Id="R26a454a359ee40e0" /><Relationship Type="http://schemas.openxmlformats.org/officeDocument/2006/relationships/slide" Target="/ppt/slides/slide1.xml" Id="R46cd9165a2644009" /><Relationship Type="http://schemas.openxmlformats.org/officeDocument/2006/relationships/slide" Target="/ppt/slides/slide2.xml" Id="R8abb52851a4a465d" /><Relationship Type="http://schemas.openxmlformats.org/officeDocument/2006/relationships/slide" Target="/ppt/slides/slide3.xml" Id="R99996332f4544b8a" /><Relationship Type="http://schemas.openxmlformats.org/officeDocument/2006/relationships/slide" Target="/ppt/slides/slide4.xml" Id="Rd66a6743f2a24ae4" /><Relationship Type="http://schemas.openxmlformats.org/officeDocument/2006/relationships/slide" Target="/ppt/slides/slide5.xml" Id="R2edbc8a1f0a24d08" /><Relationship Type="http://schemas.openxmlformats.org/officeDocument/2006/relationships/slide" Target="/ppt/slides/slide6.xml" Id="R265cd381a1fa4d0e" /><Relationship Type="http://schemas.openxmlformats.org/officeDocument/2006/relationships/slide" Target="/ppt/slides/slide7.xml" Id="R1fe5534d0a95489c" /><Relationship Type="http://schemas.openxmlformats.org/officeDocument/2006/relationships/slide" Target="/ppt/slides/slide8.xml" Id="R1671f09910fd48f4" /><Relationship Type="http://schemas.openxmlformats.org/officeDocument/2006/relationships/slide" Target="/ppt/slides/slide9.xml" Id="Radb0d9d5913a4dc9" /><Relationship Type="http://schemas.openxmlformats.org/officeDocument/2006/relationships/slide" Target="/ppt/slides/slide10.xml" Id="R69c8850e316d4786" /><Relationship Type="http://schemas.openxmlformats.org/officeDocument/2006/relationships/slide" Target="/ppt/slides/slide11.xml" Id="R3fe2b965c3734f84" /><Relationship Type="http://schemas.openxmlformats.org/officeDocument/2006/relationships/slide" Target="/ppt/slides/slide12.xml" Id="Re302fe0199f345ee" /><Relationship Type="http://schemas.openxmlformats.org/officeDocument/2006/relationships/slide" Target="/ppt/slides/slide13.xml" Id="R28c531bb6f804d0b" /><Relationship Type="http://schemas.openxmlformats.org/officeDocument/2006/relationships/slide" Target="/ppt/slides/slide14.xml" Id="R0557e1fb48414c59" /><Relationship Type="http://schemas.openxmlformats.org/officeDocument/2006/relationships/slide" Target="/ppt/slides/slide15.xml" Id="R45b92dd1e3c34074" /><Relationship Type="http://schemas.openxmlformats.org/officeDocument/2006/relationships/slide" Target="/ppt/slides/slide16.xml" Id="Rf48682c49b6c4bab" /><Relationship Type="http://schemas.openxmlformats.org/officeDocument/2006/relationships/slide" Target="/ppt/slides/slide17.xml" Id="R8d42fb1eee7e43c4" /><Relationship Type="http://schemas.openxmlformats.org/officeDocument/2006/relationships/slide" Target="/ppt/slides/slide18.xml" Id="R433021fcab7c4879" /><Relationship Type="http://schemas.openxmlformats.org/officeDocument/2006/relationships/slide" Target="/ppt/slides/slide19.xml" Id="Rf24c8462abc2401f" /><Relationship Type="http://schemas.openxmlformats.org/officeDocument/2006/relationships/slide" Target="/ppt/slides/slide20.xml" Id="R4df76ab7aa5b4a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f47fb547024c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26c9774e444b4c" /><Relationship Type="http://schemas.openxmlformats.org/officeDocument/2006/relationships/notesMaster" Target="/ppt/notesMasters/notesMaster1.xml" Id="Rad3fd33e5b434f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225110cb6a401f" /><Relationship Type="http://schemas.openxmlformats.org/officeDocument/2006/relationships/notesMaster" Target="/ppt/notesMasters/notesMaster1.xml" Id="R45f5db0603b640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323bddf35841af" /><Relationship Type="http://schemas.openxmlformats.org/officeDocument/2006/relationships/notesMaster" Target="/ppt/notesMasters/notesMaster1.xml" Id="Re93d5ec745ec44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39a6abc9734b26" /><Relationship Type="http://schemas.openxmlformats.org/officeDocument/2006/relationships/notesMaster" Target="/ppt/notesMasters/notesMaster1.xml" Id="R6511ddad69a34e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b3b774373a4e74" /><Relationship Type="http://schemas.openxmlformats.org/officeDocument/2006/relationships/notesMaster" Target="/ppt/notesMasters/notesMaster1.xml" Id="R1d47dae3b26149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97da29d14649f1" /><Relationship Type="http://schemas.openxmlformats.org/officeDocument/2006/relationships/notesMaster" Target="/ppt/notesMasters/notesMaster1.xml" Id="R931e07f9c5f94f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c89feb4d4c4626" /><Relationship Type="http://schemas.openxmlformats.org/officeDocument/2006/relationships/notesMaster" Target="/ppt/notesMasters/notesMaster1.xml" Id="R47afdfb5345f49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fbcac0751d4665" /><Relationship Type="http://schemas.openxmlformats.org/officeDocument/2006/relationships/notesMaster" Target="/ppt/notesMasters/notesMaster1.xml" Id="R0b52110a3b9541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3ca3f2c6964094" /><Relationship Type="http://schemas.openxmlformats.org/officeDocument/2006/relationships/notesMaster" Target="/ppt/notesMasters/notesMaster1.xml" Id="R941c948e8c6642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34332b39f24fb1" /><Relationship Type="http://schemas.openxmlformats.org/officeDocument/2006/relationships/notesMaster" Target="/ppt/notesMasters/notesMaster1.xml" Id="Rb273a38d581c47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bb549103df4b12" /><Relationship Type="http://schemas.openxmlformats.org/officeDocument/2006/relationships/notesMaster" Target="/ppt/notesMasters/notesMaster1.xml" Id="Reffda844784648a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909077b2154bc6" /><Relationship Type="http://schemas.openxmlformats.org/officeDocument/2006/relationships/notesMaster" Target="/ppt/notesMasters/notesMaster1.xml" Id="R70910caf159b47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7c57ecd4c5461c" /><Relationship Type="http://schemas.openxmlformats.org/officeDocument/2006/relationships/notesMaster" Target="/ppt/notesMasters/notesMaster1.xml" Id="Rfc69c0086de24c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07de7653ac4220" /><Relationship Type="http://schemas.openxmlformats.org/officeDocument/2006/relationships/notesMaster" Target="/ppt/notesMasters/notesMaster1.xml" Id="Rd43fd486a5db4c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f3e7702f6148c6" /><Relationship Type="http://schemas.openxmlformats.org/officeDocument/2006/relationships/notesMaster" Target="/ppt/notesMasters/notesMaster1.xml" Id="R054f2009393748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813b39016304dfa" /><Relationship Type="http://schemas.openxmlformats.org/officeDocument/2006/relationships/notesMaster" Target="/ppt/notesMasters/notesMaster1.xml" Id="R3b3cf3b5c3f7492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39cfa8c8e7418d" /><Relationship Type="http://schemas.openxmlformats.org/officeDocument/2006/relationships/notesMaster" Target="/ppt/notesMasters/notesMaster1.xml" Id="Re5b35db30bb0419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24f9ea149b1416c" /><Relationship Type="http://schemas.openxmlformats.org/officeDocument/2006/relationships/notesMaster" Target="/ppt/notesMasters/notesMaster1.xml" Id="R4998b6f1710e4af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ee169d56d614f84" /><Relationship Type="http://schemas.openxmlformats.org/officeDocument/2006/relationships/notesMaster" Target="/ppt/notesMasters/notesMaster1.xml" Id="Raf4460f02224454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f92e555edc34eb3" /><Relationship Type="http://schemas.openxmlformats.org/officeDocument/2006/relationships/notesMaster" Target="/ppt/notesMasters/notesMaster1.xml" Id="Rf0e53701d1f940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the TechViz competition hosted by Aptech. Team and project details were supplied by MSG Security Squad.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summarized from the current AuthShield source and handoff README. Django checks protected server requests.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references: Django https://docs.djangoproject.com/en/5.2/topics/db/ ; Firebase https://firebase.google.com/docs/auth/web/phone-auth ; Neon https://neon.com/docs/get-started-with-neon/workflow-primer ; Vercel https://vercel.com/docs/functions. The team must verify active production settings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Account request state and approved user state are separate in the project data model and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requested sign-in order is password, SMS OTP, then email OTP. Source policy determines which available factors are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Firebase web phone authentication documentation: https://firebase.google.com/docs/auth/web/phone-auth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Email challenge is separate from Firebase SMS. The source review did not send email.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 summary based on the project role model and server-side view protections.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Keycloak TOTP is separate and depends on an active Keycloak service, Admin API and authentication flow. Production readiness was not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intentionally simplified. The ERD and source models/migrations provide more detail. Production database rows were not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summary from source models, views, templates and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Django security guidance: https://docs.djangoproject.com/en/5.2/topics/security/ . Diagram describes source-level controls, not a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Numbers are documented project defaults from the repository handoff and source configuration. They are not a universal OWASP requirement. Firebase applies independent usage, carrier and abuse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test suite used isolated SQLite and in-memory email. The changed-code security review scope was 13 source/test files. No provider delivery or production behavior was assessed.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references: GitHub Actions https://docs.github.com/en/actions ; Vercel deployments https://vercel.com/docs/deployments/overview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handoff preserves the private workbook and portal credential text for authorized owners. Those files are ignored by Git and excluded from the Vercel deployment bundle. USB recipients can still read them, so protect the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product references are listed in the PDF. Neon is a managed PostgreSQL service. Firebase Phone Auth and Keycloak are separate identity components. The USD 300 credit amount is team-reported, not independently checked.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verification was performed against isolated test settings. The security review was limited to a defined changed-code diff. Provider consoles and live accounts were intentionally not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answers reflect the described project architecture and the boundaries of the available local evidence. Do not claim live status without checking current provider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verification requires authorized owners to check the live services. This presentation and its companion guide explain the project and its current evidence without claiming unverified production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1bd1ef07e840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00e42af62848b9" /><Relationship Type="http://schemas.openxmlformats.org/officeDocument/2006/relationships/slideLayout" Target="/ppt/slideLayouts/slideLayout1.xml" Id="R9d5a9f1d347944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a9f1d347944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099056182a4879" /><Relationship Type="http://schemas.openxmlformats.org/officeDocument/2006/relationships/image" Target="/ppt/media/image.png" Id="R76ae0e049f8c4123" /><Relationship Type="http://schemas.openxmlformats.org/officeDocument/2006/relationships/notesSlide" Target="/ppt/notesSlides/notesSlide1.xml" Id="R3666d926fde84f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2f5ebba06f4e9e" /><Relationship Type="http://schemas.openxmlformats.org/officeDocument/2006/relationships/notesSlide" Target="/ppt/notesSlides/notesSlide2.xml" Id="R0e7e42527a8548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e858e60efb4f88" /><Relationship Type="http://schemas.openxmlformats.org/officeDocument/2006/relationships/notesSlide" Target="/ppt/notesSlides/notesSlide3.xml" Id="R59bfc25bb7e646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7cf940e49964450" /><Relationship Type="http://schemas.openxmlformats.org/officeDocument/2006/relationships/notesSlide" Target="/ppt/notesSlides/notesSlide4.xml" Id="Rb36ed30b38134a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0923df649f4f41" /><Relationship Type="http://schemas.openxmlformats.org/officeDocument/2006/relationships/notesSlide" Target="/ppt/notesSlides/notesSlide5.xml" Id="R4ca0b94b379f40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ade57fbd914652" /><Relationship Type="http://schemas.openxmlformats.org/officeDocument/2006/relationships/notesSlide" Target="/ppt/notesSlides/notesSlide6.xml" Id="Ra47a2e229b0745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90f285c0bf1430d" /><Relationship Type="http://schemas.openxmlformats.org/officeDocument/2006/relationships/notesSlide" Target="/ppt/notesSlides/notesSlide7.xml" Id="R09773dae6fd04c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2295abd62b45af" /><Relationship Type="http://schemas.openxmlformats.org/officeDocument/2006/relationships/notesSlide" Target="/ppt/notesSlides/notesSlide8.xml" Id="R670dc6b6de894e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29652c5c53246cb" /><Relationship Type="http://schemas.openxmlformats.org/officeDocument/2006/relationships/notesSlide" Target="/ppt/notesSlides/notesSlide9.xml" Id="R16a2c10be04442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5d53641f71242ab" /><Relationship Type="http://schemas.openxmlformats.org/officeDocument/2006/relationships/notesSlide" Target="/ppt/notesSlides/notesSlide10.xml" Id="R35b1b5890f534a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72e7c1bf7704996" /><Relationship Type="http://schemas.openxmlformats.org/officeDocument/2006/relationships/notesSlide" Target="/ppt/notesSlides/notesSlide11.xml" Id="Rf055fccaecb249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ddd017592f94fec" /><Relationship Type="http://schemas.openxmlformats.org/officeDocument/2006/relationships/notesSlide" Target="/ppt/notesSlides/notesSlide12.xml" Id="Re0497757f2cd44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a34c783ecf54d55" /><Relationship Type="http://schemas.openxmlformats.org/officeDocument/2006/relationships/notesSlide" Target="/ppt/notesSlides/notesSlide13.xml" Id="Rd858de2f59794c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691f98b793a4ade" /><Relationship Type="http://schemas.openxmlformats.org/officeDocument/2006/relationships/notesSlide" Target="/ppt/notesSlides/notesSlide14.xml" Id="Recec46c830b245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62bfa74c5554677" /><Relationship Type="http://schemas.openxmlformats.org/officeDocument/2006/relationships/notesSlide" Target="/ppt/notesSlides/notesSlide15.xml" Id="R5fe6c634cd014b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717300f4c1d414e" /><Relationship Type="http://schemas.openxmlformats.org/officeDocument/2006/relationships/notesSlide" Target="/ppt/notesSlides/notesSlide16.xml" Id="Rd8bd1ff6b153435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8cd7d24cbbf468c" /><Relationship Type="http://schemas.openxmlformats.org/officeDocument/2006/relationships/notesSlide" Target="/ppt/notesSlides/notesSlide17.xml" Id="R47982e9c5d4f4e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49c396192644473" /><Relationship Type="http://schemas.openxmlformats.org/officeDocument/2006/relationships/notesSlide" Target="/ppt/notesSlides/notesSlide18.xml" Id="R4af884613f4548f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491304331a749a3" /><Relationship Type="http://schemas.openxmlformats.org/officeDocument/2006/relationships/notesSlide" Target="/ppt/notesSlides/notesSlide19.xml" Id="R9657ec2afe64446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2c5ea4da5674b84" /><Relationship Type="http://schemas.openxmlformats.org/officeDocument/2006/relationships/notesSlide" Target="/ppt/notesSlides/notesSlide20.xml" Id="Rf9c161545e6f4388" /></Relationships>
</file>

<file path=ppt/slides/slide1.xml><?xml version="1.0" encoding="utf-8"?>
<p:sld xmlns:p="http://schemas.openxmlformats.org/presentationml/2006/main">
  <p:cSld>
    <p:bg>
      <p:bgPr>
        <a:solidFill xmlns:a="http://schemas.openxmlformats.org/drawingml/2006/main">
          <a:srgbClr val="142B4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44722D-99DB-4079-BB8D-3112506A709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6ae0e049f8c4123"/>
          <a:stretch xmlns:a="http://schemas.openxmlformats.org/drawingml/2006/main"/>
        </p:blipFill>
        <p:spPr>
          <a:xfrm xmlns:a="http://schemas.openxmlformats.org/drawingml/2006/main">
            <a:off x="8191500" y="1013929"/>
            <a:ext cx="2476500" cy="168689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81B1ED6-91C1-4D83-9BE1-9DA94782DCE6}"/>
              </a:ext>
            </a:extLst>
          </p:cNvPr>
          <p:cNvSpPr>
            <a:spLocks xmlns:a="http://schemas.openxmlformats.org/drawingml/2006/main" noGrp="1"/>
          </p:cNvSpPr>
          <p:nvPr/>
        </p:nvSpPr>
        <p:spPr>
          <a:xfrm xmlns:a="http://schemas.openxmlformats.org/drawingml/2006/main">
            <a:off x="742950" y="95250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350" b="1">
                <a:solidFill>
                  <a:srgbClr val="DDF2EC"/>
                </a:solidFill>
                <a:latin typeface="Arial"/>
                <a:ea typeface="Arial"/>
                <a:cs typeface="Arial"/>
              </a:defRPr>
            </a:pPr>
            <a:r>
              <a:rPr sz="1350" b="1">
                <a:solidFill>
                  <a:srgbClr val="DDF2EC"/>
                </a:solidFill>
                <a:latin typeface="Arial"/>
                <a:ea typeface="Arial"/>
                <a:cs typeface="Arial"/>
              </a:rPr>
              <a:t>TECHVIZ COMPETITION  /  APTECH</a:t>
            </a:r>
          </a:p>
        </p:txBody>
      </p:sp>
      <p:sp>
        <p:nvSpPr>
          <p:cNvPr id="4" name="">
            <a:extLst xmlns:a="http://schemas.openxmlformats.org/drawingml/2006/main">
              <a:ext uri="{FF2B5EF4-FFF2-40B4-BE49-F238E27FC236}">
                <a16:creationId xmlns:a16="http://schemas.microsoft.com/office/drawing/2014/main" id="{710D9919-0F5A-4F8D-8527-FAEE0B615809}"/>
              </a:ext>
            </a:extLst>
          </p:cNvPr>
          <p:cNvSpPr>
            <a:spLocks xmlns:a="http://schemas.openxmlformats.org/drawingml/2006/main" noGrp="1"/>
          </p:cNvSpPr>
          <p:nvPr/>
        </p:nvSpPr>
        <p:spPr>
          <a:xfrm xmlns:a="http://schemas.openxmlformats.org/drawingml/2006/main">
            <a:off x="742950" y="167640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AuthShield 360</a:t>
            </a:r>
          </a:p>
        </p:txBody>
      </p:sp>
      <p:sp>
        <p:nvSpPr>
          <p:cNvPr id="5" name="">
            <a:extLst xmlns:a="http://schemas.openxmlformats.org/drawingml/2006/main">
              <a:ext uri="{FF2B5EF4-FFF2-40B4-BE49-F238E27FC236}">
                <a16:creationId xmlns:a16="http://schemas.microsoft.com/office/drawing/2014/main" id="{1C3D5765-B64D-4B42-A7DD-571F85BE2759}"/>
              </a:ext>
            </a:extLst>
          </p:cNvPr>
          <p:cNvSpPr>
            <a:spLocks xmlns:a="http://schemas.openxmlformats.org/drawingml/2006/main" noGrp="1"/>
          </p:cNvSpPr>
          <p:nvPr/>
        </p:nvSpPr>
        <p:spPr>
          <a:xfrm xmlns:a="http://schemas.openxmlformats.org/drawingml/2006/main">
            <a:off x="781050" y="2600325"/>
            <a:ext cx="657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2400" b="0">
                <a:solidFill>
                  <a:srgbClr val="D8E4F1"/>
                </a:solidFill>
                <a:latin typeface="Arial"/>
                <a:ea typeface="Arial"/>
                <a:cs typeface="Arial"/>
              </a:defRPr>
            </a:pPr>
            <a:r>
              <a:rPr sz="2400" b="0">
                <a:solidFill>
                  <a:srgbClr val="D8E4F1"/>
                </a:solidFill>
                <a:latin typeface="Arial"/>
                <a:ea typeface="Arial"/>
                <a:cs typeface="Arial"/>
              </a:rPr>
              <a:t>School portal and authentication flow</a:t>
            </a:r>
          </a:p>
        </p:txBody>
      </p:sp>
      <p:sp>
        <p:nvSpPr>
          <p:cNvPr id="6" name="">
            <a:extLst xmlns:a="http://schemas.openxmlformats.org/drawingml/2006/main">
              <a:ext uri="{FF2B5EF4-FFF2-40B4-BE49-F238E27FC236}">
                <a16:creationId xmlns:a16="http://schemas.microsoft.com/office/drawing/2014/main" id="{7299C928-79DB-4EBF-B3AA-EA3A94BE999F}"/>
              </a:ext>
            </a:extLst>
          </p:cNvPr>
          <p:cNvSpPr>
            <a:spLocks xmlns:a="http://schemas.openxmlformats.org/drawingml/2006/main" noGrp="1"/>
          </p:cNvSpPr>
          <p:nvPr/>
        </p:nvSpPr>
        <p:spPr>
          <a:xfrm xmlns:a="http://schemas.openxmlformats.org/drawingml/2006/main">
            <a:off x="781050" y="3476625"/>
            <a:ext cx="6381750" cy="0"/>
          </a:xfrm>
          <a:prstGeom xmlns:a="http://schemas.openxmlformats.org/drawingml/2006/main" prst="line">
            <a:avLst/>
          </a:prstGeom>
          <a:noFill xmlns:a="http://schemas.openxmlformats.org/drawingml/2006/main"/>
          <a:ln xmlns:a="http://schemas.openxmlformats.org/drawingml/2006/main" w="19050">
            <a:solidFill>
              <a:srgbClr val="53708F"/>
            </a:solidFill>
            <a:prstDash val="solid"/>
          </a:ln>
        </p:spPr>
      </p:sp>
      <p:sp>
        <p:nvSpPr>
          <p:cNvPr id="7" name="">
            <a:extLst xmlns:a="http://schemas.openxmlformats.org/drawingml/2006/main">
              <a:ext uri="{FF2B5EF4-FFF2-40B4-BE49-F238E27FC236}">
                <a16:creationId xmlns:a16="http://schemas.microsoft.com/office/drawing/2014/main" id="{89F5817B-6B2E-421F-BE73-838D9E2DDC60}"/>
              </a:ext>
            </a:extLst>
          </p:cNvPr>
          <p:cNvSpPr>
            <a:spLocks xmlns:a="http://schemas.openxmlformats.org/drawingml/2006/main" noGrp="1"/>
          </p:cNvSpPr>
          <p:nvPr/>
        </p:nvSpPr>
        <p:spPr>
          <a:xfrm xmlns:a="http://schemas.openxmlformats.org/drawingml/2006/main">
            <a:off x="781050" y="375285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2025" b="1">
                <a:solidFill>
                  <a:srgbClr val="DDF2EC"/>
                </a:solidFill>
                <a:latin typeface="Arial"/>
                <a:ea typeface="Arial"/>
                <a:cs typeface="Arial"/>
              </a:defRPr>
            </a:pPr>
            <a:r>
              <a:rPr sz="2025" b="1">
                <a:solidFill>
                  <a:srgbClr val="DDF2EC"/>
                </a:solidFill>
                <a:latin typeface="Arial"/>
                <a:ea typeface="Arial"/>
                <a:cs typeface="Arial"/>
              </a:rPr>
              <a:t>Password  &gt;  SMS OTP  &gt;  Email OTP</a:t>
            </a:r>
          </a:p>
        </p:txBody>
      </p:sp>
      <p:sp>
        <p:nvSpPr>
          <p:cNvPr id="8" name="">
            <a:extLst xmlns:a="http://schemas.openxmlformats.org/drawingml/2006/main">
              <a:ext uri="{FF2B5EF4-FFF2-40B4-BE49-F238E27FC236}">
                <a16:creationId xmlns:a16="http://schemas.microsoft.com/office/drawing/2014/main" id="{4A5048FD-4C57-4629-B2AC-32F833CF0AE7}"/>
              </a:ext>
            </a:extLst>
          </p:cNvPr>
          <p:cNvSpPr>
            <a:spLocks xmlns:a="http://schemas.openxmlformats.org/drawingml/2006/main" noGrp="1"/>
          </p:cNvSpPr>
          <p:nvPr/>
        </p:nvSpPr>
        <p:spPr>
          <a:xfrm xmlns:a="http://schemas.openxmlformats.org/drawingml/2006/main">
            <a:off x="781050" y="46958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MSG Security Squad</a:t>
            </a:r>
          </a:p>
        </p:txBody>
      </p:sp>
      <p:sp>
        <p:nvSpPr>
          <p:cNvPr id="9" name="">
            <a:extLst xmlns:a="http://schemas.openxmlformats.org/drawingml/2006/main">
              <a:ext uri="{FF2B5EF4-FFF2-40B4-BE49-F238E27FC236}">
                <a16:creationId xmlns:a16="http://schemas.microsoft.com/office/drawing/2014/main" id="{95A0F8A5-A947-4109-8DE2-AFC72933C5F2}"/>
              </a:ext>
            </a:extLst>
          </p:cNvPr>
          <p:cNvSpPr>
            <a:spLocks xmlns:a="http://schemas.openxmlformats.org/drawingml/2006/main" noGrp="1"/>
          </p:cNvSpPr>
          <p:nvPr/>
        </p:nvSpPr>
        <p:spPr>
          <a:xfrm xmlns:a="http://schemas.openxmlformats.org/drawingml/2006/main">
            <a:off x="781050" y="5105400"/>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00" b="0">
                <a:solidFill>
                  <a:srgbClr val="D8E4F1"/>
                </a:solidFill>
                <a:latin typeface="Arial"/>
                <a:ea typeface="Arial"/>
                <a:cs typeface="Arial"/>
              </a:defRPr>
            </a:pPr>
            <a:r>
              <a:rPr sz="1500" b="0">
                <a:solidFill>
                  <a:srgbClr val="D8E4F1"/>
                </a:solidFill>
                <a:latin typeface="Arial"/>
                <a:ea typeface="Arial"/>
                <a:cs typeface="Arial"/>
              </a:rPr>
              <a:t>Leader: Mustafa Ahmed</a:t>
            </a:r>
          </a:p>
        </p:txBody>
      </p:sp>
      <p:sp>
        <p:nvSpPr>
          <p:cNvPr id="10" name="">
            <a:extLst xmlns:a="http://schemas.openxmlformats.org/drawingml/2006/main">
              <a:ext uri="{FF2B5EF4-FFF2-40B4-BE49-F238E27FC236}">
                <a16:creationId xmlns:a16="http://schemas.microsoft.com/office/drawing/2014/main" id="{426F33E3-21BF-4176-A5F3-1B26E551CCF6}"/>
              </a:ext>
            </a:extLst>
          </p:cNvPr>
          <p:cNvSpPr>
            <a:spLocks xmlns:a="http://schemas.openxmlformats.org/drawingml/2006/main" noGrp="1"/>
          </p:cNvSpPr>
          <p:nvPr/>
        </p:nvSpPr>
        <p:spPr>
          <a:xfrm xmlns:a="http://schemas.openxmlformats.org/drawingml/2006/main">
            <a:off x="781050" y="54578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350" b="0">
                <a:solidFill>
                  <a:srgbClr val="D8E4F1"/>
                </a:solidFill>
                <a:latin typeface="Arial"/>
                <a:ea typeface="Arial"/>
                <a:cs typeface="Arial"/>
              </a:defRPr>
            </a:pPr>
            <a:r>
              <a:rPr sz="1350" b="0">
                <a:solidFill>
                  <a:srgbClr val="D8E4F1"/>
                </a:solidFill>
                <a:latin typeface="Arial"/>
                <a:ea typeface="Arial"/>
                <a:cs typeface="Arial"/>
              </a:rPr>
              <a:t>Munniba, Aliyan, Mehak, Aisha, Rabia  |  Mentor: Sir Anas</a:t>
            </a:r>
          </a:p>
        </p:txBody>
      </p:sp>
      <p:sp>
        <p:nvSpPr>
          <p:cNvPr id="11" name="">
            <a:extLst xmlns:a="http://schemas.openxmlformats.org/drawingml/2006/main">
              <a:ext uri="{FF2B5EF4-FFF2-40B4-BE49-F238E27FC236}">
                <a16:creationId xmlns:a16="http://schemas.microsoft.com/office/drawing/2014/main" id="{5A51C8C5-FBA4-4E28-AABD-8A70AA33EECC}"/>
              </a:ext>
            </a:extLst>
          </p:cNvPr>
          <p:cNvSpPr>
            <a:spLocks xmlns:a="http://schemas.openxmlformats.org/drawingml/2006/main" noGrp="1"/>
          </p:cNvSpPr>
          <p:nvPr/>
        </p:nvSpPr>
        <p:spPr>
          <a:xfrm xmlns:a="http://schemas.openxmlformats.org/drawingml/2006/main">
            <a:off x="781050" y="63150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AEBED0"/>
                </a:solidFill>
                <a:latin typeface="Arial"/>
                <a:ea typeface="Arial"/>
                <a:cs typeface="Arial"/>
              </a:defRPr>
            </a:pPr>
            <a:r>
              <a:rPr sz="1200" b="0">
                <a:solidFill>
                  <a:srgbClr val="AEBED0"/>
                </a:solidFill>
                <a:latin typeface="Arial"/>
                <a:ea typeface="Arial"/>
                <a:cs typeface="Arial"/>
              </a:rPr>
              <a:t>Team study guide  |  1 October 2026</a:t>
            </a:r>
          </a:p>
        </p:txBody>
      </p:sp>
    </p:spTree>
    <p:extLst>
      <p:ext uri="{BB962C8B-B14F-4D97-AF65-F5344CB8AC3E}">
        <p14:creationId xmlns:p14="http://schemas.microsoft.com/office/powerpoint/2010/main" val="17066537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2CC08ED-E1D2-4F0B-A688-C3B8EFF5D37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A4F7F872-6E04-46C5-88E2-7E5E8FB5AE53}"/>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Project scope and roles</a:t>
            </a:r>
          </a:p>
        </p:txBody>
      </p:sp>
      <p:sp>
        <p:nvSpPr>
          <p:cNvPr id="3" name="">
            <a:extLst xmlns:a="http://schemas.openxmlformats.org/drawingml/2006/main">
              <a:ext uri="{FF2B5EF4-FFF2-40B4-BE49-F238E27FC236}">
                <a16:creationId xmlns:a16="http://schemas.microsoft.com/office/drawing/2014/main" id="{F1D5F8F2-5F51-478C-9C10-8257E3F53856}"/>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DA81B915-3C3D-43B1-A192-6CBA925CF0B3}"/>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F2DDEBF4-52E4-412E-91DF-CFFFEE068B64}"/>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E3ED901D-AE6A-4ECF-BAF6-512727D578E8}"/>
              </a:ext>
            </a:extLst>
          </p:cNvPr>
          <p:cNvSpPr>
            <a:spLocks xmlns:a="http://schemas.openxmlformats.org/drawingml/2006/main" noGrp="1"/>
          </p:cNvSpPr>
          <p:nvPr/>
        </p:nvSpPr>
        <p:spPr>
          <a:xfrm xmlns:a="http://schemas.openxmlformats.org/drawingml/2006/main">
            <a:off x="704850" y="12096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800" b="0">
                <a:solidFill>
                  <a:srgbClr val="53677E"/>
                </a:solidFill>
                <a:latin typeface="Arial"/>
                <a:ea typeface="Arial"/>
                <a:cs typeface="Arial"/>
              </a:defRPr>
            </a:pPr>
            <a:r>
              <a:rPr sz="1800" b="0">
                <a:solidFill>
                  <a:srgbClr val="53677E"/>
                </a:solidFill>
                <a:latin typeface="Arial"/>
                <a:ea typeface="Arial"/>
                <a:cs typeface="Arial"/>
              </a:rPr>
              <a:t>One portal serves three school roles. Each role has its own data and permissions.</a:t>
            </a:r>
          </a:p>
        </p:txBody>
      </p:sp>
      <p:sp>
        <p:nvSpPr>
          <p:cNvPr id="7" name="">
            <a:extLst xmlns:a="http://schemas.openxmlformats.org/drawingml/2006/main">
              <a:ext uri="{FF2B5EF4-FFF2-40B4-BE49-F238E27FC236}">
                <a16:creationId xmlns:a16="http://schemas.microsoft.com/office/drawing/2014/main" id="{E42DD6BF-FEE5-4B10-B94D-39531A3FF9AA}"/>
              </a:ext>
            </a:extLst>
          </p:cNvPr>
          <p:cNvSpPr>
            <a:spLocks xmlns:a="http://schemas.openxmlformats.org/drawingml/2006/main" noGrp="1"/>
          </p:cNvSpPr>
          <p:nvPr/>
        </p:nvSpPr>
        <p:spPr>
          <a:xfrm xmlns:a="http://schemas.openxmlformats.org/drawingml/2006/main">
            <a:off x="666750" y="2047875"/>
            <a:ext cx="3238500" cy="2381250"/>
          </a:xfrm>
          <a:prstGeom xmlns:a="http://schemas.openxmlformats.org/drawingml/2006/main" prst="roundRect">
            <a:avLst>
              <a:gd name="adj" fmla="val 5600"/>
            </a:avLst>
          </a:prstGeom>
          <a:solidFill xmlns:a="http://schemas.openxmlformats.org/drawingml/2006/main">
            <a:srgbClr val="E8F1F8"/>
          </a:solidFill>
          <a:ln xmlns:a="http://schemas.openxmlformats.org/drawingml/2006/main" w="19050">
            <a:solidFill>
              <a:srgbClr val="1F5B88"/>
            </a:solidFill>
            <a:prstDash val="solid"/>
          </a:ln>
        </p:spPr>
      </p:sp>
      <p:sp>
        <p:nvSpPr>
          <p:cNvPr id="8" name="">
            <a:extLst xmlns:a="http://schemas.openxmlformats.org/drawingml/2006/main">
              <a:ext uri="{FF2B5EF4-FFF2-40B4-BE49-F238E27FC236}">
                <a16:creationId xmlns:a16="http://schemas.microsoft.com/office/drawing/2014/main" id="{60E2996D-668D-454A-8450-A57CD41A4367}"/>
              </a:ext>
            </a:extLst>
          </p:cNvPr>
          <p:cNvSpPr>
            <a:spLocks xmlns:a="http://schemas.openxmlformats.org/drawingml/2006/main" noGrp="1"/>
          </p:cNvSpPr>
          <p:nvPr/>
        </p:nvSpPr>
        <p:spPr>
          <a:xfrm xmlns:a="http://schemas.openxmlformats.org/drawingml/2006/main">
            <a:off x="781050" y="2133600"/>
            <a:ext cx="300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42B4B"/>
                </a:solidFill>
                <a:latin typeface="Arial"/>
                <a:ea typeface="Arial"/>
                <a:cs typeface="Arial"/>
              </a:defRPr>
            </a:pPr>
            <a:r>
              <a:rPr sz="1800" b="1">
                <a:solidFill>
                  <a:srgbClr val="142B4B"/>
                </a:solidFill>
                <a:latin typeface="Arial"/>
                <a:ea typeface="Arial"/>
                <a:cs typeface="Arial"/>
              </a:rPr>
              <a:t>Student</a:t>
            </a:r>
          </a:p>
        </p:txBody>
      </p:sp>
      <p:sp>
        <p:nvSpPr>
          <p:cNvPr id="9" name="">
            <a:extLst xmlns:a="http://schemas.openxmlformats.org/drawingml/2006/main">
              <a:ext uri="{FF2B5EF4-FFF2-40B4-BE49-F238E27FC236}">
                <a16:creationId xmlns:a16="http://schemas.microsoft.com/office/drawing/2014/main" id="{4A88923B-55E5-4DAD-902D-4CA61CC1B082}"/>
              </a:ext>
            </a:extLst>
          </p:cNvPr>
          <p:cNvSpPr>
            <a:spLocks xmlns:a="http://schemas.openxmlformats.org/drawingml/2006/main" noGrp="1"/>
          </p:cNvSpPr>
          <p:nvPr/>
        </p:nvSpPr>
        <p:spPr>
          <a:xfrm xmlns:a="http://schemas.openxmlformats.org/drawingml/2006/main">
            <a:off x="800100" y="2505075"/>
            <a:ext cx="29718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View own courses, assignments, attendance and results. Submit access request.</a:t>
            </a:r>
          </a:p>
        </p:txBody>
      </p:sp>
      <p:sp>
        <p:nvSpPr>
          <p:cNvPr id="10" name="">
            <a:extLst xmlns:a="http://schemas.openxmlformats.org/drawingml/2006/main">
              <a:ext uri="{FF2B5EF4-FFF2-40B4-BE49-F238E27FC236}">
                <a16:creationId xmlns:a16="http://schemas.microsoft.com/office/drawing/2014/main" id="{3836320C-D5B4-4C37-A1A9-58127BB7AE3B}"/>
              </a:ext>
            </a:extLst>
          </p:cNvPr>
          <p:cNvSpPr>
            <a:spLocks xmlns:a="http://schemas.openxmlformats.org/drawingml/2006/main" noGrp="1"/>
          </p:cNvSpPr>
          <p:nvPr/>
        </p:nvSpPr>
        <p:spPr>
          <a:xfrm xmlns:a="http://schemas.openxmlformats.org/drawingml/2006/main">
            <a:off x="4476750" y="2047875"/>
            <a:ext cx="3238500" cy="2381250"/>
          </a:xfrm>
          <a:prstGeom xmlns:a="http://schemas.openxmlformats.org/drawingml/2006/main" prst="roundRect">
            <a:avLst>
              <a:gd name="adj" fmla="val 5600"/>
            </a:avLst>
          </a:prstGeom>
          <a:solidFill xmlns:a="http://schemas.openxmlformats.org/drawingml/2006/main">
            <a:srgbClr val="E9F4F2"/>
          </a:solidFill>
          <a:ln xmlns:a="http://schemas.openxmlformats.org/drawingml/2006/main" w="19050">
            <a:solidFill>
              <a:srgbClr val="07897F"/>
            </a:solidFill>
            <a:prstDash val="solid"/>
          </a:ln>
        </p:spPr>
      </p:sp>
      <p:sp>
        <p:nvSpPr>
          <p:cNvPr id="11" name="">
            <a:extLst xmlns:a="http://schemas.openxmlformats.org/drawingml/2006/main">
              <a:ext uri="{FF2B5EF4-FFF2-40B4-BE49-F238E27FC236}">
                <a16:creationId xmlns:a16="http://schemas.microsoft.com/office/drawing/2014/main" id="{AD1D2940-FAEF-47B4-B52B-33E2759ACE49}"/>
              </a:ext>
            </a:extLst>
          </p:cNvPr>
          <p:cNvSpPr>
            <a:spLocks xmlns:a="http://schemas.openxmlformats.org/drawingml/2006/main" noGrp="1"/>
          </p:cNvSpPr>
          <p:nvPr/>
        </p:nvSpPr>
        <p:spPr>
          <a:xfrm xmlns:a="http://schemas.openxmlformats.org/drawingml/2006/main">
            <a:off x="4591050" y="2133600"/>
            <a:ext cx="300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42B4B"/>
                </a:solidFill>
                <a:latin typeface="Arial"/>
                <a:ea typeface="Arial"/>
                <a:cs typeface="Arial"/>
              </a:defRPr>
            </a:pPr>
            <a:r>
              <a:rPr sz="1800" b="1">
                <a:solidFill>
                  <a:srgbClr val="142B4B"/>
                </a:solidFill>
                <a:latin typeface="Arial"/>
                <a:ea typeface="Arial"/>
                <a:cs typeface="Arial"/>
              </a:rPr>
              <a:t>Teacher</a:t>
            </a:r>
          </a:p>
        </p:txBody>
      </p:sp>
      <p:sp>
        <p:nvSpPr>
          <p:cNvPr id="12" name="">
            <a:extLst xmlns:a="http://schemas.openxmlformats.org/drawingml/2006/main">
              <a:ext uri="{FF2B5EF4-FFF2-40B4-BE49-F238E27FC236}">
                <a16:creationId xmlns:a16="http://schemas.microsoft.com/office/drawing/2014/main" id="{CAA7EC06-4F87-4A18-AF9F-75516DFAF5F2}"/>
              </a:ext>
            </a:extLst>
          </p:cNvPr>
          <p:cNvSpPr>
            <a:spLocks xmlns:a="http://schemas.openxmlformats.org/drawingml/2006/main" noGrp="1"/>
          </p:cNvSpPr>
          <p:nvPr/>
        </p:nvSpPr>
        <p:spPr>
          <a:xfrm xmlns:a="http://schemas.openxmlformats.org/drawingml/2006/main">
            <a:off x="4610100" y="2505075"/>
            <a:ext cx="29718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Work with assigned courses, class rosters and attendance.</a:t>
            </a:r>
          </a:p>
        </p:txBody>
      </p:sp>
      <p:sp>
        <p:nvSpPr>
          <p:cNvPr id="13" name="">
            <a:extLst xmlns:a="http://schemas.openxmlformats.org/drawingml/2006/main">
              <a:ext uri="{FF2B5EF4-FFF2-40B4-BE49-F238E27FC236}">
                <a16:creationId xmlns:a16="http://schemas.microsoft.com/office/drawing/2014/main" id="{52A3C7B9-FF47-4304-BA68-6BF4F2EC4811}"/>
              </a:ext>
            </a:extLst>
          </p:cNvPr>
          <p:cNvSpPr>
            <a:spLocks xmlns:a="http://schemas.openxmlformats.org/drawingml/2006/main" noGrp="1"/>
          </p:cNvSpPr>
          <p:nvPr/>
        </p:nvSpPr>
        <p:spPr>
          <a:xfrm xmlns:a="http://schemas.openxmlformats.org/drawingml/2006/main">
            <a:off x="8286750" y="2047875"/>
            <a:ext cx="3238500" cy="2381250"/>
          </a:xfrm>
          <a:prstGeom xmlns:a="http://schemas.openxmlformats.org/drawingml/2006/main" prst="roundRect">
            <a:avLst>
              <a:gd name="adj" fmla="val 5600"/>
            </a:avLst>
          </a:prstGeom>
          <a:solidFill xmlns:a="http://schemas.openxmlformats.org/drawingml/2006/main">
            <a:srgbClr val="FFF7E3"/>
          </a:solidFill>
          <a:ln xmlns:a="http://schemas.openxmlformats.org/drawingml/2006/main" w="19050">
            <a:solidFill>
              <a:srgbClr val="E4A51B"/>
            </a:solidFill>
            <a:prstDash val="solid"/>
          </a:ln>
        </p:spPr>
      </p:sp>
      <p:sp>
        <p:nvSpPr>
          <p:cNvPr id="14" name="">
            <a:extLst xmlns:a="http://schemas.openxmlformats.org/drawingml/2006/main">
              <a:ext uri="{FF2B5EF4-FFF2-40B4-BE49-F238E27FC236}">
                <a16:creationId xmlns:a16="http://schemas.microsoft.com/office/drawing/2014/main" id="{3F39B780-0513-4DC6-8671-DF13574C82A4}"/>
              </a:ext>
            </a:extLst>
          </p:cNvPr>
          <p:cNvSpPr>
            <a:spLocks xmlns:a="http://schemas.openxmlformats.org/drawingml/2006/main" noGrp="1"/>
          </p:cNvSpPr>
          <p:nvPr/>
        </p:nvSpPr>
        <p:spPr>
          <a:xfrm xmlns:a="http://schemas.openxmlformats.org/drawingml/2006/main">
            <a:off x="8401050" y="2133600"/>
            <a:ext cx="300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42B4B"/>
                </a:solidFill>
                <a:latin typeface="Arial"/>
                <a:ea typeface="Arial"/>
                <a:cs typeface="Arial"/>
              </a:defRPr>
            </a:pPr>
            <a:r>
              <a:rPr sz="1800" b="1">
                <a:solidFill>
                  <a:srgbClr val="142B4B"/>
                </a:solidFill>
                <a:latin typeface="Arial"/>
                <a:ea typeface="Arial"/>
                <a:cs typeface="Arial"/>
              </a:rPr>
              <a:t>Administrator</a:t>
            </a:r>
          </a:p>
        </p:txBody>
      </p:sp>
      <p:sp>
        <p:nvSpPr>
          <p:cNvPr id="15" name="">
            <a:extLst xmlns:a="http://schemas.openxmlformats.org/drawingml/2006/main">
              <a:ext uri="{FF2B5EF4-FFF2-40B4-BE49-F238E27FC236}">
                <a16:creationId xmlns:a16="http://schemas.microsoft.com/office/drawing/2014/main" id="{B6B6C78D-6BA8-45B2-9643-AD7C5A5D32E5}"/>
              </a:ext>
            </a:extLst>
          </p:cNvPr>
          <p:cNvSpPr>
            <a:spLocks xmlns:a="http://schemas.openxmlformats.org/drawingml/2006/main" noGrp="1"/>
          </p:cNvSpPr>
          <p:nvPr/>
        </p:nvSpPr>
        <p:spPr>
          <a:xfrm xmlns:a="http://schemas.openxmlformats.org/drawingml/2006/main">
            <a:off x="8420100" y="2505075"/>
            <a:ext cx="29718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Review account requests, manage portal accounts, view audit events and set role MFA policy.</a:t>
            </a:r>
          </a:p>
        </p:txBody>
      </p:sp>
      <p:sp>
        <p:nvSpPr>
          <p:cNvPr id="16" name="">
            <a:extLst xmlns:a="http://schemas.openxmlformats.org/drawingml/2006/main">
              <a:ext uri="{FF2B5EF4-FFF2-40B4-BE49-F238E27FC236}">
                <a16:creationId xmlns:a16="http://schemas.microsoft.com/office/drawing/2014/main" id="{B0A3EA31-381C-4F60-9CA8-EFCA5E7689AB}"/>
              </a:ext>
            </a:extLst>
          </p:cNvPr>
          <p:cNvSpPr>
            <a:spLocks xmlns:a="http://schemas.openxmlformats.org/drawingml/2006/main" noGrp="1"/>
          </p:cNvSpPr>
          <p:nvPr/>
        </p:nvSpPr>
        <p:spPr>
          <a:xfrm xmlns:a="http://schemas.openxmlformats.org/drawingml/2006/main">
            <a:off x="723900" y="4914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Request status is separate from an approved account and from a student school record.</a:t>
            </a:r>
          </a:p>
        </p:txBody>
      </p:sp>
    </p:spTree>
    <p:extLst>
      <p:ext uri="{BB962C8B-B14F-4D97-AF65-F5344CB8AC3E}">
        <p14:creationId xmlns:p14="http://schemas.microsoft.com/office/powerpoint/2010/main" val="14562417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294FFB7-1236-4D19-927D-EFEC1AD51D8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B2D3FBA6-C747-459B-996B-0141846DEB07}"/>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Service architecture</a:t>
            </a:r>
          </a:p>
        </p:txBody>
      </p:sp>
      <p:sp>
        <p:nvSpPr>
          <p:cNvPr id="3" name="">
            <a:extLst xmlns:a="http://schemas.openxmlformats.org/drawingml/2006/main">
              <a:ext uri="{FF2B5EF4-FFF2-40B4-BE49-F238E27FC236}">
                <a16:creationId xmlns:a16="http://schemas.microsoft.com/office/drawing/2014/main" id="{30E828C7-904A-466B-88AE-BB9A134D1CBD}"/>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D7B81C90-90EF-46AB-8A6E-4EAD408E6DC5}"/>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6EDDA994-58C2-4FB9-8872-7D9D1C94E7F1}"/>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A3760623-D102-4655-9805-6B5D318F179E}"/>
              </a:ext>
            </a:extLst>
          </p:cNvPr>
          <p:cNvSpPr>
            <a:spLocks xmlns:a="http://schemas.openxmlformats.org/drawingml/2006/main" noGrp="1"/>
          </p:cNvSpPr>
          <p:nvPr/>
        </p:nvSpPr>
        <p:spPr>
          <a:xfrm xmlns:a="http://schemas.openxmlformats.org/drawingml/2006/main">
            <a:off x="685800" y="116205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53677E"/>
                </a:solidFill>
                <a:latin typeface="Arial"/>
                <a:ea typeface="Arial"/>
                <a:cs typeface="Arial"/>
              </a:defRPr>
            </a:pPr>
            <a:r>
              <a:rPr sz="1725" b="0">
                <a:solidFill>
                  <a:srgbClr val="53677E"/>
                </a:solidFill>
                <a:latin typeface="Arial"/>
                <a:ea typeface="Arial"/>
                <a:cs typeface="Arial"/>
              </a:rPr>
              <a:t>Each component has one job. Django remains the application decision point.</a:t>
            </a:r>
          </a:p>
        </p:txBody>
      </p:sp>
      <p:sp>
        <p:nvSpPr>
          <p:cNvPr id="7" name="">
            <a:extLst xmlns:a="http://schemas.openxmlformats.org/drawingml/2006/main">
              <a:ext uri="{FF2B5EF4-FFF2-40B4-BE49-F238E27FC236}">
                <a16:creationId xmlns:a16="http://schemas.microsoft.com/office/drawing/2014/main" id="{B6770851-54DE-4A38-B7D9-9CCA157E703B}"/>
              </a:ext>
            </a:extLst>
          </p:cNvPr>
          <p:cNvSpPr>
            <a:spLocks xmlns:a="http://schemas.openxmlformats.org/drawingml/2006/main" noGrp="1"/>
          </p:cNvSpPr>
          <p:nvPr/>
        </p:nvSpPr>
        <p:spPr>
          <a:xfrm xmlns:a="http://schemas.openxmlformats.org/drawingml/2006/main">
            <a:off x="609600" y="2009775"/>
            <a:ext cx="2476500" cy="1143000"/>
          </a:xfrm>
          <a:prstGeom xmlns:a="http://schemas.openxmlformats.org/drawingml/2006/main" prst="roundRect">
            <a:avLst>
              <a:gd name="adj" fmla="val 11667"/>
            </a:avLst>
          </a:prstGeom>
          <a:solidFill xmlns:a="http://schemas.openxmlformats.org/drawingml/2006/main">
            <a:srgbClr val="E8F1F8"/>
          </a:solidFill>
          <a:ln xmlns:a="http://schemas.openxmlformats.org/drawingml/2006/main" w="19050">
            <a:solidFill>
              <a:srgbClr val="1F5B88"/>
            </a:solidFill>
            <a:prstDash val="solid"/>
          </a:ln>
        </p:spPr>
      </p:sp>
      <p:sp>
        <p:nvSpPr>
          <p:cNvPr id="8" name="">
            <a:extLst xmlns:a="http://schemas.openxmlformats.org/drawingml/2006/main">
              <a:ext uri="{FF2B5EF4-FFF2-40B4-BE49-F238E27FC236}">
                <a16:creationId xmlns:a16="http://schemas.microsoft.com/office/drawing/2014/main" id="{AE73E79E-13EC-431C-BE98-E06B9519EBA4}"/>
              </a:ext>
            </a:extLst>
          </p:cNvPr>
          <p:cNvSpPr>
            <a:spLocks xmlns:a="http://schemas.openxmlformats.org/drawingml/2006/main" noGrp="1"/>
          </p:cNvSpPr>
          <p:nvPr/>
        </p:nvSpPr>
        <p:spPr>
          <a:xfrm xmlns:a="http://schemas.openxmlformats.org/drawingml/2006/main">
            <a:off x="723900" y="209550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Browser</a:t>
            </a:r>
          </a:p>
        </p:txBody>
      </p:sp>
      <p:sp>
        <p:nvSpPr>
          <p:cNvPr id="9" name="">
            <a:extLst xmlns:a="http://schemas.openxmlformats.org/drawingml/2006/main">
              <a:ext uri="{FF2B5EF4-FFF2-40B4-BE49-F238E27FC236}">
                <a16:creationId xmlns:a16="http://schemas.microsoft.com/office/drawing/2014/main" id="{BDDB0529-7486-49B1-83F1-577B65721C7C}"/>
              </a:ext>
            </a:extLst>
          </p:cNvPr>
          <p:cNvSpPr>
            <a:spLocks xmlns:a="http://schemas.openxmlformats.org/drawingml/2006/main" noGrp="1"/>
          </p:cNvSpPr>
          <p:nvPr/>
        </p:nvSpPr>
        <p:spPr>
          <a:xfrm xmlns:a="http://schemas.openxmlformats.org/drawingml/2006/main">
            <a:off x="742950" y="2466975"/>
            <a:ext cx="2209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Portal pages and reCAPTCHA</a:t>
            </a:r>
          </a:p>
        </p:txBody>
      </p:sp>
      <p:sp>
        <p:nvSpPr>
          <p:cNvPr id="10" name="">
            <a:extLst xmlns:a="http://schemas.openxmlformats.org/drawingml/2006/main">
              <a:ext uri="{FF2B5EF4-FFF2-40B4-BE49-F238E27FC236}">
                <a16:creationId xmlns:a16="http://schemas.microsoft.com/office/drawing/2014/main" id="{B50E3CFA-CD89-4FC5-B7CE-8B987BB7F6C3}"/>
              </a:ext>
            </a:extLst>
          </p:cNvPr>
          <p:cNvSpPr>
            <a:spLocks xmlns:a="http://schemas.openxmlformats.org/drawingml/2006/main" noGrp="1"/>
          </p:cNvSpPr>
          <p:nvPr/>
        </p:nvSpPr>
        <p:spPr>
          <a:xfrm xmlns:a="http://schemas.openxmlformats.org/drawingml/2006/main">
            <a:off x="4143375" y="2009775"/>
            <a:ext cx="2857500" cy="1143000"/>
          </a:xfrm>
          <a:prstGeom xmlns:a="http://schemas.openxmlformats.org/drawingml/2006/main" prst="roundRect">
            <a:avLst>
              <a:gd name="adj" fmla="val 11667"/>
            </a:avLst>
          </a:prstGeom>
          <a:solidFill xmlns:a="http://schemas.openxmlformats.org/drawingml/2006/main">
            <a:srgbClr val="E9F4F2"/>
          </a:solidFill>
          <a:ln xmlns:a="http://schemas.openxmlformats.org/drawingml/2006/main" w="19050">
            <a:solidFill>
              <a:srgbClr val="07897F"/>
            </a:solidFill>
            <a:prstDash val="solid"/>
          </a:ln>
        </p:spPr>
      </p:sp>
      <p:sp>
        <p:nvSpPr>
          <p:cNvPr id="11" name="">
            <a:extLst xmlns:a="http://schemas.openxmlformats.org/drawingml/2006/main">
              <a:ext uri="{FF2B5EF4-FFF2-40B4-BE49-F238E27FC236}">
                <a16:creationId xmlns:a16="http://schemas.microsoft.com/office/drawing/2014/main" id="{E813A9B4-F4CA-4B2D-9E01-63BCB974BC83}"/>
              </a:ext>
            </a:extLst>
          </p:cNvPr>
          <p:cNvSpPr>
            <a:spLocks xmlns:a="http://schemas.openxmlformats.org/drawingml/2006/main" noGrp="1"/>
          </p:cNvSpPr>
          <p:nvPr/>
        </p:nvSpPr>
        <p:spPr>
          <a:xfrm xmlns:a="http://schemas.openxmlformats.org/drawingml/2006/main">
            <a:off x="4257675" y="2095500"/>
            <a:ext cx="2628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42B4B"/>
                </a:solidFill>
                <a:latin typeface="Arial"/>
                <a:ea typeface="Arial"/>
                <a:cs typeface="Arial"/>
              </a:defRPr>
            </a:pPr>
            <a:r>
              <a:rPr sz="1800" b="1">
                <a:solidFill>
                  <a:srgbClr val="142B4B"/>
                </a:solidFill>
                <a:latin typeface="Arial"/>
                <a:ea typeface="Arial"/>
                <a:cs typeface="Arial"/>
              </a:rPr>
              <a:t>Django portal</a:t>
            </a:r>
          </a:p>
        </p:txBody>
      </p:sp>
      <p:sp>
        <p:nvSpPr>
          <p:cNvPr id="12" name="">
            <a:extLst xmlns:a="http://schemas.openxmlformats.org/drawingml/2006/main">
              <a:ext uri="{FF2B5EF4-FFF2-40B4-BE49-F238E27FC236}">
                <a16:creationId xmlns:a16="http://schemas.microsoft.com/office/drawing/2014/main" id="{3AB5E446-68AE-40E6-ABDF-EEAC17ABD6D5}"/>
              </a:ext>
            </a:extLst>
          </p:cNvPr>
          <p:cNvSpPr>
            <a:spLocks xmlns:a="http://schemas.openxmlformats.org/drawingml/2006/main" noGrp="1"/>
          </p:cNvSpPr>
          <p:nvPr/>
        </p:nvSpPr>
        <p:spPr>
          <a:xfrm xmlns:a="http://schemas.openxmlformats.org/drawingml/2006/main">
            <a:off x="4276725" y="2466975"/>
            <a:ext cx="2590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Password, role, challenge and audit logic</a:t>
            </a:r>
          </a:p>
        </p:txBody>
      </p:sp>
      <p:sp>
        <p:nvSpPr>
          <p:cNvPr id="13" name="">
            <a:extLst xmlns:a="http://schemas.openxmlformats.org/drawingml/2006/main">
              <a:ext uri="{FF2B5EF4-FFF2-40B4-BE49-F238E27FC236}">
                <a16:creationId xmlns:a16="http://schemas.microsoft.com/office/drawing/2014/main" id="{19DAD5FE-1307-483D-BEE9-C9FDB0CA165F}"/>
              </a:ext>
            </a:extLst>
          </p:cNvPr>
          <p:cNvSpPr>
            <a:spLocks xmlns:a="http://schemas.openxmlformats.org/drawingml/2006/main" noGrp="1"/>
          </p:cNvSpPr>
          <p:nvPr/>
        </p:nvSpPr>
        <p:spPr>
          <a:xfrm xmlns:a="http://schemas.openxmlformats.org/drawingml/2006/main">
            <a:off x="8001000" y="2009775"/>
            <a:ext cx="3143250" cy="1143000"/>
          </a:xfrm>
          <a:prstGeom xmlns:a="http://schemas.openxmlformats.org/drawingml/2006/main" prst="roundRect">
            <a:avLst>
              <a:gd name="adj" fmla="val 11667"/>
            </a:avLst>
          </a:prstGeom>
          <a:solidFill xmlns:a="http://schemas.openxmlformats.org/drawingml/2006/main">
            <a:srgbClr val="F2F6FA"/>
          </a:solidFill>
          <a:ln xmlns:a="http://schemas.openxmlformats.org/drawingml/2006/main" w="19050">
            <a:solidFill>
              <a:srgbClr val="1F5B88"/>
            </a:solidFill>
            <a:prstDash val="solid"/>
          </a:ln>
        </p:spPr>
      </p:sp>
      <p:sp>
        <p:nvSpPr>
          <p:cNvPr id="14" name="">
            <a:extLst xmlns:a="http://schemas.openxmlformats.org/drawingml/2006/main">
              <a:ext uri="{FF2B5EF4-FFF2-40B4-BE49-F238E27FC236}">
                <a16:creationId xmlns:a16="http://schemas.microsoft.com/office/drawing/2014/main" id="{E4725A23-B3CB-4672-99CB-8AEACDE39C08}"/>
              </a:ext>
            </a:extLst>
          </p:cNvPr>
          <p:cNvSpPr>
            <a:spLocks xmlns:a="http://schemas.openxmlformats.org/drawingml/2006/main" noGrp="1"/>
          </p:cNvSpPr>
          <p:nvPr/>
        </p:nvSpPr>
        <p:spPr>
          <a:xfrm xmlns:a="http://schemas.openxmlformats.org/drawingml/2006/main">
            <a:off x="8115300" y="2095500"/>
            <a:ext cx="291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PostgreSQL on Neon</a:t>
            </a:r>
          </a:p>
        </p:txBody>
      </p:sp>
      <p:sp>
        <p:nvSpPr>
          <p:cNvPr id="15" name="">
            <a:extLst xmlns:a="http://schemas.openxmlformats.org/drawingml/2006/main">
              <a:ext uri="{FF2B5EF4-FFF2-40B4-BE49-F238E27FC236}">
                <a16:creationId xmlns:a16="http://schemas.microsoft.com/office/drawing/2014/main" id="{19B5ECB4-50ED-41C9-80B4-89DC87DB58F0}"/>
              </a:ext>
            </a:extLst>
          </p:cNvPr>
          <p:cNvSpPr>
            <a:spLocks xmlns:a="http://schemas.openxmlformats.org/drawingml/2006/main" noGrp="1"/>
          </p:cNvSpPr>
          <p:nvPr/>
        </p:nvSpPr>
        <p:spPr>
          <a:xfrm xmlns:a="http://schemas.openxmlformats.org/drawingml/2006/main">
            <a:off x="8134350" y="2466975"/>
            <a:ext cx="28765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Portal records; schema from Django migrations</a:t>
            </a:r>
          </a:p>
        </p:txBody>
      </p:sp>
      <p:sp>
        <p:nvSpPr>
          <p:cNvPr id="16" name="">
            <a:extLst xmlns:a="http://schemas.openxmlformats.org/drawingml/2006/main">
              <a:ext uri="{FF2B5EF4-FFF2-40B4-BE49-F238E27FC236}">
                <a16:creationId xmlns:a16="http://schemas.microsoft.com/office/drawing/2014/main" id="{0E40A974-E03D-447D-B28D-CC0971886A37}"/>
              </a:ext>
            </a:extLst>
          </p:cNvPr>
          <p:cNvSpPr>
            <a:spLocks xmlns:a="http://schemas.openxmlformats.org/drawingml/2006/main" noGrp="1"/>
          </p:cNvSpPr>
          <p:nvPr/>
        </p:nvSpPr>
        <p:spPr>
          <a:xfrm xmlns:a="http://schemas.openxmlformats.org/drawingml/2006/main">
            <a:off x="609600" y="4305300"/>
            <a:ext cx="2476500" cy="1047750"/>
          </a:xfrm>
          <a:prstGeom xmlns:a="http://schemas.openxmlformats.org/drawingml/2006/main" prst="roundRect">
            <a:avLst>
              <a:gd name="adj" fmla="val 12727"/>
            </a:avLst>
          </a:prstGeom>
          <a:solidFill xmlns:a="http://schemas.openxmlformats.org/drawingml/2006/main">
            <a:srgbClr val="F2F6FA"/>
          </a:solidFill>
          <a:ln xmlns:a="http://schemas.openxmlformats.org/drawingml/2006/main" w="19050">
            <a:solidFill>
              <a:srgbClr val="1F5B88"/>
            </a:solidFill>
            <a:prstDash val="solid"/>
          </a:ln>
        </p:spPr>
      </p:sp>
      <p:sp>
        <p:nvSpPr>
          <p:cNvPr id="17" name="">
            <a:extLst xmlns:a="http://schemas.openxmlformats.org/drawingml/2006/main">
              <a:ext uri="{FF2B5EF4-FFF2-40B4-BE49-F238E27FC236}">
                <a16:creationId xmlns:a16="http://schemas.microsoft.com/office/drawing/2014/main" id="{F019059B-6958-465F-8D42-362E12DEFDCA}"/>
              </a:ext>
            </a:extLst>
          </p:cNvPr>
          <p:cNvSpPr>
            <a:spLocks xmlns:a="http://schemas.openxmlformats.org/drawingml/2006/main" noGrp="1"/>
          </p:cNvSpPr>
          <p:nvPr/>
        </p:nvSpPr>
        <p:spPr>
          <a:xfrm xmlns:a="http://schemas.openxmlformats.org/drawingml/2006/main">
            <a:off x="723900" y="4391025"/>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GitHub source</a:t>
            </a:r>
          </a:p>
        </p:txBody>
      </p:sp>
      <p:sp>
        <p:nvSpPr>
          <p:cNvPr id="18" name="">
            <a:extLst xmlns:a="http://schemas.openxmlformats.org/drawingml/2006/main">
              <a:ext uri="{FF2B5EF4-FFF2-40B4-BE49-F238E27FC236}">
                <a16:creationId xmlns:a16="http://schemas.microsoft.com/office/drawing/2014/main" id="{860D2F1D-6607-49B8-AAD9-8C04F8EE948F}"/>
              </a:ext>
            </a:extLst>
          </p:cNvPr>
          <p:cNvSpPr>
            <a:spLocks xmlns:a="http://schemas.openxmlformats.org/drawingml/2006/main" noGrp="1"/>
          </p:cNvSpPr>
          <p:nvPr/>
        </p:nvSpPr>
        <p:spPr>
          <a:xfrm xmlns:a="http://schemas.openxmlformats.org/drawingml/2006/main">
            <a:off x="742950" y="4762500"/>
            <a:ext cx="2209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Version history and CI checks</a:t>
            </a:r>
          </a:p>
        </p:txBody>
      </p:sp>
      <p:sp>
        <p:nvSpPr>
          <p:cNvPr id="19" name="">
            <a:extLst xmlns:a="http://schemas.openxmlformats.org/drawingml/2006/main">
              <a:ext uri="{FF2B5EF4-FFF2-40B4-BE49-F238E27FC236}">
                <a16:creationId xmlns:a16="http://schemas.microsoft.com/office/drawing/2014/main" id="{8DBE334C-CB59-4AFD-BF2C-24E60F168F23}"/>
              </a:ext>
            </a:extLst>
          </p:cNvPr>
          <p:cNvSpPr>
            <a:spLocks xmlns:a="http://schemas.openxmlformats.org/drawingml/2006/main" noGrp="1"/>
          </p:cNvSpPr>
          <p:nvPr/>
        </p:nvSpPr>
        <p:spPr>
          <a:xfrm xmlns:a="http://schemas.openxmlformats.org/drawingml/2006/main">
            <a:off x="4143375" y="4305300"/>
            <a:ext cx="2857500" cy="1047750"/>
          </a:xfrm>
          <a:prstGeom xmlns:a="http://schemas.openxmlformats.org/drawingml/2006/main" prst="roundRect">
            <a:avLst>
              <a:gd name="adj" fmla="val 12727"/>
            </a:avLst>
          </a:prstGeom>
          <a:solidFill xmlns:a="http://schemas.openxmlformats.org/drawingml/2006/main">
            <a:srgbClr val="FFF7E3"/>
          </a:solidFill>
          <a:ln xmlns:a="http://schemas.openxmlformats.org/drawingml/2006/main" w="19050">
            <a:solidFill>
              <a:srgbClr val="E4A51B"/>
            </a:solidFill>
            <a:prstDash val="solid"/>
          </a:ln>
        </p:spPr>
      </p:sp>
      <p:sp>
        <p:nvSpPr>
          <p:cNvPr id="20" name="">
            <a:extLst xmlns:a="http://schemas.openxmlformats.org/drawingml/2006/main">
              <a:ext uri="{FF2B5EF4-FFF2-40B4-BE49-F238E27FC236}">
                <a16:creationId xmlns:a16="http://schemas.microsoft.com/office/drawing/2014/main" id="{6A957DE2-3EA4-40E1-B6B8-DA766927CBF7}"/>
              </a:ext>
            </a:extLst>
          </p:cNvPr>
          <p:cNvSpPr>
            <a:spLocks xmlns:a="http://schemas.openxmlformats.org/drawingml/2006/main" noGrp="1"/>
          </p:cNvSpPr>
          <p:nvPr/>
        </p:nvSpPr>
        <p:spPr>
          <a:xfrm xmlns:a="http://schemas.openxmlformats.org/drawingml/2006/main">
            <a:off x="4257675" y="4391025"/>
            <a:ext cx="2628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Firebase Phone Auth</a:t>
            </a:r>
          </a:p>
        </p:txBody>
      </p:sp>
      <p:sp>
        <p:nvSpPr>
          <p:cNvPr id="21" name="">
            <a:extLst xmlns:a="http://schemas.openxmlformats.org/drawingml/2006/main">
              <a:ext uri="{FF2B5EF4-FFF2-40B4-BE49-F238E27FC236}">
                <a16:creationId xmlns:a16="http://schemas.microsoft.com/office/drawing/2014/main" id="{5E27F155-8013-4887-9D6E-FA8A66A0D2E4}"/>
              </a:ext>
            </a:extLst>
          </p:cNvPr>
          <p:cNvSpPr>
            <a:spLocks xmlns:a="http://schemas.openxmlformats.org/drawingml/2006/main" noGrp="1"/>
          </p:cNvSpPr>
          <p:nvPr/>
        </p:nvSpPr>
        <p:spPr>
          <a:xfrm xmlns:a="http://schemas.openxmlformats.org/drawingml/2006/main">
            <a:off x="4276725" y="4762500"/>
            <a:ext cx="2590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reCAPTCHA, SMS and signed result</a:t>
            </a:r>
          </a:p>
        </p:txBody>
      </p:sp>
      <p:sp>
        <p:nvSpPr>
          <p:cNvPr id="22" name="">
            <a:extLst xmlns:a="http://schemas.openxmlformats.org/drawingml/2006/main">
              <a:ext uri="{FF2B5EF4-FFF2-40B4-BE49-F238E27FC236}">
                <a16:creationId xmlns:a16="http://schemas.microsoft.com/office/drawing/2014/main" id="{02EC0FF1-147D-42AF-A193-574061E8F94E}"/>
              </a:ext>
            </a:extLst>
          </p:cNvPr>
          <p:cNvSpPr>
            <a:spLocks xmlns:a="http://schemas.openxmlformats.org/drawingml/2006/main" noGrp="1"/>
          </p:cNvSpPr>
          <p:nvPr/>
        </p:nvSpPr>
        <p:spPr>
          <a:xfrm xmlns:a="http://schemas.openxmlformats.org/drawingml/2006/main">
            <a:off x="8001000" y="4305300"/>
            <a:ext cx="3143250" cy="1047750"/>
          </a:xfrm>
          <a:prstGeom xmlns:a="http://schemas.openxmlformats.org/drawingml/2006/main" prst="roundRect">
            <a:avLst>
              <a:gd name="adj" fmla="val 12727"/>
            </a:avLst>
          </a:prstGeom>
          <a:solidFill xmlns:a="http://schemas.openxmlformats.org/drawingml/2006/main">
            <a:srgbClr val="FCEEEE"/>
          </a:solidFill>
          <a:ln xmlns:a="http://schemas.openxmlformats.org/drawingml/2006/main" w="19050">
            <a:solidFill>
              <a:srgbClr val="A33232"/>
            </a:solidFill>
            <a:prstDash val="solid"/>
          </a:ln>
        </p:spPr>
      </p:sp>
      <p:sp>
        <p:nvSpPr>
          <p:cNvPr id="23" name="">
            <a:extLst xmlns:a="http://schemas.openxmlformats.org/drawingml/2006/main">
              <a:ext uri="{FF2B5EF4-FFF2-40B4-BE49-F238E27FC236}">
                <a16:creationId xmlns:a16="http://schemas.microsoft.com/office/drawing/2014/main" id="{97C325BE-28D2-4D54-973E-EBBBD1054955}"/>
              </a:ext>
            </a:extLst>
          </p:cNvPr>
          <p:cNvSpPr>
            <a:spLocks xmlns:a="http://schemas.openxmlformats.org/drawingml/2006/main" noGrp="1"/>
          </p:cNvSpPr>
          <p:nvPr/>
        </p:nvSpPr>
        <p:spPr>
          <a:xfrm xmlns:a="http://schemas.openxmlformats.org/drawingml/2006/main">
            <a:off x="8115300" y="4391025"/>
            <a:ext cx="291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Email provider</a:t>
            </a:r>
          </a:p>
        </p:txBody>
      </p:sp>
      <p:sp>
        <p:nvSpPr>
          <p:cNvPr id="24" name="">
            <a:extLst xmlns:a="http://schemas.openxmlformats.org/drawingml/2006/main">
              <a:ext uri="{FF2B5EF4-FFF2-40B4-BE49-F238E27FC236}">
                <a16:creationId xmlns:a16="http://schemas.microsoft.com/office/drawing/2014/main" id="{9866097A-D81D-4B1E-9322-1FEDAF41F4B8}"/>
              </a:ext>
            </a:extLst>
          </p:cNvPr>
          <p:cNvSpPr>
            <a:spLocks xmlns:a="http://schemas.openxmlformats.org/drawingml/2006/main" noGrp="1"/>
          </p:cNvSpPr>
          <p:nvPr/>
        </p:nvSpPr>
        <p:spPr>
          <a:xfrm xmlns:a="http://schemas.openxmlformats.org/drawingml/2006/main">
            <a:off x="8134350" y="4762500"/>
            <a:ext cx="2876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Separate email OTP delivery</a:t>
            </a:r>
          </a:p>
        </p:txBody>
      </p:sp>
      <p:cxnSp>
        <p:nvCxnSpPr>
          <p:cNvPr id="54" name=""/>
          <p:cNvCxnSpPr>
            <a:stCxn xmlns:a="http://schemas.openxmlformats.org/drawingml/2006/main" id="7" idx="3"/>
            <a:endCxn xmlns:a="http://schemas.openxmlformats.org/drawingml/2006/main" id="10" idx="1"/>
          </p:cNvCxnSpPr>
          <p:nvPr/>
        </p:nvCxnSpPr>
        <p:spPr>
          <a:xfrm xmlns:a="http://schemas.openxmlformats.org/drawingml/2006/main">
            <a:off x="3086100" y="2581275"/>
            <a:ext cx="1057275" cy="0"/>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cxnSp>
        <p:nvCxnSpPr>
          <p:cNvPr id="55" name=""/>
          <p:cNvCxnSpPr>
            <a:stCxn xmlns:a="http://schemas.openxmlformats.org/drawingml/2006/main" id="10" idx="3"/>
            <a:endCxn xmlns:a="http://schemas.openxmlformats.org/drawingml/2006/main" id="13" idx="1"/>
          </p:cNvCxnSpPr>
          <p:nvPr/>
        </p:nvCxnSpPr>
        <p:spPr>
          <a:xfrm xmlns:a="http://schemas.openxmlformats.org/drawingml/2006/main">
            <a:off x="7000875" y="2581275"/>
            <a:ext cx="1000125" cy="0"/>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cxnSp>
        <p:nvCxnSpPr>
          <p:cNvPr id="56" name=""/>
          <p:cNvCxnSpPr>
            <a:stCxn xmlns:a="http://schemas.openxmlformats.org/drawingml/2006/main" id="7" idx="2"/>
            <a:endCxn xmlns:a="http://schemas.openxmlformats.org/drawingml/2006/main" id="19" idx="0"/>
          </p:cNvCxnSpPr>
          <p:nvPr/>
        </p:nvCxnSpPr>
        <p:spPr>
          <a:xfrm xmlns:a="http://schemas.openxmlformats.org/drawingml/2006/main">
            <a:off x="1847850" y="3152775"/>
            <a:ext cx="3724275" cy="1152525"/>
          </a:xfrm>
          <a:prstGeom xmlns:a="http://schemas.openxmlformats.org/drawingml/2006/main" prst="straightConnector1">
            <a:avLst/>
          </a:prstGeom>
          <a:ln xmlns:a="http://schemas.openxmlformats.org/drawingml/2006/main" w="19050">
            <a:solidFill>
              <a:srgbClr val="E4A51B"/>
            </a:solidFill>
            <a:prstDash val="solid"/>
            <a:headEnd type="triangle" w="sm" len="sm"/>
          </a:ln>
        </p:spPr>
      </p:cxnSp>
      <p:cxnSp>
        <p:nvCxnSpPr>
          <p:cNvPr id="57" name=""/>
          <p:cNvCxnSpPr>
            <a:stCxn xmlns:a="http://schemas.openxmlformats.org/drawingml/2006/main" id="10" idx="2"/>
            <a:endCxn xmlns:a="http://schemas.openxmlformats.org/drawingml/2006/main" id="22" idx="0"/>
          </p:cNvCxnSpPr>
          <p:nvPr/>
        </p:nvCxnSpPr>
        <p:spPr>
          <a:xfrm xmlns:a="http://schemas.openxmlformats.org/drawingml/2006/main">
            <a:off x="5572125" y="3152775"/>
            <a:ext cx="4000500" cy="1152525"/>
          </a:xfrm>
          <a:prstGeom xmlns:a="http://schemas.openxmlformats.org/drawingml/2006/main" prst="straightConnector1">
            <a:avLst/>
          </a:prstGeom>
          <a:ln xmlns:a="http://schemas.openxmlformats.org/drawingml/2006/main" w="19050">
            <a:solidFill>
              <a:srgbClr val="A33232"/>
            </a:solidFill>
            <a:prstDash val="solid"/>
            <a:headEnd type="triangle" w="sm" len="sm"/>
          </a:ln>
        </p:spPr>
      </p:cxnSp>
      <p:sp>
        <p:nvSpPr>
          <p:cNvPr id="29" name="">
            <a:extLst xmlns:a="http://schemas.openxmlformats.org/drawingml/2006/main">
              <a:ext uri="{FF2B5EF4-FFF2-40B4-BE49-F238E27FC236}">
                <a16:creationId xmlns:a16="http://schemas.microsoft.com/office/drawing/2014/main" id="{F3FBA8C8-12BB-4CA6-A281-82BF9416514B}"/>
              </a:ext>
            </a:extLst>
          </p:cNvPr>
          <p:cNvSpPr>
            <a:spLocks xmlns:a="http://schemas.openxmlformats.org/drawingml/2006/main" noGrp="1"/>
          </p:cNvSpPr>
          <p:nvPr/>
        </p:nvSpPr>
        <p:spPr>
          <a:xfrm xmlns:a="http://schemas.openxmlformats.org/drawingml/2006/main">
            <a:off x="685800" y="55245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Vercel runs the web app when connected to the intended GitHub project and configured.</a:t>
            </a:r>
          </a:p>
        </p:txBody>
      </p:sp>
    </p:spTree>
    <p:extLst>
      <p:ext uri="{BB962C8B-B14F-4D97-AF65-F5344CB8AC3E}">
        <p14:creationId xmlns:p14="http://schemas.microsoft.com/office/powerpoint/2010/main" val="19196780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8C11565-A199-4A5F-AA7C-38CFDEEF2F2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19384B08-5A0D-435F-BCD4-6EFFD66B1DB5}"/>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Account request and approval</a:t>
            </a:r>
          </a:p>
        </p:txBody>
      </p:sp>
      <p:sp>
        <p:nvSpPr>
          <p:cNvPr id="3" name="">
            <a:extLst xmlns:a="http://schemas.openxmlformats.org/drawingml/2006/main">
              <a:ext uri="{FF2B5EF4-FFF2-40B4-BE49-F238E27FC236}">
                <a16:creationId xmlns:a16="http://schemas.microsoft.com/office/drawing/2014/main" id="{610ADF36-0823-4F6F-AA2C-C8631C99C521}"/>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D63768C1-D0DD-407C-B6D5-E053E7143E95}"/>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85D72800-F19B-4811-B6D3-112A74D81935}"/>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226B4D17-FCD8-46B4-B466-E84127B15D55}"/>
              </a:ext>
            </a:extLst>
          </p:cNvPr>
          <p:cNvSpPr>
            <a:spLocks xmlns:a="http://schemas.openxmlformats.org/drawingml/2006/main" noGrp="1"/>
          </p:cNvSpPr>
          <p:nvPr/>
        </p:nvSpPr>
        <p:spPr>
          <a:xfrm xmlns:a="http://schemas.openxmlformats.org/drawingml/2006/main">
            <a:off x="685800" y="11906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53677E"/>
                </a:solidFill>
                <a:latin typeface="Arial"/>
                <a:ea typeface="Arial"/>
                <a:cs typeface="Arial"/>
              </a:defRPr>
            </a:pPr>
            <a:r>
              <a:rPr sz="1725" b="0">
                <a:solidFill>
                  <a:srgbClr val="53677E"/>
                </a:solidFill>
                <a:latin typeface="Arial"/>
                <a:ea typeface="Arial"/>
                <a:cs typeface="Arial"/>
              </a:rPr>
              <a:t>A request does not become an approved portal account until an administrator reviews it.</a:t>
            </a:r>
          </a:p>
        </p:txBody>
      </p:sp>
      <p:sp>
        <p:nvSpPr>
          <p:cNvPr id="7" name="">
            <a:extLst xmlns:a="http://schemas.openxmlformats.org/drawingml/2006/main">
              <a:ext uri="{FF2B5EF4-FFF2-40B4-BE49-F238E27FC236}">
                <a16:creationId xmlns:a16="http://schemas.microsoft.com/office/drawing/2014/main" id="{C4EBB308-5DB1-40A9-9990-BA20EE4D8BFA}"/>
              </a:ext>
            </a:extLst>
          </p:cNvPr>
          <p:cNvSpPr>
            <a:spLocks xmlns:a="http://schemas.openxmlformats.org/drawingml/2006/main" noGrp="1"/>
          </p:cNvSpPr>
          <p:nvPr/>
        </p:nvSpPr>
        <p:spPr>
          <a:xfrm xmlns:a="http://schemas.openxmlformats.org/drawingml/2006/main">
            <a:off x="666750" y="2457450"/>
            <a:ext cx="2333625" cy="1352550"/>
          </a:xfrm>
          <a:prstGeom xmlns:a="http://schemas.openxmlformats.org/drawingml/2006/main" prst="roundRect">
            <a:avLst>
              <a:gd name="adj" fmla="val 9859"/>
            </a:avLst>
          </a:prstGeom>
          <a:solidFill xmlns:a="http://schemas.openxmlformats.org/drawingml/2006/main">
            <a:srgbClr val="F2F6FA"/>
          </a:solidFill>
          <a:ln xmlns:a="http://schemas.openxmlformats.org/drawingml/2006/main" w="19050">
            <a:solidFill>
              <a:srgbClr val="1F5B88"/>
            </a:solidFill>
            <a:prstDash val="solid"/>
          </a:ln>
        </p:spPr>
      </p:sp>
      <p:sp>
        <p:nvSpPr>
          <p:cNvPr id="8" name="">
            <a:extLst xmlns:a="http://schemas.openxmlformats.org/drawingml/2006/main">
              <a:ext uri="{FF2B5EF4-FFF2-40B4-BE49-F238E27FC236}">
                <a16:creationId xmlns:a16="http://schemas.microsoft.com/office/drawing/2014/main" id="{AE4BF0DB-3E3C-4BFA-84B8-462F12A28E42}"/>
              </a:ext>
            </a:extLst>
          </p:cNvPr>
          <p:cNvSpPr>
            <a:spLocks xmlns:a="http://schemas.openxmlformats.org/drawingml/2006/main" noGrp="1"/>
          </p:cNvSpPr>
          <p:nvPr/>
        </p:nvSpPr>
        <p:spPr>
          <a:xfrm xmlns:a="http://schemas.openxmlformats.org/drawingml/2006/main">
            <a:off x="781050" y="2543175"/>
            <a:ext cx="2105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1  Request</a:t>
            </a:r>
          </a:p>
        </p:txBody>
      </p:sp>
      <p:sp>
        <p:nvSpPr>
          <p:cNvPr id="9" name="">
            <a:extLst xmlns:a="http://schemas.openxmlformats.org/drawingml/2006/main">
              <a:ext uri="{FF2B5EF4-FFF2-40B4-BE49-F238E27FC236}">
                <a16:creationId xmlns:a16="http://schemas.microsoft.com/office/drawing/2014/main" id="{A720411F-1506-4384-BA8A-677BCB0EC5FB}"/>
              </a:ext>
            </a:extLst>
          </p:cNvPr>
          <p:cNvSpPr>
            <a:spLocks xmlns:a="http://schemas.openxmlformats.org/drawingml/2006/main" noGrp="1"/>
          </p:cNvSpPr>
          <p:nvPr/>
        </p:nvSpPr>
        <p:spPr>
          <a:xfrm xmlns:a="http://schemas.openxmlformats.org/drawingml/2006/main">
            <a:off x="800100" y="2914650"/>
            <a:ext cx="2066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Student or Teacher sends an access request.</a:t>
            </a:r>
          </a:p>
        </p:txBody>
      </p:sp>
      <p:sp>
        <p:nvSpPr>
          <p:cNvPr id="10" name="">
            <a:extLst xmlns:a="http://schemas.openxmlformats.org/drawingml/2006/main">
              <a:ext uri="{FF2B5EF4-FFF2-40B4-BE49-F238E27FC236}">
                <a16:creationId xmlns:a16="http://schemas.microsoft.com/office/drawing/2014/main" id="{B2A8CDD9-1D6D-4576-A34C-2D723BA8546D}"/>
              </a:ext>
            </a:extLst>
          </p:cNvPr>
          <p:cNvSpPr>
            <a:spLocks xmlns:a="http://schemas.openxmlformats.org/drawingml/2006/main" noGrp="1"/>
          </p:cNvSpPr>
          <p:nvPr/>
        </p:nvSpPr>
        <p:spPr>
          <a:xfrm xmlns:a="http://schemas.openxmlformats.org/drawingml/2006/main">
            <a:off x="3619500" y="2457450"/>
            <a:ext cx="2333625" cy="1352550"/>
          </a:xfrm>
          <a:prstGeom xmlns:a="http://schemas.openxmlformats.org/drawingml/2006/main" prst="roundRect">
            <a:avLst>
              <a:gd name="adj" fmla="val 9859"/>
            </a:avLst>
          </a:prstGeom>
          <a:solidFill xmlns:a="http://schemas.openxmlformats.org/drawingml/2006/main">
            <a:srgbClr val="FFF7E3"/>
          </a:solidFill>
          <a:ln xmlns:a="http://schemas.openxmlformats.org/drawingml/2006/main" w="19050">
            <a:solidFill>
              <a:srgbClr val="E4A51B"/>
            </a:solidFill>
            <a:prstDash val="solid"/>
          </a:ln>
        </p:spPr>
      </p:sp>
      <p:sp>
        <p:nvSpPr>
          <p:cNvPr id="11" name="">
            <a:extLst xmlns:a="http://schemas.openxmlformats.org/drawingml/2006/main">
              <a:ext uri="{FF2B5EF4-FFF2-40B4-BE49-F238E27FC236}">
                <a16:creationId xmlns:a16="http://schemas.microsoft.com/office/drawing/2014/main" id="{668A0864-6E43-44ED-8C1B-8BAB5B7DCC08}"/>
              </a:ext>
            </a:extLst>
          </p:cNvPr>
          <p:cNvSpPr>
            <a:spLocks xmlns:a="http://schemas.openxmlformats.org/drawingml/2006/main" noGrp="1"/>
          </p:cNvSpPr>
          <p:nvPr/>
        </p:nvSpPr>
        <p:spPr>
          <a:xfrm xmlns:a="http://schemas.openxmlformats.org/drawingml/2006/main">
            <a:off x="3733800" y="2543175"/>
            <a:ext cx="2105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2  Review</a:t>
            </a:r>
          </a:p>
        </p:txBody>
      </p:sp>
      <p:sp>
        <p:nvSpPr>
          <p:cNvPr id="12" name="">
            <a:extLst xmlns:a="http://schemas.openxmlformats.org/drawingml/2006/main">
              <a:ext uri="{FF2B5EF4-FFF2-40B4-BE49-F238E27FC236}">
                <a16:creationId xmlns:a16="http://schemas.microsoft.com/office/drawing/2014/main" id="{210F9BF7-16AD-4FC3-8617-74E7E6137211}"/>
              </a:ext>
            </a:extLst>
          </p:cNvPr>
          <p:cNvSpPr>
            <a:spLocks xmlns:a="http://schemas.openxmlformats.org/drawingml/2006/main" noGrp="1"/>
          </p:cNvSpPr>
          <p:nvPr/>
        </p:nvSpPr>
        <p:spPr>
          <a:xfrm xmlns:a="http://schemas.openxmlformats.org/drawingml/2006/main">
            <a:off x="3752850" y="2914650"/>
            <a:ext cx="2066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Administrator checks the request and account details.</a:t>
            </a:r>
          </a:p>
        </p:txBody>
      </p:sp>
      <p:sp>
        <p:nvSpPr>
          <p:cNvPr id="13" name="">
            <a:extLst xmlns:a="http://schemas.openxmlformats.org/drawingml/2006/main">
              <a:ext uri="{FF2B5EF4-FFF2-40B4-BE49-F238E27FC236}">
                <a16:creationId xmlns:a16="http://schemas.microsoft.com/office/drawing/2014/main" id="{902A236E-BBEF-4E5E-A8B3-1E3A1EF1C804}"/>
              </a:ext>
            </a:extLst>
          </p:cNvPr>
          <p:cNvSpPr>
            <a:spLocks xmlns:a="http://schemas.openxmlformats.org/drawingml/2006/main" noGrp="1"/>
          </p:cNvSpPr>
          <p:nvPr/>
        </p:nvSpPr>
        <p:spPr>
          <a:xfrm xmlns:a="http://schemas.openxmlformats.org/drawingml/2006/main">
            <a:off x="6572250" y="2457450"/>
            <a:ext cx="2333625" cy="1352550"/>
          </a:xfrm>
          <a:prstGeom xmlns:a="http://schemas.openxmlformats.org/drawingml/2006/main" prst="roundRect">
            <a:avLst>
              <a:gd name="adj" fmla="val 9859"/>
            </a:avLst>
          </a:prstGeom>
          <a:solidFill xmlns:a="http://schemas.openxmlformats.org/drawingml/2006/main">
            <a:srgbClr val="E9F4F2"/>
          </a:solidFill>
          <a:ln xmlns:a="http://schemas.openxmlformats.org/drawingml/2006/main" w="19050">
            <a:solidFill>
              <a:srgbClr val="07897F"/>
            </a:solidFill>
            <a:prstDash val="solid"/>
          </a:ln>
        </p:spPr>
      </p:sp>
      <p:sp>
        <p:nvSpPr>
          <p:cNvPr id="14" name="">
            <a:extLst xmlns:a="http://schemas.openxmlformats.org/drawingml/2006/main">
              <a:ext uri="{FF2B5EF4-FFF2-40B4-BE49-F238E27FC236}">
                <a16:creationId xmlns:a16="http://schemas.microsoft.com/office/drawing/2014/main" id="{971A8031-F7A6-442D-BB15-11FAAD257D79}"/>
              </a:ext>
            </a:extLst>
          </p:cNvPr>
          <p:cNvSpPr>
            <a:spLocks xmlns:a="http://schemas.openxmlformats.org/drawingml/2006/main" noGrp="1"/>
          </p:cNvSpPr>
          <p:nvPr/>
        </p:nvSpPr>
        <p:spPr>
          <a:xfrm xmlns:a="http://schemas.openxmlformats.org/drawingml/2006/main">
            <a:off x="6686550" y="2543175"/>
            <a:ext cx="2105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3  Decision</a:t>
            </a:r>
          </a:p>
        </p:txBody>
      </p:sp>
      <p:sp>
        <p:nvSpPr>
          <p:cNvPr id="15" name="">
            <a:extLst xmlns:a="http://schemas.openxmlformats.org/drawingml/2006/main">
              <a:ext uri="{FF2B5EF4-FFF2-40B4-BE49-F238E27FC236}">
                <a16:creationId xmlns:a16="http://schemas.microsoft.com/office/drawing/2014/main" id="{17F2ED3A-C72D-42FA-B09B-336D76C21856}"/>
              </a:ext>
            </a:extLst>
          </p:cNvPr>
          <p:cNvSpPr>
            <a:spLocks xmlns:a="http://schemas.openxmlformats.org/drawingml/2006/main" noGrp="1"/>
          </p:cNvSpPr>
          <p:nvPr/>
        </p:nvSpPr>
        <p:spPr>
          <a:xfrm xmlns:a="http://schemas.openxmlformats.org/drawingml/2006/main">
            <a:off x="6705600" y="2914650"/>
            <a:ext cx="2066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Approve or reject. Record the review.</a:t>
            </a:r>
          </a:p>
        </p:txBody>
      </p:sp>
      <p:sp>
        <p:nvSpPr>
          <p:cNvPr id="16" name="">
            <a:extLst xmlns:a="http://schemas.openxmlformats.org/drawingml/2006/main">
              <a:ext uri="{FF2B5EF4-FFF2-40B4-BE49-F238E27FC236}">
                <a16:creationId xmlns:a16="http://schemas.microsoft.com/office/drawing/2014/main" id="{E2C7F42B-29C0-411F-AD94-9C373B3F4653}"/>
              </a:ext>
            </a:extLst>
          </p:cNvPr>
          <p:cNvSpPr>
            <a:spLocks xmlns:a="http://schemas.openxmlformats.org/drawingml/2006/main" noGrp="1"/>
          </p:cNvSpPr>
          <p:nvPr/>
        </p:nvSpPr>
        <p:spPr>
          <a:xfrm xmlns:a="http://schemas.openxmlformats.org/drawingml/2006/main">
            <a:off x="9525000" y="2457450"/>
            <a:ext cx="2000250" cy="1352550"/>
          </a:xfrm>
          <a:prstGeom xmlns:a="http://schemas.openxmlformats.org/drawingml/2006/main" prst="roundRect">
            <a:avLst>
              <a:gd name="adj" fmla="val 9859"/>
            </a:avLst>
          </a:prstGeom>
          <a:solidFill xmlns:a="http://schemas.openxmlformats.org/drawingml/2006/main">
            <a:srgbClr val="E8F1F8"/>
          </a:solidFill>
          <a:ln xmlns:a="http://schemas.openxmlformats.org/drawingml/2006/main" w="19050">
            <a:solidFill>
              <a:srgbClr val="1F5B88"/>
            </a:solidFill>
            <a:prstDash val="solid"/>
          </a:ln>
        </p:spPr>
      </p:sp>
      <p:sp>
        <p:nvSpPr>
          <p:cNvPr id="17" name="">
            <a:extLst xmlns:a="http://schemas.openxmlformats.org/drawingml/2006/main">
              <a:ext uri="{FF2B5EF4-FFF2-40B4-BE49-F238E27FC236}">
                <a16:creationId xmlns:a16="http://schemas.microsoft.com/office/drawing/2014/main" id="{262E8F63-77A5-45DE-ABC7-5382811E56D6}"/>
              </a:ext>
            </a:extLst>
          </p:cNvPr>
          <p:cNvSpPr>
            <a:spLocks xmlns:a="http://schemas.openxmlformats.org/drawingml/2006/main" noGrp="1"/>
          </p:cNvSpPr>
          <p:nvPr/>
        </p:nvSpPr>
        <p:spPr>
          <a:xfrm xmlns:a="http://schemas.openxmlformats.org/drawingml/2006/main">
            <a:off x="9639300" y="2543175"/>
            <a:ext cx="1771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4  Portal access</a:t>
            </a:r>
          </a:p>
        </p:txBody>
      </p:sp>
      <p:sp>
        <p:nvSpPr>
          <p:cNvPr id="18" name="">
            <a:extLst xmlns:a="http://schemas.openxmlformats.org/drawingml/2006/main">
              <a:ext uri="{FF2B5EF4-FFF2-40B4-BE49-F238E27FC236}">
                <a16:creationId xmlns:a16="http://schemas.microsoft.com/office/drawing/2014/main" id="{C1AF66B4-03D9-4C27-A791-3C3A3053C294}"/>
              </a:ext>
            </a:extLst>
          </p:cNvPr>
          <p:cNvSpPr>
            <a:spLocks xmlns:a="http://schemas.openxmlformats.org/drawingml/2006/main" noGrp="1"/>
          </p:cNvSpPr>
          <p:nvPr/>
        </p:nvSpPr>
        <p:spPr>
          <a:xfrm xmlns:a="http://schemas.openxmlformats.org/drawingml/2006/main">
            <a:off x="9658350" y="2914650"/>
            <a:ext cx="17335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Approved account uses its role pages.</a:t>
            </a:r>
          </a:p>
        </p:txBody>
      </p:sp>
      <p:cxnSp>
        <p:nvCxnSpPr>
          <p:cNvPr id="41" name=""/>
          <p:cNvCxnSpPr>
            <a:stCxn xmlns:a="http://schemas.openxmlformats.org/drawingml/2006/main" id="7" idx="3"/>
            <a:endCxn xmlns:a="http://schemas.openxmlformats.org/drawingml/2006/main" id="10" idx="1"/>
          </p:cNvCxnSpPr>
          <p:nvPr/>
        </p:nvCxnSpPr>
        <p:spPr>
          <a:xfrm xmlns:a="http://schemas.openxmlformats.org/drawingml/2006/main">
            <a:off x="3000375" y="3133725"/>
            <a:ext cx="619125" cy="0"/>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cxnSp>
        <p:nvCxnSpPr>
          <p:cNvPr id="42" name=""/>
          <p:cNvCxnSpPr>
            <a:stCxn xmlns:a="http://schemas.openxmlformats.org/drawingml/2006/main" id="10" idx="3"/>
            <a:endCxn xmlns:a="http://schemas.openxmlformats.org/drawingml/2006/main" id="13" idx="1"/>
          </p:cNvCxnSpPr>
          <p:nvPr/>
        </p:nvCxnSpPr>
        <p:spPr>
          <a:xfrm xmlns:a="http://schemas.openxmlformats.org/drawingml/2006/main">
            <a:off x="5953125" y="3133725"/>
            <a:ext cx="619125" cy="0"/>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cxnSp>
        <p:nvCxnSpPr>
          <p:cNvPr id="43" name=""/>
          <p:cNvCxnSpPr>
            <a:stCxn xmlns:a="http://schemas.openxmlformats.org/drawingml/2006/main" id="13" idx="3"/>
            <a:endCxn xmlns:a="http://schemas.openxmlformats.org/drawingml/2006/main" id="16" idx="1"/>
          </p:cNvCxnSpPr>
          <p:nvPr/>
        </p:nvCxnSpPr>
        <p:spPr>
          <a:xfrm xmlns:a="http://schemas.openxmlformats.org/drawingml/2006/main">
            <a:off x="8905875" y="3133725"/>
            <a:ext cx="619125" cy="0"/>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sp>
        <p:nvSpPr>
          <p:cNvPr id="22" name="">
            <a:extLst xmlns:a="http://schemas.openxmlformats.org/drawingml/2006/main">
              <a:ext uri="{FF2B5EF4-FFF2-40B4-BE49-F238E27FC236}">
                <a16:creationId xmlns:a16="http://schemas.microsoft.com/office/drawing/2014/main" id="{FBB82BF2-3C4D-4E2F-A5D4-D5D70C64D9D8}"/>
              </a:ext>
            </a:extLst>
          </p:cNvPr>
          <p:cNvSpPr>
            <a:spLocks xmlns:a="http://schemas.openxmlformats.org/drawingml/2006/main" noGrp="1"/>
          </p:cNvSpPr>
          <p:nvPr/>
        </p:nvSpPr>
        <p:spPr>
          <a:xfrm xmlns:a="http://schemas.openxmlformats.org/drawingml/2006/main">
            <a:off x="1000125" y="4600575"/>
            <a:ext cx="1014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Status checks look up a submitted request. They do not create an active student record.</a:t>
            </a:r>
          </a:p>
        </p:txBody>
      </p:sp>
    </p:spTree>
    <p:extLst>
      <p:ext uri="{BB962C8B-B14F-4D97-AF65-F5344CB8AC3E}">
        <p14:creationId xmlns:p14="http://schemas.microsoft.com/office/powerpoint/2010/main" val="15295672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08FF3FE-FE66-4AA1-9888-115E53EF16B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969F6579-6835-402F-8702-E380B1058BAD}"/>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Sign-in sequence</a:t>
            </a:r>
          </a:p>
        </p:txBody>
      </p:sp>
      <p:sp>
        <p:nvSpPr>
          <p:cNvPr id="3" name="">
            <a:extLst xmlns:a="http://schemas.openxmlformats.org/drawingml/2006/main">
              <a:ext uri="{FF2B5EF4-FFF2-40B4-BE49-F238E27FC236}">
                <a16:creationId xmlns:a16="http://schemas.microsoft.com/office/drawing/2014/main" id="{8BC7B5DA-5A62-47B3-8C88-C6789647B886}"/>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15238A61-0BD9-44B8-9900-B3A46214581D}"/>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4EBA74D9-6FD4-4CD8-9C9B-5C95F51DF80D}"/>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EFD31FFF-B8B9-43DD-877F-87D73282D53A}"/>
              </a:ext>
            </a:extLst>
          </p:cNvPr>
          <p:cNvSpPr>
            <a:spLocks xmlns:a="http://schemas.openxmlformats.org/drawingml/2006/main" noGrp="1"/>
          </p:cNvSpPr>
          <p:nvPr/>
        </p:nvSpPr>
        <p:spPr>
          <a:xfrm xmlns:a="http://schemas.openxmlformats.org/drawingml/2006/main">
            <a:off x="685800" y="11811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53677E"/>
                </a:solidFill>
                <a:latin typeface="Arial"/>
                <a:ea typeface="Arial"/>
                <a:cs typeface="Arial"/>
              </a:defRPr>
            </a:pPr>
            <a:r>
              <a:rPr sz="1725" b="0">
                <a:solidFill>
                  <a:srgbClr val="53677E"/>
                </a:solidFill>
                <a:latin typeface="Arial"/>
                <a:ea typeface="Arial"/>
                <a:cs typeface="Arial"/>
              </a:rPr>
              <a:t>When both factors are enabled and available for the role, complete them in this order.</a:t>
            </a:r>
          </a:p>
        </p:txBody>
      </p:sp>
      <p:sp>
        <p:nvSpPr>
          <p:cNvPr id="7" name="">
            <a:extLst xmlns:a="http://schemas.openxmlformats.org/drawingml/2006/main">
              <a:ext uri="{FF2B5EF4-FFF2-40B4-BE49-F238E27FC236}">
                <a16:creationId xmlns:a16="http://schemas.microsoft.com/office/drawing/2014/main" id="{DA29EBD1-2161-4070-8356-CD97451E0117}"/>
              </a:ext>
            </a:extLst>
          </p:cNvPr>
          <p:cNvSpPr>
            <a:spLocks xmlns:a="http://schemas.openxmlformats.org/drawingml/2006/main" noGrp="1"/>
          </p:cNvSpPr>
          <p:nvPr/>
        </p:nvSpPr>
        <p:spPr>
          <a:xfrm xmlns:a="http://schemas.openxmlformats.org/drawingml/2006/main">
            <a:off x="523875" y="2333625"/>
            <a:ext cx="2476500" cy="1809750"/>
          </a:xfrm>
          <a:prstGeom xmlns:a="http://schemas.openxmlformats.org/drawingml/2006/main" prst="roundRect">
            <a:avLst>
              <a:gd name="adj" fmla="val 7368"/>
            </a:avLst>
          </a:prstGeom>
          <a:solidFill xmlns:a="http://schemas.openxmlformats.org/drawingml/2006/main">
            <a:srgbClr val="E8F1F8"/>
          </a:solidFill>
          <a:ln xmlns:a="http://schemas.openxmlformats.org/drawingml/2006/main" w="19050">
            <a:solidFill>
              <a:srgbClr val="1F5B88"/>
            </a:solidFill>
            <a:prstDash val="solid"/>
          </a:ln>
        </p:spPr>
      </p:sp>
      <p:sp>
        <p:nvSpPr>
          <p:cNvPr id="8" name="">
            <a:extLst xmlns:a="http://schemas.openxmlformats.org/drawingml/2006/main">
              <a:ext uri="{FF2B5EF4-FFF2-40B4-BE49-F238E27FC236}">
                <a16:creationId xmlns:a16="http://schemas.microsoft.com/office/drawing/2014/main" id="{56DACE32-D7F1-4E19-BC11-BC17AF8AEA09}"/>
              </a:ext>
            </a:extLst>
          </p:cNvPr>
          <p:cNvSpPr>
            <a:spLocks xmlns:a="http://schemas.openxmlformats.org/drawingml/2006/main" noGrp="1"/>
          </p:cNvSpPr>
          <p:nvPr/>
        </p:nvSpPr>
        <p:spPr>
          <a:xfrm xmlns:a="http://schemas.openxmlformats.org/drawingml/2006/main">
            <a:off x="638175" y="241935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Password</a:t>
            </a:r>
          </a:p>
        </p:txBody>
      </p:sp>
      <p:sp>
        <p:nvSpPr>
          <p:cNvPr id="9" name="">
            <a:extLst xmlns:a="http://schemas.openxmlformats.org/drawingml/2006/main">
              <a:ext uri="{FF2B5EF4-FFF2-40B4-BE49-F238E27FC236}">
                <a16:creationId xmlns:a16="http://schemas.microsoft.com/office/drawing/2014/main" id="{C0DFC08B-3FA9-4428-8954-DC129DD71AFB}"/>
              </a:ext>
            </a:extLst>
          </p:cNvPr>
          <p:cNvSpPr>
            <a:spLocks xmlns:a="http://schemas.openxmlformats.org/drawingml/2006/main" noGrp="1"/>
          </p:cNvSpPr>
          <p:nvPr/>
        </p:nvSpPr>
        <p:spPr>
          <a:xfrm xmlns:a="http://schemas.openxmlformats.org/drawingml/2006/main">
            <a:off x="657225" y="2790825"/>
            <a:ext cx="22098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Django checks the account, password, approval and lock state.</a:t>
            </a:r>
          </a:p>
        </p:txBody>
      </p:sp>
      <p:sp>
        <p:nvSpPr>
          <p:cNvPr id="10" name="">
            <a:extLst xmlns:a="http://schemas.openxmlformats.org/drawingml/2006/main">
              <a:ext uri="{FF2B5EF4-FFF2-40B4-BE49-F238E27FC236}">
                <a16:creationId xmlns:a16="http://schemas.microsoft.com/office/drawing/2014/main" id="{1F8DFB67-0368-46D1-B1CB-8BC6729416A9}"/>
              </a:ext>
            </a:extLst>
          </p:cNvPr>
          <p:cNvSpPr>
            <a:spLocks xmlns:a="http://schemas.openxmlformats.org/drawingml/2006/main" noGrp="1"/>
          </p:cNvSpPr>
          <p:nvPr/>
        </p:nvSpPr>
        <p:spPr>
          <a:xfrm xmlns:a="http://schemas.openxmlformats.org/drawingml/2006/main">
            <a:off x="3381375" y="2333625"/>
            <a:ext cx="2476500" cy="1809750"/>
          </a:xfrm>
          <a:prstGeom xmlns:a="http://schemas.openxmlformats.org/drawingml/2006/main" prst="roundRect">
            <a:avLst>
              <a:gd name="adj" fmla="val 7368"/>
            </a:avLst>
          </a:prstGeom>
          <a:solidFill xmlns:a="http://schemas.openxmlformats.org/drawingml/2006/main">
            <a:srgbClr val="FFF7E3"/>
          </a:solidFill>
          <a:ln xmlns:a="http://schemas.openxmlformats.org/drawingml/2006/main" w="19050">
            <a:solidFill>
              <a:srgbClr val="E4A51B"/>
            </a:solidFill>
            <a:prstDash val="solid"/>
          </a:ln>
        </p:spPr>
      </p:sp>
      <p:sp>
        <p:nvSpPr>
          <p:cNvPr id="11" name="">
            <a:extLst xmlns:a="http://schemas.openxmlformats.org/drawingml/2006/main">
              <a:ext uri="{FF2B5EF4-FFF2-40B4-BE49-F238E27FC236}">
                <a16:creationId xmlns:a16="http://schemas.microsoft.com/office/drawing/2014/main" id="{3E877BAF-0739-45D2-93A3-B083F564D41F}"/>
              </a:ext>
            </a:extLst>
          </p:cNvPr>
          <p:cNvSpPr>
            <a:spLocks xmlns:a="http://schemas.openxmlformats.org/drawingml/2006/main" noGrp="1"/>
          </p:cNvSpPr>
          <p:nvPr/>
        </p:nvSpPr>
        <p:spPr>
          <a:xfrm xmlns:a="http://schemas.openxmlformats.org/drawingml/2006/main">
            <a:off x="3495675" y="241935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SMS OTP</a:t>
            </a:r>
          </a:p>
        </p:txBody>
      </p:sp>
      <p:sp>
        <p:nvSpPr>
          <p:cNvPr id="12" name="">
            <a:extLst xmlns:a="http://schemas.openxmlformats.org/drawingml/2006/main">
              <a:ext uri="{FF2B5EF4-FFF2-40B4-BE49-F238E27FC236}">
                <a16:creationId xmlns:a16="http://schemas.microsoft.com/office/drawing/2014/main" id="{E876BEEA-5991-45D2-B0E4-7D6E556E5376}"/>
              </a:ext>
            </a:extLst>
          </p:cNvPr>
          <p:cNvSpPr>
            <a:spLocks xmlns:a="http://schemas.openxmlformats.org/drawingml/2006/main" noGrp="1"/>
          </p:cNvSpPr>
          <p:nvPr/>
        </p:nvSpPr>
        <p:spPr>
          <a:xfrm xmlns:a="http://schemas.openxmlformats.org/drawingml/2006/main">
            <a:off x="3514725" y="2790825"/>
            <a:ext cx="22098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Firebase sends and verifies phone possession after reCAPTCHA.</a:t>
            </a:r>
          </a:p>
        </p:txBody>
      </p:sp>
      <p:sp>
        <p:nvSpPr>
          <p:cNvPr id="13" name="">
            <a:extLst xmlns:a="http://schemas.openxmlformats.org/drawingml/2006/main">
              <a:ext uri="{FF2B5EF4-FFF2-40B4-BE49-F238E27FC236}">
                <a16:creationId xmlns:a16="http://schemas.microsoft.com/office/drawing/2014/main" id="{82E86A7B-8DEB-4388-83DA-F6271F380805}"/>
              </a:ext>
            </a:extLst>
          </p:cNvPr>
          <p:cNvSpPr>
            <a:spLocks xmlns:a="http://schemas.openxmlformats.org/drawingml/2006/main" noGrp="1"/>
          </p:cNvSpPr>
          <p:nvPr/>
        </p:nvSpPr>
        <p:spPr>
          <a:xfrm xmlns:a="http://schemas.openxmlformats.org/drawingml/2006/main">
            <a:off x="6238875" y="2333625"/>
            <a:ext cx="2476500" cy="1809750"/>
          </a:xfrm>
          <a:prstGeom xmlns:a="http://schemas.openxmlformats.org/drawingml/2006/main" prst="roundRect">
            <a:avLst>
              <a:gd name="adj" fmla="val 7368"/>
            </a:avLst>
          </a:prstGeom>
          <a:solidFill xmlns:a="http://schemas.openxmlformats.org/drawingml/2006/main">
            <a:srgbClr val="FCEEEE"/>
          </a:solidFill>
          <a:ln xmlns:a="http://schemas.openxmlformats.org/drawingml/2006/main" w="19050">
            <a:solidFill>
              <a:srgbClr val="A33232"/>
            </a:solidFill>
            <a:prstDash val="solid"/>
          </a:ln>
        </p:spPr>
      </p:sp>
      <p:sp>
        <p:nvSpPr>
          <p:cNvPr id="14" name="">
            <a:extLst xmlns:a="http://schemas.openxmlformats.org/drawingml/2006/main">
              <a:ext uri="{FF2B5EF4-FFF2-40B4-BE49-F238E27FC236}">
                <a16:creationId xmlns:a16="http://schemas.microsoft.com/office/drawing/2014/main" id="{70B99AFE-A14A-44C8-89DA-34EBB37B507E}"/>
              </a:ext>
            </a:extLst>
          </p:cNvPr>
          <p:cNvSpPr>
            <a:spLocks xmlns:a="http://schemas.openxmlformats.org/drawingml/2006/main" noGrp="1"/>
          </p:cNvSpPr>
          <p:nvPr/>
        </p:nvSpPr>
        <p:spPr>
          <a:xfrm xmlns:a="http://schemas.openxmlformats.org/drawingml/2006/main">
            <a:off x="6353175" y="241935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Email OTP</a:t>
            </a:r>
          </a:p>
        </p:txBody>
      </p:sp>
      <p:sp>
        <p:nvSpPr>
          <p:cNvPr id="15" name="">
            <a:extLst xmlns:a="http://schemas.openxmlformats.org/drawingml/2006/main">
              <a:ext uri="{FF2B5EF4-FFF2-40B4-BE49-F238E27FC236}">
                <a16:creationId xmlns:a16="http://schemas.microsoft.com/office/drawing/2014/main" id="{F33D9ACE-A25C-4559-93A6-E07912D85101}"/>
              </a:ext>
            </a:extLst>
          </p:cNvPr>
          <p:cNvSpPr>
            <a:spLocks xmlns:a="http://schemas.openxmlformats.org/drawingml/2006/main" noGrp="1"/>
          </p:cNvSpPr>
          <p:nvPr/>
        </p:nvSpPr>
        <p:spPr>
          <a:xfrm xmlns:a="http://schemas.openxmlformats.org/drawingml/2006/main">
            <a:off x="6372225" y="2790825"/>
            <a:ext cx="22098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The portal checks a separate email code.</a:t>
            </a:r>
          </a:p>
        </p:txBody>
      </p:sp>
      <p:sp>
        <p:nvSpPr>
          <p:cNvPr id="16" name="">
            <a:extLst xmlns:a="http://schemas.openxmlformats.org/drawingml/2006/main">
              <a:ext uri="{FF2B5EF4-FFF2-40B4-BE49-F238E27FC236}">
                <a16:creationId xmlns:a16="http://schemas.microsoft.com/office/drawing/2014/main" id="{F4396E39-E268-49BD-8AFD-17E9AA86FF89}"/>
              </a:ext>
            </a:extLst>
          </p:cNvPr>
          <p:cNvSpPr>
            <a:spLocks xmlns:a="http://schemas.openxmlformats.org/drawingml/2006/main" noGrp="1"/>
          </p:cNvSpPr>
          <p:nvPr/>
        </p:nvSpPr>
        <p:spPr>
          <a:xfrm xmlns:a="http://schemas.openxmlformats.org/drawingml/2006/main">
            <a:off x="9096375" y="2333625"/>
            <a:ext cx="2476500" cy="1809750"/>
          </a:xfrm>
          <a:prstGeom xmlns:a="http://schemas.openxmlformats.org/drawingml/2006/main" prst="roundRect">
            <a:avLst>
              <a:gd name="adj" fmla="val 7368"/>
            </a:avLst>
          </a:prstGeom>
          <a:solidFill xmlns:a="http://schemas.openxmlformats.org/drawingml/2006/main">
            <a:srgbClr val="E9F4F2"/>
          </a:solidFill>
          <a:ln xmlns:a="http://schemas.openxmlformats.org/drawingml/2006/main" w="19050">
            <a:solidFill>
              <a:srgbClr val="07897F"/>
            </a:solidFill>
            <a:prstDash val="solid"/>
          </a:ln>
        </p:spPr>
      </p:sp>
      <p:sp>
        <p:nvSpPr>
          <p:cNvPr id="17" name="">
            <a:extLst xmlns:a="http://schemas.openxmlformats.org/drawingml/2006/main">
              <a:ext uri="{FF2B5EF4-FFF2-40B4-BE49-F238E27FC236}">
                <a16:creationId xmlns:a16="http://schemas.microsoft.com/office/drawing/2014/main" id="{E12D8144-E48D-4AD6-9B96-716BB9CF742E}"/>
              </a:ext>
            </a:extLst>
          </p:cNvPr>
          <p:cNvSpPr>
            <a:spLocks xmlns:a="http://schemas.openxmlformats.org/drawingml/2006/main" noGrp="1"/>
          </p:cNvSpPr>
          <p:nvPr/>
        </p:nvSpPr>
        <p:spPr>
          <a:xfrm xmlns:a="http://schemas.openxmlformats.org/drawingml/2006/main">
            <a:off x="9210675" y="241935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Portal session</a:t>
            </a:r>
          </a:p>
        </p:txBody>
      </p:sp>
      <p:sp>
        <p:nvSpPr>
          <p:cNvPr id="18" name="">
            <a:extLst xmlns:a="http://schemas.openxmlformats.org/drawingml/2006/main">
              <a:ext uri="{FF2B5EF4-FFF2-40B4-BE49-F238E27FC236}">
                <a16:creationId xmlns:a16="http://schemas.microsoft.com/office/drawing/2014/main" id="{9523D1F0-6081-40CC-9F70-2316663BE4C9}"/>
              </a:ext>
            </a:extLst>
          </p:cNvPr>
          <p:cNvSpPr>
            <a:spLocks xmlns:a="http://schemas.openxmlformats.org/drawingml/2006/main" noGrp="1"/>
          </p:cNvSpPr>
          <p:nvPr/>
        </p:nvSpPr>
        <p:spPr>
          <a:xfrm xmlns:a="http://schemas.openxmlformats.org/drawingml/2006/main">
            <a:off x="9229725" y="2790825"/>
            <a:ext cx="22098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Created after the required challenges pass.</a:t>
            </a:r>
          </a:p>
        </p:txBody>
      </p:sp>
      <p:cxnSp>
        <p:nvCxnSpPr>
          <p:cNvPr id="41" name=""/>
          <p:cNvCxnSpPr>
            <a:stCxn xmlns:a="http://schemas.openxmlformats.org/drawingml/2006/main" id="7" idx="3"/>
            <a:endCxn xmlns:a="http://schemas.openxmlformats.org/drawingml/2006/main" id="10" idx="1"/>
          </p:cNvCxnSpPr>
          <p:nvPr/>
        </p:nvCxnSpPr>
        <p:spPr>
          <a:xfrm xmlns:a="http://schemas.openxmlformats.org/drawingml/2006/main">
            <a:off x="3000375" y="3238500"/>
            <a:ext cx="381000" cy="0"/>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cxnSp>
        <p:nvCxnSpPr>
          <p:cNvPr id="42" name=""/>
          <p:cNvCxnSpPr>
            <a:stCxn xmlns:a="http://schemas.openxmlformats.org/drawingml/2006/main" id="10" idx="3"/>
            <a:endCxn xmlns:a="http://schemas.openxmlformats.org/drawingml/2006/main" id="13" idx="1"/>
          </p:cNvCxnSpPr>
          <p:nvPr/>
        </p:nvCxnSpPr>
        <p:spPr>
          <a:xfrm xmlns:a="http://schemas.openxmlformats.org/drawingml/2006/main">
            <a:off x="5857875" y="3238500"/>
            <a:ext cx="381000" cy="0"/>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cxnSp>
        <p:nvCxnSpPr>
          <p:cNvPr id="43" name=""/>
          <p:cNvCxnSpPr>
            <a:stCxn xmlns:a="http://schemas.openxmlformats.org/drawingml/2006/main" id="13" idx="3"/>
            <a:endCxn xmlns:a="http://schemas.openxmlformats.org/drawingml/2006/main" id="16" idx="1"/>
          </p:cNvCxnSpPr>
          <p:nvPr/>
        </p:nvCxnSpPr>
        <p:spPr>
          <a:xfrm xmlns:a="http://schemas.openxmlformats.org/drawingml/2006/main">
            <a:off x="8715375" y="3238500"/>
            <a:ext cx="381000" cy="0"/>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sp>
        <p:nvSpPr>
          <p:cNvPr id="22" name="">
            <a:extLst xmlns:a="http://schemas.openxmlformats.org/drawingml/2006/main">
              <a:ext uri="{FF2B5EF4-FFF2-40B4-BE49-F238E27FC236}">
                <a16:creationId xmlns:a16="http://schemas.microsoft.com/office/drawing/2014/main" id="{91375699-FA03-488E-92AF-9404509A54D5}"/>
              </a:ext>
            </a:extLst>
          </p:cNvPr>
          <p:cNvSpPr>
            <a:spLocks xmlns:a="http://schemas.openxmlformats.org/drawingml/2006/main" noGrp="1"/>
          </p:cNvSpPr>
          <p:nvPr/>
        </p:nvSpPr>
        <p:spPr>
          <a:xfrm xmlns:a="http://schemas.openxmlformats.org/drawingml/2006/main">
            <a:off x="1000125" y="4714875"/>
            <a:ext cx="1019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SMS and email are distinct verification steps. Their codes cannot be substituted for each other.</a:t>
            </a:r>
          </a:p>
        </p:txBody>
      </p:sp>
    </p:spTree>
    <p:extLst>
      <p:ext uri="{BB962C8B-B14F-4D97-AF65-F5344CB8AC3E}">
        <p14:creationId xmlns:p14="http://schemas.microsoft.com/office/powerpoint/2010/main" val="15116559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11D584A-C184-4FE0-8449-43060FE3677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0E284AC3-A40A-4C66-B3E2-9D42BCFC5E44}"/>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Firebase SMS verification</a:t>
            </a:r>
          </a:p>
        </p:txBody>
      </p:sp>
      <p:sp>
        <p:nvSpPr>
          <p:cNvPr id="3" name="">
            <a:extLst xmlns:a="http://schemas.openxmlformats.org/drawingml/2006/main">
              <a:ext uri="{FF2B5EF4-FFF2-40B4-BE49-F238E27FC236}">
                <a16:creationId xmlns:a16="http://schemas.microsoft.com/office/drawing/2014/main" id="{8A465DE7-19A3-4609-8118-7C509BC1A013}"/>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FBBE1989-C934-46CF-9DF4-C3DE8582664C}"/>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0B758AEB-2552-4707-9762-BC2D40475C04}"/>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94E66160-03B0-4A81-9E2B-264DEE01397C}"/>
              </a:ext>
            </a:extLst>
          </p:cNvPr>
          <p:cNvSpPr>
            <a:spLocks xmlns:a="http://schemas.openxmlformats.org/drawingml/2006/main" noGrp="1"/>
          </p:cNvSpPr>
          <p:nvPr/>
        </p:nvSpPr>
        <p:spPr>
          <a:xfrm xmlns:a="http://schemas.openxmlformats.org/drawingml/2006/main">
            <a:off x="685800" y="11811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53677E"/>
                </a:solidFill>
                <a:latin typeface="Arial"/>
                <a:ea typeface="Arial"/>
                <a:cs typeface="Arial"/>
              </a:defRPr>
            </a:pPr>
            <a:r>
              <a:rPr sz="1725" b="0">
                <a:solidFill>
                  <a:srgbClr val="53677E"/>
                </a:solidFill>
                <a:latin typeface="Arial"/>
                <a:ea typeface="Arial"/>
                <a:cs typeface="Arial"/>
              </a:rPr>
              <a:t>The browser requests SMS only after the security check succeeds.</a:t>
            </a:r>
          </a:p>
        </p:txBody>
      </p:sp>
      <p:sp>
        <p:nvSpPr>
          <p:cNvPr id="7" name="">
            <a:extLst xmlns:a="http://schemas.openxmlformats.org/drawingml/2006/main">
              <a:ext uri="{FF2B5EF4-FFF2-40B4-BE49-F238E27FC236}">
                <a16:creationId xmlns:a16="http://schemas.microsoft.com/office/drawing/2014/main" id="{AC0A624B-7E83-489E-A560-355D24BCA066}"/>
              </a:ext>
            </a:extLst>
          </p:cNvPr>
          <p:cNvSpPr>
            <a:spLocks xmlns:a="http://schemas.openxmlformats.org/drawingml/2006/main" noGrp="1"/>
          </p:cNvSpPr>
          <p:nvPr/>
        </p:nvSpPr>
        <p:spPr>
          <a:xfrm xmlns:a="http://schemas.openxmlformats.org/drawingml/2006/main">
            <a:off x="495300" y="2381250"/>
            <a:ext cx="2095500" cy="1524000"/>
          </a:xfrm>
          <a:prstGeom xmlns:a="http://schemas.openxmlformats.org/drawingml/2006/main" prst="roundRect">
            <a:avLst>
              <a:gd name="adj" fmla="val 8750"/>
            </a:avLst>
          </a:prstGeom>
          <a:solidFill xmlns:a="http://schemas.openxmlformats.org/drawingml/2006/main">
            <a:srgbClr val="F2F6FA"/>
          </a:solidFill>
          <a:ln xmlns:a="http://schemas.openxmlformats.org/drawingml/2006/main" w="19050">
            <a:solidFill>
              <a:srgbClr val="1F5B88"/>
            </a:solidFill>
            <a:prstDash val="solid"/>
          </a:ln>
        </p:spPr>
      </p:sp>
      <p:sp>
        <p:nvSpPr>
          <p:cNvPr id="8" name="">
            <a:extLst xmlns:a="http://schemas.openxmlformats.org/drawingml/2006/main">
              <a:ext uri="{FF2B5EF4-FFF2-40B4-BE49-F238E27FC236}">
                <a16:creationId xmlns:a16="http://schemas.microsoft.com/office/drawing/2014/main" id="{7B6CB21E-7E10-4CD6-AAB3-CA52049F5C15}"/>
              </a:ext>
            </a:extLst>
          </p:cNvPr>
          <p:cNvSpPr>
            <a:spLocks xmlns:a="http://schemas.openxmlformats.org/drawingml/2006/main" noGrp="1"/>
          </p:cNvSpPr>
          <p:nvPr/>
        </p:nvSpPr>
        <p:spPr>
          <a:xfrm xmlns:a="http://schemas.openxmlformats.org/drawingml/2006/main">
            <a:off x="609600" y="2466975"/>
            <a:ext cx="1866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reCAPTCHA</a:t>
            </a:r>
          </a:p>
        </p:txBody>
      </p:sp>
      <p:sp>
        <p:nvSpPr>
          <p:cNvPr id="9" name="">
            <a:extLst xmlns:a="http://schemas.openxmlformats.org/drawingml/2006/main">
              <a:ext uri="{FF2B5EF4-FFF2-40B4-BE49-F238E27FC236}">
                <a16:creationId xmlns:a16="http://schemas.microsoft.com/office/drawing/2014/main" id="{79495C31-A3CF-4494-966B-CDF9544A9CCA}"/>
              </a:ext>
            </a:extLst>
          </p:cNvPr>
          <p:cNvSpPr>
            <a:spLocks xmlns:a="http://schemas.openxmlformats.org/drawingml/2006/main" noGrp="1"/>
          </p:cNvSpPr>
          <p:nvPr/>
        </p:nvSpPr>
        <p:spPr>
          <a:xfrm xmlns:a="http://schemas.openxmlformats.org/drawingml/2006/main">
            <a:off x="628650" y="2838450"/>
            <a:ext cx="1828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Human check in browser</a:t>
            </a:r>
          </a:p>
        </p:txBody>
      </p:sp>
      <p:sp>
        <p:nvSpPr>
          <p:cNvPr id="10" name="">
            <a:extLst xmlns:a="http://schemas.openxmlformats.org/drawingml/2006/main">
              <a:ext uri="{FF2B5EF4-FFF2-40B4-BE49-F238E27FC236}">
                <a16:creationId xmlns:a16="http://schemas.microsoft.com/office/drawing/2014/main" id="{B29C1B3D-A092-4998-B798-C54292F12151}"/>
              </a:ext>
            </a:extLst>
          </p:cNvPr>
          <p:cNvSpPr>
            <a:spLocks xmlns:a="http://schemas.openxmlformats.org/drawingml/2006/main" noGrp="1"/>
          </p:cNvSpPr>
          <p:nvPr/>
        </p:nvSpPr>
        <p:spPr>
          <a:xfrm xmlns:a="http://schemas.openxmlformats.org/drawingml/2006/main">
            <a:off x="571500" y="20288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1">
                <a:solidFill>
                  <a:srgbClr val="07897F"/>
                </a:solidFill>
                <a:latin typeface="Arial"/>
                <a:ea typeface="Arial"/>
                <a:cs typeface="Arial"/>
              </a:defRPr>
            </a:pPr>
            <a:r>
              <a:rPr sz="1350" b="1">
                <a:solidFill>
                  <a:srgbClr val="07897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5D9AF04A-96C7-4E6B-A8E9-1566F7C274A8}"/>
              </a:ext>
            </a:extLst>
          </p:cNvPr>
          <p:cNvSpPr>
            <a:spLocks xmlns:a="http://schemas.openxmlformats.org/drawingml/2006/main" noGrp="1"/>
          </p:cNvSpPr>
          <p:nvPr/>
        </p:nvSpPr>
        <p:spPr>
          <a:xfrm xmlns:a="http://schemas.openxmlformats.org/drawingml/2006/main">
            <a:off x="2590800" y="3152775"/>
            <a:ext cx="219075" cy="0"/>
          </a:xfrm>
          <a:prstGeom xmlns:a="http://schemas.openxmlformats.org/drawingml/2006/main" prst="line">
            <a:avLst/>
          </a:prstGeom>
          <a:noFill xmlns:a="http://schemas.openxmlformats.org/drawingml/2006/main"/>
          <a:ln xmlns:a="http://schemas.openxmlformats.org/drawingml/2006/main" w="19050">
            <a:solidFill>
              <a:srgbClr val="1F5B88"/>
            </a:solidFill>
            <a:prstDash val="solid"/>
          </a:ln>
        </p:spPr>
      </p:sp>
      <p:sp>
        <p:nvSpPr>
          <p:cNvPr id="12" name="">
            <a:extLst xmlns:a="http://schemas.openxmlformats.org/drawingml/2006/main">
              <a:ext uri="{FF2B5EF4-FFF2-40B4-BE49-F238E27FC236}">
                <a16:creationId xmlns:a16="http://schemas.microsoft.com/office/drawing/2014/main" id="{9270C95C-8E33-4293-B3DD-B65D5E318C28}"/>
              </a:ext>
            </a:extLst>
          </p:cNvPr>
          <p:cNvSpPr>
            <a:spLocks xmlns:a="http://schemas.openxmlformats.org/drawingml/2006/main" noGrp="1"/>
          </p:cNvSpPr>
          <p:nvPr/>
        </p:nvSpPr>
        <p:spPr>
          <a:xfrm xmlns:a="http://schemas.openxmlformats.org/drawingml/2006/main">
            <a:off x="2809875" y="2381250"/>
            <a:ext cx="2095500" cy="1524000"/>
          </a:xfrm>
          <a:prstGeom xmlns:a="http://schemas.openxmlformats.org/drawingml/2006/main" prst="roundRect">
            <a:avLst>
              <a:gd name="adj" fmla="val 8750"/>
            </a:avLst>
          </a:prstGeom>
          <a:solidFill xmlns:a="http://schemas.openxmlformats.org/drawingml/2006/main">
            <a:srgbClr val="F2F6FA"/>
          </a:solidFill>
          <a:ln xmlns:a="http://schemas.openxmlformats.org/drawingml/2006/main" w="19050">
            <a:solidFill>
              <a:srgbClr val="E4A51B"/>
            </a:solidFill>
            <a:prstDash val="solid"/>
          </a:ln>
        </p:spPr>
      </p:sp>
      <p:sp>
        <p:nvSpPr>
          <p:cNvPr id="13" name="">
            <a:extLst xmlns:a="http://schemas.openxmlformats.org/drawingml/2006/main">
              <a:ext uri="{FF2B5EF4-FFF2-40B4-BE49-F238E27FC236}">
                <a16:creationId xmlns:a16="http://schemas.microsoft.com/office/drawing/2014/main" id="{61A78BC2-7427-4B11-BEDD-8D71F535717A}"/>
              </a:ext>
            </a:extLst>
          </p:cNvPr>
          <p:cNvSpPr>
            <a:spLocks xmlns:a="http://schemas.openxmlformats.org/drawingml/2006/main" noGrp="1"/>
          </p:cNvSpPr>
          <p:nvPr/>
        </p:nvSpPr>
        <p:spPr>
          <a:xfrm xmlns:a="http://schemas.openxmlformats.org/drawingml/2006/main">
            <a:off x="2924175" y="2466975"/>
            <a:ext cx="1866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Phone request</a:t>
            </a:r>
          </a:p>
        </p:txBody>
      </p:sp>
      <p:sp>
        <p:nvSpPr>
          <p:cNvPr id="14" name="">
            <a:extLst xmlns:a="http://schemas.openxmlformats.org/drawingml/2006/main">
              <a:ext uri="{FF2B5EF4-FFF2-40B4-BE49-F238E27FC236}">
                <a16:creationId xmlns:a16="http://schemas.microsoft.com/office/drawing/2014/main" id="{49144910-ABC1-4A6F-BA8A-A77243A628D5}"/>
              </a:ext>
            </a:extLst>
          </p:cNvPr>
          <p:cNvSpPr>
            <a:spLocks xmlns:a="http://schemas.openxmlformats.org/drawingml/2006/main" noGrp="1"/>
          </p:cNvSpPr>
          <p:nvPr/>
        </p:nvSpPr>
        <p:spPr>
          <a:xfrm xmlns:a="http://schemas.openxmlformats.org/drawingml/2006/main">
            <a:off x="2943225" y="2838450"/>
            <a:ext cx="1828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Firebase Phone Auth</a:t>
            </a:r>
          </a:p>
        </p:txBody>
      </p:sp>
      <p:sp>
        <p:nvSpPr>
          <p:cNvPr id="15" name="">
            <a:extLst xmlns:a="http://schemas.openxmlformats.org/drawingml/2006/main">
              <a:ext uri="{FF2B5EF4-FFF2-40B4-BE49-F238E27FC236}">
                <a16:creationId xmlns:a16="http://schemas.microsoft.com/office/drawing/2014/main" id="{3B306224-5368-48E0-8AAC-1766D03EA9C8}"/>
              </a:ext>
            </a:extLst>
          </p:cNvPr>
          <p:cNvSpPr>
            <a:spLocks xmlns:a="http://schemas.openxmlformats.org/drawingml/2006/main" noGrp="1"/>
          </p:cNvSpPr>
          <p:nvPr/>
        </p:nvSpPr>
        <p:spPr>
          <a:xfrm xmlns:a="http://schemas.openxmlformats.org/drawingml/2006/main">
            <a:off x="2886075" y="20288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1">
                <a:solidFill>
                  <a:srgbClr val="07897F"/>
                </a:solidFill>
                <a:latin typeface="Arial"/>
                <a:ea typeface="Arial"/>
                <a:cs typeface="Arial"/>
              </a:defRPr>
            </a:pPr>
            <a:r>
              <a:rPr sz="1350" b="1">
                <a:solidFill>
                  <a:srgbClr val="07897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3D7AF0FE-8A30-44C7-8B05-A10DE560013D}"/>
              </a:ext>
            </a:extLst>
          </p:cNvPr>
          <p:cNvSpPr>
            <a:spLocks xmlns:a="http://schemas.openxmlformats.org/drawingml/2006/main" noGrp="1"/>
          </p:cNvSpPr>
          <p:nvPr/>
        </p:nvSpPr>
        <p:spPr>
          <a:xfrm xmlns:a="http://schemas.openxmlformats.org/drawingml/2006/main">
            <a:off x="4905375" y="3152775"/>
            <a:ext cx="219075" cy="0"/>
          </a:xfrm>
          <a:prstGeom xmlns:a="http://schemas.openxmlformats.org/drawingml/2006/main" prst="line">
            <a:avLst/>
          </a:prstGeom>
          <a:noFill xmlns:a="http://schemas.openxmlformats.org/drawingml/2006/main"/>
          <a:ln xmlns:a="http://schemas.openxmlformats.org/drawingml/2006/main" w="19050">
            <a:solidFill>
              <a:srgbClr val="1F5B88"/>
            </a:solidFill>
            <a:prstDash val="solid"/>
          </a:ln>
        </p:spPr>
      </p:sp>
      <p:sp>
        <p:nvSpPr>
          <p:cNvPr id="17" name="">
            <a:extLst xmlns:a="http://schemas.openxmlformats.org/drawingml/2006/main">
              <a:ext uri="{FF2B5EF4-FFF2-40B4-BE49-F238E27FC236}">
                <a16:creationId xmlns:a16="http://schemas.microsoft.com/office/drawing/2014/main" id="{2E666225-AE58-4676-A0AB-570BC543BF39}"/>
              </a:ext>
            </a:extLst>
          </p:cNvPr>
          <p:cNvSpPr>
            <a:spLocks xmlns:a="http://schemas.openxmlformats.org/drawingml/2006/main" noGrp="1"/>
          </p:cNvSpPr>
          <p:nvPr/>
        </p:nvSpPr>
        <p:spPr>
          <a:xfrm xmlns:a="http://schemas.openxmlformats.org/drawingml/2006/main">
            <a:off x="5124450" y="2381250"/>
            <a:ext cx="2095500" cy="1524000"/>
          </a:xfrm>
          <a:prstGeom xmlns:a="http://schemas.openxmlformats.org/drawingml/2006/main" prst="roundRect">
            <a:avLst>
              <a:gd name="adj" fmla="val 8750"/>
            </a:avLst>
          </a:prstGeom>
          <a:solidFill xmlns:a="http://schemas.openxmlformats.org/drawingml/2006/main">
            <a:srgbClr val="FFF7E3"/>
          </a:solidFill>
          <a:ln xmlns:a="http://schemas.openxmlformats.org/drawingml/2006/main" w="19050">
            <a:solidFill>
              <a:srgbClr val="A33232"/>
            </a:solidFill>
            <a:prstDash val="solid"/>
          </a:ln>
        </p:spPr>
      </p:sp>
      <p:sp>
        <p:nvSpPr>
          <p:cNvPr id="18" name="">
            <a:extLst xmlns:a="http://schemas.openxmlformats.org/drawingml/2006/main">
              <a:ext uri="{FF2B5EF4-FFF2-40B4-BE49-F238E27FC236}">
                <a16:creationId xmlns:a16="http://schemas.microsoft.com/office/drawing/2014/main" id="{5E002733-0C2F-4476-B523-FF46345A07B9}"/>
              </a:ext>
            </a:extLst>
          </p:cNvPr>
          <p:cNvSpPr>
            <a:spLocks xmlns:a="http://schemas.openxmlformats.org/drawingml/2006/main" noGrp="1"/>
          </p:cNvSpPr>
          <p:nvPr/>
        </p:nvSpPr>
        <p:spPr>
          <a:xfrm xmlns:a="http://schemas.openxmlformats.org/drawingml/2006/main">
            <a:off x="5238750" y="2466975"/>
            <a:ext cx="1866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Carrier delivery</a:t>
            </a:r>
          </a:p>
        </p:txBody>
      </p:sp>
      <p:sp>
        <p:nvSpPr>
          <p:cNvPr id="19" name="">
            <a:extLst xmlns:a="http://schemas.openxmlformats.org/drawingml/2006/main">
              <a:ext uri="{FF2B5EF4-FFF2-40B4-BE49-F238E27FC236}">
                <a16:creationId xmlns:a16="http://schemas.microsoft.com/office/drawing/2014/main" id="{43D5B21B-38C1-4082-B511-22A91CF2F600}"/>
              </a:ext>
            </a:extLst>
          </p:cNvPr>
          <p:cNvSpPr>
            <a:spLocks xmlns:a="http://schemas.openxmlformats.org/drawingml/2006/main" noGrp="1"/>
          </p:cNvSpPr>
          <p:nvPr/>
        </p:nvSpPr>
        <p:spPr>
          <a:xfrm xmlns:a="http://schemas.openxmlformats.org/drawingml/2006/main">
            <a:off x="5257800" y="2838450"/>
            <a:ext cx="1828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Firebase and carrier decide delivery</a:t>
            </a:r>
          </a:p>
        </p:txBody>
      </p:sp>
      <p:sp>
        <p:nvSpPr>
          <p:cNvPr id="20" name="">
            <a:extLst xmlns:a="http://schemas.openxmlformats.org/drawingml/2006/main">
              <a:ext uri="{FF2B5EF4-FFF2-40B4-BE49-F238E27FC236}">
                <a16:creationId xmlns:a16="http://schemas.microsoft.com/office/drawing/2014/main" id="{7A9ABABD-2B36-4A90-94DE-270796FF8A02}"/>
              </a:ext>
            </a:extLst>
          </p:cNvPr>
          <p:cNvSpPr>
            <a:spLocks xmlns:a="http://schemas.openxmlformats.org/drawingml/2006/main" noGrp="1"/>
          </p:cNvSpPr>
          <p:nvPr/>
        </p:nvSpPr>
        <p:spPr>
          <a:xfrm xmlns:a="http://schemas.openxmlformats.org/drawingml/2006/main">
            <a:off x="5200650" y="20288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1">
                <a:solidFill>
                  <a:srgbClr val="07897F"/>
                </a:solidFill>
                <a:latin typeface="Arial"/>
                <a:ea typeface="Arial"/>
                <a:cs typeface="Arial"/>
              </a:defRPr>
            </a:pPr>
            <a:r>
              <a:rPr sz="1350" b="1">
                <a:solidFill>
                  <a:srgbClr val="07897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F8F38EBF-9B57-438C-BF60-F5BFC6025EA4}"/>
              </a:ext>
            </a:extLst>
          </p:cNvPr>
          <p:cNvSpPr>
            <a:spLocks xmlns:a="http://schemas.openxmlformats.org/drawingml/2006/main" noGrp="1"/>
          </p:cNvSpPr>
          <p:nvPr/>
        </p:nvSpPr>
        <p:spPr>
          <a:xfrm xmlns:a="http://schemas.openxmlformats.org/drawingml/2006/main">
            <a:off x="7219950" y="3152775"/>
            <a:ext cx="219075" cy="0"/>
          </a:xfrm>
          <a:prstGeom xmlns:a="http://schemas.openxmlformats.org/drawingml/2006/main" prst="line">
            <a:avLst/>
          </a:prstGeom>
          <a:noFill xmlns:a="http://schemas.openxmlformats.org/drawingml/2006/main"/>
          <a:ln xmlns:a="http://schemas.openxmlformats.org/drawingml/2006/main" w="19050">
            <a:solidFill>
              <a:srgbClr val="1F5B88"/>
            </a:solidFill>
            <a:prstDash val="solid"/>
          </a:ln>
        </p:spPr>
      </p:sp>
      <p:sp>
        <p:nvSpPr>
          <p:cNvPr id="22" name="">
            <a:extLst xmlns:a="http://schemas.openxmlformats.org/drawingml/2006/main">
              <a:ext uri="{FF2B5EF4-FFF2-40B4-BE49-F238E27FC236}">
                <a16:creationId xmlns:a16="http://schemas.microsoft.com/office/drawing/2014/main" id="{6FCE46C5-C13E-4FAA-8F84-039761A8BDAC}"/>
              </a:ext>
            </a:extLst>
          </p:cNvPr>
          <p:cNvSpPr>
            <a:spLocks xmlns:a="http://schemas.openxmlformats.org/drawingml/2006/main" noGrp="1"/>
          </p:cNvSpPr>
          <p:nvPr/>
        </p:nvSpPr>
        <p:spPr>
          <a:xfrm xmlns:a="http://schemas.openxmlformats.org/drawingml/2006/main">
            <a:off x="7439025" y="2381250"/>
            <a:ext cx="2095500" cy="1524000"/>
          </a:xfrm>
          <a:prstGeom xmlns:a="http://schemas.openxmlformats.org/drawingml/2006/main" prst="roundRect">
            <a:avLst>
              <a:gd name="adj" fmla="val 8750"/>
            </a:avLst>
          </a:prstGeom>
          <a:solidFill xmlns:a="http://schemas.openxmlformats.org/drawingml/2006/main">
            <a:srgbClr val="F2F6FA"/>
          </a:solidFill>
          <a:ln xmlns:a="http://schemas.openxmlformats.org/drawingml/2006/main" w="19050">
            <a:solidFill>
              <a:srgbClr val="1F5B88"/>
            </a:solidFill>
            <a:prstDash val="solid"/>
          </a:ln>
        </p:spPr>
      </p:sp>
      <p:sp>
        <p:nvSpPr>
          <p:cNvPr id="23" name="">
            <a:extLst xmlns:a="http://schemas.openxmlformats.org/drawingml/2006/main">
              <a:ext uri="{FF2B5EF4-FFF2-40B4-BE49-F238E27FC236}">
                <a16:creationId xmlns:a16="http://schemas.microsoft.com/office/drawing/2014/main" id="{D4E58C4F-F592-496D-89FA-5FB1D737E363}"/>
              </a:ext>
            </a:extLst>
          </p:cNvPr>
          <p:cNvSpPr>
            <a:spLocks xmlns:a="http://schemas.openxmlformats.org/drawingml/2006/main" noGrp="1"/>
          </p:cNvSpPr>
          <p:nvPr/>
        </p:nvSpPr>
        <p:spPr>
          <a:xfrm xmlns:a="http://schemas.openxmlformats.org/drawingml/2006/main">
            <a:off x="7553325" y="2466975"/>
            <a:ext cx="1866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Code entry</a:t>
            </a:r>
          </a:p>
        </p:txBody>
      </p:sp>
      <p:sp>
        <p:nvSpPr>
          <p:cNvPr id="24" name="">
            <a:extLst xmlns:a="http://schemas.openxmlformats.org/drawingml/2006/main">
              <a:ext uri="{FF2B5EF4-FFF2-40B4-BE49-F238E27FC236}">
                <a16:creationId xmlns:a16="http://schemas.microsoft.com/office/drawing/2014/main" id="{1072545F-5456-44B3-8B15-1A72E5E7CF56}"/>
              </a:ext>
            </a:extLst>
          </p:cNvPr>
          <p:cNvSpPr>
            <a:spLocks xmlns:a="http://schemas.openxmlformats.org/drawingml/2006/main" noGrp="1"/>
          </p:cNvSpPr>
          <p:nvPr/>
        </p:nvSpPr>
        <p:spPr>
          <a:xfrm xmlns:a="http://schemas.openxmlformats.org/drawingml/2006/main">
            <a:off x="7572375" y="2838450"/>
            <a:ext cx="1828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User types or selects received SMS code</a:t>
            </a:r>
          </a:p>
        </p:txBody>
      </p:sp>
      <p:sp>
        <p:nvSpPr>
          <p:cNvPr id="25" name="">
            <a:extLst xmlns:a="http://schemas.openxmlformats.org/drawingml/2006/main">
              <a:ext uri="{FF2B5EF4-FFF2-40B4-BE49-F238E27FC236}">
                <a16:creationId xmlns:a16="http://schemas.microsoft.com/office/drawing/2014/main" id="{2F3A6942-8082-4652-9D53-079E225D605C}"/>
              </a:ext>
            </a:extLst>
          </p:cNvPr>
          <p:cNvSpPr>
            <a:spLocks xmlns:a="http://schemas.openxmlformats.org/drawingml/2006/main" noGrp="1"/>
          </p:cNvSpPr>
          <p:nvPr/>
        </p:nvSpPr>
        <p:spPr>
          <a:xfrm xmlns:a="http://schemas.openxmlformats.org/drawingml/2006/main">
            <a:off x="7515225" y="20288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1">
                <a:solidFill>
                  <a:srgbClr val="07897F"/>
                </a:solidFill>
                <a:latin typeface="Arial"/>
                <a:ea typeface="Arial"/>
                <a:cs typeface="Arial"/>
              </a:defRPr>
            </a:pPr>
            <a:r>
              <a:rPr sz="1350" b="1">
                <a:solidFill>
                  <a:srgbClr val="07897F"/>
                </a:solidFill>
                <a:latin typeface="Arial"/>
                <a:ea typeface="Arial"/>
                <a:cs typeface="Arial"/>
              </a:rPr>
              <a:t>4</a:t>
            </a:r>
          </a:p>
        </p:txBody>
      </p:sp>
      <p:sp>
        <p:nvSpPr>
          <p:cNvPr id="26" name="">
            <a:extLst xmlns:a="http://schemas.openxmlformats.org/drawingml/2006/main">
              <a:ext uri="{FF2B5EF4-FFF2-40B4-BE49-F238E27FC236}">
                <a16:creationId xmlns:a16="http://schemas.microsoft.com/office/drawing/2014/main" id="{7ED4EF6B-3F58-457F-9A71-17BE3A63681D}"/>
              </a:ext>
            </a:extLst>
          </p:cNvPr>
          <p:cNvSpPr>
            <a:spLocks xmlns:a="http://schemas.openxmlformats.org/drawingml/2006/main" noGrp="1"/>
          </p:cNvSpPr>
          <p:nvPr/>
        </p:nvSpPr>
        <p:spPr>
          <a:xfrm xmlns:a="http://schemas.openxmlformats.org/drawingml/2006/main">
            <a:off x="9534525" y="3152775"/>
            <a:ext cx="219075" cy="0"/>
          </a:xfrm>
          <a:prstGeom xmlns:a="http://schemas.openxmlformats.org/drawingml/2006/main" prst="line">
            <a:avLst/>
          </a:prstGeom>
          <a:noFill xmlns:a="http://schemas.openxmlformats.org/drawingml/2006/main"/>
          <a:ln xmlns:a="http://schemas.openxmlformats.org/drawingml/2006/main" w="19050">
            <a:solidFill>
              <a:srgbClr val="1F5B88"/>
            </a:solidFill>
            <a:prstDash val="solid"/>
          </a:ln>
        </p:spPr>
      </p:sp>
      <p:sp>
        <p:nvSpPr>
          <p:cNvPr id="27" name="">
            <a:extLst xmlns:a="http://schemas.openxmlformats.org/drawingml/2006/main">
              <a:ext uri="{FF2B5EF4-FFF2-40B4-BE49-F238E27FC236}">
                <a16:creationId xmlns:a16="http://schemas.microsoft.com/office/drawing/2014/main" id="{262609CB-8D1B-4CAC-9849-AA862D1BE5D3}"/>
              </a:ext>
            </a:extLst>
          </p:cNvPr>
          <p:cNvSpPr>
            <a:spLocks xmlns:a="http://schemas.openxmlformats.org/drawingml/2006/main" noGrp="1"/>
          </p:cNvSpPr>
          <p:nvPr/>
        </p:nvSpPr>
        <p:spPr>
          <a:xfrm xmlns:a="http://schemas.openxmlformats.org/drawingml/2006/main">
            <a:off x="9753600" y="2381250"/>
            <a:ext cx="2095500" cy="1524000"/>
          </a:xfrm>
          <a:prstGeom xmlns:a="http://schemas.openxmlformats.org/drawingml/2006/main" prst="roundRect">
            <a:avLst>
              <a:gd name="adj" fmla="val 8750"/>
            </a:avLst>
          </a:prstGeom>
          <a:solidFill xmlns:a="http://schemas.openxmlformats.org/drawingml/2006/main">
            <a:srgbClr val="E9F4F2"/>
          </a:solidFill>
          <a:ln xmlns:a="http://schemas.openxmlformats.org/drawingml/2006/main" w="19050">
            <a:solidFill>
              <a:srgbClr val="07897F"/>
            </a:solidFill>
            <a:prstDash val="solid"/>
          </a:ln>
        </p:spPr>
      </p:sp>
      <p:sp>
        <p:nvSpPr>
          <p:cNvPr id="28" name="">
            <a:extLst xmlns:a="http://schemas.openxmlformats.org/drawingml/2006/main">
              <a:ext uri="{FF2B5EF4-FFF2-40B4-BE49-F238E27FC236}">
                <a16:creationId xmlns:a16="http://schemas.microsoft.com/office/drawing/2014/main" id="{AD71B6F4-7782-4123-B301-7FEA868B726B}"/>
              </a:ext>
            </a:extLst>
          </p:cNvPr>
          <p:cNvSpPr>
            <a:spLocks xmlns:a="http://schemas.openxmlformats.org/drawingml/2006/main" noGrp="1"/>
          </p:cNvSpPr>
          <p:nvPr/>
        </p:nvSpPr>
        <p:spPr>
          <a:xfrm xmlns:a="http://schemas.openxmlformats.org/drawingml/2006/main">
            <a:off x="9867900" y="2466975"/>
            <a:ext cx="1866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ID token</a:t>
            </a:r>
          </a:p>
        </p:txBody>
      </p:sp>
      <p:sp>
        <p:nvSpPr>
          <p:cNvPr id="29" name="">
            <a:extLst xmlns:a="http://schemas.openxmlformats.org/drawingml/2006/main">
              <a:ext uri="{FF2B5EF4-FFF2-40B4-BE49-F238E27FC236}">
                <a16:creationId xmlns:a16="http://schemas.microsoft.com/office/drawing/2014/main" id="{ABEF7B69-B5DF-49C7-876D-7F390DCD7BA9}"/>
              </a:ext>
            </a:extLst>
          </p:cNvPr>
          <p:cNvSpPr>
            <a:spLocks xmlns:a="http://schemas.openxmlformats.org/drawingml/2006/main" noGrp="1"/>
          </p:cNvSpPr>
          <p:nvPr/>
        </p:nvSpPr>
        <p:spPr>
          <a:xfrm xmlns:a="http://schemas.openxmlformats.org/drawingml/2006/main">
            <a:off x="9886950" y="2838450"/>
            <a:ext cx="1828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Django verifies the signed result</a:t>
            </a:r>
          </a:p>
        </p:txBody>
      </p:sp>
      <p:sp>
        <p:nvSpPr>
          <p:cNvPr id="30" name="">
            <a:extLst xmlns:a="http://schemas.openxmlformats.org/drawingml/2006/main">
              <a:ext uri="{FF2B5EF4-FFF2-40B4-BE49-F238E27FC236}">
                <a16:creationId xmlns:a16="http://schemas.microsoft.com/office/drawing/2014/main" id="{4C630524-5234-4EB5-96DD-FA450A3EFD60}"/>
              </a:ext>
            </a:extLst>
          </p:cNvPr>
          <p:cNvSpPr>
            <a:spLocks xmlns:a="http://schemas.openxmlformats.org/drawingml/2006/main" noGrp="1"/>
          </p:cNvSpPr>
          <p:nvPr/>
        </p:nvSpPr>
        <p:spPr>
          <a:xfrm xmlns:a="http://schemas.openxmlformats.org/drawingml/2006/main">
            <a:off x="9829800" y="2028825"/>
            <a:ext cx="30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1">
                <a:solidFill>
                  <a:srgbClr val="07897F"/>
                </a:solidFill>
                <a:latin typeface="Arial"/>
                <a:ea typeface="Arial"/>
                <a:cs typeface="Arial"/>
              </a:defRPr>
            </a:pPr>
            <a:r>
              <a:rPr sz="1350" b="1">
                <a:solidFill>
                  <a:srgbClr val="07897F"/>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E952E805-BE66-44B8-8BD7-D891E81BB07F}"/>
              </a:ext>
            </a:extLst>
          </p:cNvPr>
          <p:cNvSpPr>
            <a:spLocks xmlns:a="http://schemas.openxmlformats.org/drawingml/2006/main" noGrp="1"/>
          </p:cNvSpPr>
          <p:nvPr/>
        </p:nvSpPr>
        <p:spPr>
          <a:xfrm xmlns:a="http://schemas.openxmlformats.org/drawingml/2006/main">
            <a:off x="1095375" y="4552950"/>
            <a:ext cx="1004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A delivered SMS depends on Firebase configuration, abuse controls, region policy and carrier routing.</a:t>
            </a:r>
          </a:p>
        </p:txBody>
      </p:sp>
      <p:sp>
        <p:nvSpPr>
          <p:cNvPr id="32" name="">
            <a:extLst xmlns:a="http://schemas.openxmlformats.org/drawingml/2006/main">
              <a:ext uri="{FF2B5EF4-FFF2-40B4-BE49-F238E27FC236}">
                <a16:creationId xmlns:a16="http://schemas.microsoft.com/office/drawing/2014/main" id="{D9E7EEF4-D21E-4811-8B90-9C2C797998A9}"/>
              </a:ext>
            </a:extLst>
          </p:cNvPr>
          <p:cNvSpPr>
            <a:spLocks xmlns:a="http://schemas.openxmlformats.org/drawingml/2006/main" noGrp="1"/>
          </p:cNvSpPr>
          <p:nvPr/>
        </p:nvSpPr>
        <p:spPr>
          <a:xfrm xmlns:a="http://schemas.openxmlformats.org/drawingml/2006/main">
            <a:off x="1333500" y="527685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A33232"/>
                </a:solidFill>
                <a:latin typeface="Arial"/>
                <a:ea typeface="Arial"/>
                <a:cs typeface="Arial"/>
              </a:defRPr>
            </a:pPr>
            <a:r>
              <a:rPr sz="1425" b="0">
                <a:solidFill>
                  <a:srgbClr val="A33232"/>
                </a:solidFill>
                <a:latin typeface="Arial"/>
                <a:ea typeface="Arial"/>
                <a:cs typeface="Arial"/>
              </a:rPr>
              <a:t>This handoff audit did not request a code or test real carrier delivery.</a:t>
            </a:r>
          </a:p>
        </p:txBody>
      </p:sp>
    </p:spTree>
    <p:extLst>
      <p:ext uri="{BB962C8B-B14F-4D97-AF65-F5344CB8AC3E}">
        <p14:creationId xmlns:p14="http://schemas.microsoft.com/office/powerpoint/2010/main" val="10713439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BFCEBEF-E49C-42D0-A76B-F8D3833B2B1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BC69C29F-1EF6-4A7A-9326-97BF011227CD}"/>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Email OTP challenge</a:t>
            </a:r>
          </a:p>
        </p:txBody>
      </p:sp>
      <p:sp>
        <p:nvSpPr>
          <p:cNvPr id="3" name="">
            <a:extLst xmlns:a="http://schemas.openxmlformats.org/drawingml/2006/main">
              <a:ext uri="{FF2B5EF4-FFF2-40B4-BE49-F238E27FC236}">
                <a16:creationId xmlns:a16="http://schemas.microsoft.com/office/drawing/2014/main" id="{E8AEF168-9AF3-4A62-A28B-393120961CCA}"/>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8E4AE6A5-8CC4-4813-A504-C9085F894C75}"/>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51B3B71A-48A6-4357-A489-62BC69241200}"/>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58D777F4-A21C-449F-AD26-2C8406A7B2F2}"/>
              </a:ext>
            </a:extLst>
          </p:cNvPr>
          <p:cNvSpPr>
            <a:spLocks xmlns:a="http://schemas.openxmlformats.org/drawingml/2006/main" noGrp="1"/>
          </p:cNvSpPr>
          <p:nvPr/>
        </p:nvSpPr>
        <p:spPr>
          <a:xfrm xmlns:a="http://schemas.openxmlformats.org/drawingml/2006/main">
            <a:off x="685800" y="1181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53677E"/>
                </a:solidFill>
                <a:latin typeface="Arial"/>
                <a:ea typeface="Arial"/>
                <a:cs typeface="Arial"/>
              </a:defRPr>
            </a:pPr>
            <a:r>
              <a:rPr sz="1725" b="0">
                <a:solidFill>
                  <a:srgbClr val="53677E"/>
                </a:solidFill>
                <a:latin typeface="Arial"/>
                <a:ea typeface="Arial"/>
                <a:cs typeface="Arial"/>
              </a:rPr>
              <a:t>Email is an additional portal challenge after the SMS step when policy requires both.</a:t>
            </a:r>
          </a:p>
        </p:txBody>
      </p:sp>
      <p:sp>
        <p:nvSpPr>
          <p:cNvPr id="7" name="">
            <a:extLst xmlns:a="http://schemas.openxmlformats.org/drawingml/2006/main">
              <a:ext uri="{FF2B5EF4-FFF2-40B4-BE49-F238E27FC236}">
                <a16:creationId xmlns:a16="http://schemas.microsoft.com/office/drawing/2014/main" id="{93DF2901-BC72-44AC-9C4C-F541D38AB74B}"/>
              </a:ext>
            </a:extLst>
          </p:cNvPr>
          <p:cNvSpPr>
            <a:spLocks xmlns:a="http://schemas.openxmlformats.org/drawingml/2006/main" noGrp="1"/>
          </p:cNvSpPr>
          <p:nvPr/>
        </p:nvSpPr>
        <p:spPr>
          <a:xfrm xmlns:a="http://schemas.openxmlformats.org/drawingml/2006/main">
            <a:off x="876300" y="2381250"/>
            <a:ext cx="2333625" cy="1381125"/>
          </a:xfrm>
          <a:prstGeom xmlns:a="http://schemas.openxmlformats.org/drawingml/2006/main" prst="roundRect">
            <a:avLst>
              <a:gd name="adj" fmla="val 9655"/>
            </a:avLst>
          </a:prstGeom>
          <a:solidFill xmlns:a="http://schemas.openxmlformats.org/drawingml/2006/main">
            <a:srgbClr val="FFF7E3"/>
          </a:solidFill>
          <a:ln xmlns:a="http://schemas.openxmlformats.org/drawingml/2006/main" w="19050">
            <a:solidFill>
              <a:srgbClr val="E4A51B"/>
            </a:solidFill>
            <a:prstDash val="solid"/>
          </a:ln>
        </p:spPr>
      </p:sp>
      <p:sp>
        <p:nvSpPr>
          <p:cNvPr id="8" name="">
            <a:extLst xmlns:a="http://schemas.openxmlformats.org/drawingml/2006/main">
              <a:ext uri="{FF2B5EF4-FFF2-40B4-BE49-F238E27FC236}">
                <a16:creationId xmlns:a16="http://schemas.microsoft.com/office/drawing/2014/main" id="{8C67B30D-FE1C-4645-ABF7-8878EF42E786}"/>
              </a:ext>
            </a:extLst>
          </p:cNvPr>
          <p:cNvSpPr>
            <a:spLocks xmlns:a="http://schemas.openxmlformats.org/drawingml/2006/main" noGrp="1"/>
          </p:cNvSpPr>
          <p:nvPr/>
        </p:nvSpPr>
        <p:spPr>
          <a:xfrm xmlns:a="http://schemas.openxmlformats.org/drawingml/2006/main">
            <a:off x="990600" y="2466975"/>
            <a:ext cx="2105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SMS accepted</a:t>
            </a:r>
          </a:p>
        </p:txBody>
      </p:sp>
      <p:sp>
        <p:nvSpPr>
          <p:cNvPr id="9" name="">
            <a:extLst xmlns:a="http://schemas.openxmlformats.org/drawingml/2006/main">
              <a:ext uri="{FF2B5EF4-FFF2-40B4-BE49-F238E27FC236}">
                <a16:creationId xmlns:a16="http://schemas.microsoft.com/office/drawing/2014/main" id="{7BC20C0A-91A8-48CF-AA09-32455BE68FE6}"/>
              </a:ext>
            </a:extLst>
          </p:cNvPr>
          <p:cNvSpPr>
            <a:spLocks xmlns:a="http://schemas.openxmlformats.org/drawingml/2006/main" noGrp="1"/>
          </p:cNvSpPr>
          <p:nvPr/>
        </p:nvSpPr>
        <p:spPr>
          <a:xfrm xmlns:a="http://schemas.openxmlformats.org/drawingml/2006/main">
            <a:off x="1009650" y="2838450"/>
            <a:ext cx="20669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Phone verification completed by Firebase.</a:t>
            </a:r>
          </a:p>
        </p:txBody>
      </p:sp>
      <p:sp>
        <p:nvSpPr>
          <p:cNvPr id="10" name="">
            <a:extLst xmlns:a="http://schemas.openxmlformats.org/drawingml/2006/main">
              <a:ext uri="{FF2B5EF4-FFF2-40B4-BE49-F238E27FC236}">
                <a16:creationId xmlns:a16="http://schemas.microsoft.com/office/drawing/2014/main" id="{42A0395E-A67D-4A9F-8C36-2D7A4D64A45E}"/>
              </a:ext>
            </a:extLst>
          </p:cNvPr>
          <p:cNvSpPr>
            <a:spLocks xmlns:a="http://schemas.openxmlformats.org/drawingml/2006/main" noGrp="1"/>
          </p:cNvSpPr>
          <p:nvPr/>
        </p:nvSpPr>
        <p:spPr>
          <a:xfrm xmlns:a="http://schemas.openxmlformats.org/drawingml/2006/main">
            <a:off x="3667125" y="2381250"/>
            <a:ext cx="2333625" cy="1381125"/>
          </a:xfrm>
          <a:prstGeom xmlns:a="http://schemas.openxmlformats.org/drawingml/2006/main" prst="roundRect">
            <a:avLst>
              <a:gd name="adj" fmla="val 9655"/>
            </a:avLst>
          </a:prstGeom>
          <a:solidFill xmlns:a="http://schemas.openxmlformats.org/drawingml/2006/main">
            <a:srgbClr val="FCEEEE"/>
          </a:solidFill>
          <a:ln xmlns:a="http://schemas.openxmlformats.org/drawingml/2006/main" w="19050">
            <a:solidFill>
              <a:srgbClr val="A33232"/>
            </a:solidFill>
            <a:prstDash val="solid"/>
          </a:ln>
        </p:spPr>
      </p:sp>
      <p:sp>
        <p:nvSpPr>
          <p:cNvPr id="11" name="">
            <a:extLst xmlns:a="http://schemas.openxmlformats.org/drawingml/2006/main">
              <a:ext uri="{FF2B5EF4-FFF2-40B4-BE49-F238E27FC236}">
                <a16:creationId xmlns:a16="http://schemas.microsoft.com/office/drawing/2014/main" id="{9209EDE9-4740-4EBE-8AD4-411B3BECB067}"/>
              </a:ext>
            </a:extLst>
          </p:cNvPr>
          <p:cNvSpPr>
            <a:spLocks xmlns:a="http://schemas.openxmlformats.org/drawingml/2006/main" noGrp="1"/>
          </p:cNvSpPr>
          <p:nvPr/>
        </p:nvSpPr>
        <p:spPr>
          <a:xfrm xmlns:a="http://schemas.openxmlformats.org/drawingml/2006/main">
            <a:off x="3781425" y="2466975"/>
            <a:ext cx="2105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Email sent</a:t>
            </a:r>
          </a:p>
        </p:txBody>
      </p:sp>
      <p:sp>
        <p:nvSpPr>
          <p:cNvPr id="12" name="">
            <a:extLst xmlns:a="http://schemas.openxmlformats.org/drawingml/2006/main">
              <a:ext uri="{FF2B5EF4-FFF2-40B4-BE49-F238E27FC236}">
                <a16:creationId xmlns:a16="http://schemas.microsoft.com/office/drawing/2014/main" id="{056E9F19-01EB-4D78-A53B-7DA2C5B90872}"/>
              </a:ext>
            </a:extLst>
          </p:cNvPr>
          <p:cNvSpPr>
            <a:spLocks xmlns:a="http://schemas.openxmlformats.org/drawingml/2006/main" noGrp="1"/>
          </p:cNvSpPr>
          <p:nvPr/>
        </p:nvSpPr>
        <p:spPr>
          <a:xfrm xmlns:a="http://schemas.openxmlformats.org/drawingml/2006/main">
            <a:off x="3800475" y="2838450"/>
            <a:ext cx="20669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Portal mail backend sends a purpose-specific code.</a:t>
            </a:r>
          </a:p>
        </p:txBody>
      </p:sp>
      <p:sp>
        <p:nvSpPr>
          <p:cNvPr id="13" name="">
            <a:extLst xmlns:a="http://schemas.openxmlformats.org/drawingml/2006/main">
              <a:ext uri="{FF2B5EF4-FFF2-40B4-BE49-F238E27FC236}">
                <a16:creationId xmlns:a16="http://schemas.microsoft.com/office/drawing/2014/main" id="{B50AF926-3D4F-45BF-9DC5-9ADABD2EAE0D}"/>
              </a:ext>
            </a:extLst>
          </p:cNvPr>
          <p:cNvSpPr>
            <a:spLocks xmlns:a="http://schemas.openxmlformats.org/drawingml/2006/main" noGrp="1"/>
          </p:cNvSpPr>
          <p:nvPr/>
        </p:nvSpPr>
        <p:spPr>
          <a:xfrm xmlns:a="http://schemas.openxmlformats.org/drawingml/2006/main">
            <a:off x="6457950" y="2381250"/>
            <a:ext cx="2333625" cy="1381125"/>
          </a:xfrm>
          <a:prstGeom xmlns:a="http://schemas.openxmlformats.org/drawingml/2006/main" prst="roundRect">
            <a:avLst>
              <a:gd name="adj" fmla="val 9655"/>
            </a:avLst>
          </a:prstGeom>
          <a:solidFill xmlns:a="http://schemas.openxmlformats.org/drawingml/2006/main">
            <a:srgbClr val="F2F6FA"/>
          </a:solidFill>
          <a:ln xmlns:a="http://schemas.openxmlformats.org/drawingml/2006/main" w="19050">
            <a:solidFill>
              <a:srgbClr val="1F5B88"/>
            </a:solidFill>
            <a:prstDash val="solid"/>
          </a:ln>
        </p:spPr>
      </p:sp>
      <p:sp>
        <p:nvSpPr>
          <p:cNvPr id="14" name="">
            <a:extLst xmlns:a="http://schemas.openxmlformats.org/drawingml/2006/main">
              <a:ext uri="{FF2B5EF4-FFF2-40B4-BE49-F238E27FC236}">
                <a16:creationId xmlns:a16="http://schemas.microsoft.com/office/drawing/2014/main" id="{3C251F2B-B808-4627-8B1E-973DD6E6CECA}"/>
              </a:ext>
            </a:extLst>
          </p:cNvPr>
          <p:cNvSpPr>
            <a:spLocks xmlns:a="http://schemas.openxmlformats.org/drawingml/2006/main" noGrp="1"/>
          </p:cNvSpPr>
          <p:nvPr/>
        </p:nvSpPr>
        <p:spPr>
          <a:xfrm xmlns:a="http://schemas.openxmlformats.org/drawingml/2006/main">
            <a:off x="6572250" y="2466975"/>
            <a:ext cx="2105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Code entered</a:t>
            </a:r>
          </a:p>
        </p:txBody>
      </p:sp>
      <p:sp>
        <p:nvSpPr>
          <p:cNvPr id="15" name="">
            <a:extLst xmlns:a="http://schemas.openxmlformats.org/drawingml/2006/main">
              <a:ext uri="{FF2B5EF4-FFF2-40B4-BE49-F238E27FC236}">
                <a16:creationId xmlns:a16="http://schemas.microsoft.com/office/drawing/2014/main" id="{15669801-E75D-47D0-81E6-3ADBD009B8C6}"/>
              </a:ext>
            </a:extLst>
          </p:cNvPr>
          <p:cNvSpPr>
            <a:spLocks xmlns:a="http://schemas.openxmlformats.org/drawingml/2006/main" noGrp="1"/>
          </p:cNvSpPr>
          <p:nvPr/>
        </p:nvSpPr>
        <p:spPr>
          <a:xfrm xmlns:a="http://schemas.openxmlformats.org/drawingml/2006/main">
            <a:off x="6591300" y="2838450"/>
            <a:ext cx="20669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User pastes or types the email code.</a:t>
            </a:r>
          </a:p>
        </p:txBody>
      </p:sp>
      <p:sp>
        <p:nvSpPr>
          <p:cNvPr id="16" name="">
            <a:extLst xmlns:a="http://schemas.openxmlformats.org/drawingml/2006/main">
              <a:ext uri="{FF2B5EF4-FFF2-40B4-BE49-F238E27FC236}">
                <a16:creationId xmlns:a16="http://schemas.microsoft.com/office/drawing/2014/main" id="{8CC314DD-4466-4BD1-8216-196E2CDE3112}"/>
              </a:ext>
            </a:extLst>
          </p:cNvPr>
          <p:cNvSpPr>
            <a:spLocks xmlns:a="http://schemas.openxmlformats.org/drawingml/2006/main" noGrp="1"/>
          </p:cNvSpPr>
          <p:nvPr/>
        </p:nvSpPr>
        <p:spPr>
          <a:xfrm xmlns:a="http://schemas.openxmlformats.org/drawingml/2006/main">
            <a:off x="9248775" y="2381250"/>
            <a:ext cx="2095500" cy="1381125"/>
          </a:xfrm>
          <a:prstGeom xmlns:a="http://schemas.openxmlformats.org/drawingml/2006/main" prst="roundRect">
            <a:avLst>
              <a:gd name="adj" fmla="val 9655"/>
            </a:avLst>
          </a:prstGeom>
          <a:solidFill xmlns:a="http://schemas.openxmlformats.org/drawingml/2006/main">
            <a:srgbClr val="E9F4F2"/>
          </a:solidFill>
          <a:ln xmlns:a="http://schemas.openxmlformats.org/drawingml/2006/main" w="19050">
            <a:solidFill>
              <a:srgbClr val="07897F"/>
            </a:solidFill>
            <a:prstDash val="solid"/>
          </a:ln>
        </p:spPr>
      </p:sp>
      <p:sp>
        <p:nvSpPr>
          <p:cNvPr id="17" name="">
            <a:extLst xmlns:a="http://schemas.openxmlformats.org/drawingml/2006/main">
              <a:ext uri="{FF2B5EF4-FFF2-40B4-BE49-F238E27FC236}">
                <a16:creationId xmlns:a16="http://schemas.microsoft.com/office/drawing/2014/main" id="{72E8DCE6-DD41-47D8-A822-D1460D648F23}"/>
              </a:ext>
            </a:extLst>
          </p:cNvPr>
          <p:cNvSpPr>
            <a:spLocks xmlns:a="http://schemas.openxmlformats.org/drawingml/2006/main" noGrp="1"/>
          </p:cNvSpPr>
          <p:nvPr/>
        </p:nvSpPr>
        <p:spPr>
          <a:xfrm xmlns:a="http://schemas.openxmlformats.org/drawingml/2006/main">
            <a:off x="9363075" y="2466975"/>
            <a:ext cx="1866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Verified</a:t>
            </a:r>
          </a:p>
        </p:txBody>
      </p:sp>
      <p:sp>
        <p:nvSpPr>
          <p:cNvPr id="18" name="">
            <a:extLst xmlns:a="http://schemas.openxmlformats.org/drawingml/2006/main">
              <a:ext uri="{FF2B5EF4-FFF2-40B4-BE49-F238E27FC236}">
                <a16:creationId xmlns:a16="http://schemas.microsoft.com/office/drawing/2014/main" id="{1ACF0663-5D45-4A5A-A37A-350E985F31F7}"/>
              </a:ext>
            </a:extLst>
          </p:cNvPr>
          <p:cNvSpPr>
            <a:spLocks xmlns:a="http://schemas.openxmlformats.org/drawingml/2006/main" noGrp="1"/>
          </p:cNvSpPr>
          <p:nvPr/>
        </p:nvSpPr>
        <p:spPr>
          <a:xfrm xmlns:a="http://schemas.openxmlformats.org/drawingml/2006/main">
            <a:off x="9382125" y="2838450"/>
            <a:ext cx="1828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Portal completes required sign-in checks.</a:t>
            </a:r>
          </a:p>
        </p:txBody>
      </p:sp>
      <p:cxnSp>
        <p:nvCxnSpPr>
          <p:cNvPr id="42" name=""/>
          <p:cNvCxnSpPr>
            <a:stCxn xmlns:a="http://schemas.openxmlformats.org/drawingml/2006/main" id="7" idx="3"/>
            <a:endCxn xmlns:a="http://schemas.openxmlformats.org/drawingml/2006/main" id="10" idx="1"/>
          </p:cNvCxnSpPr>
          <p:nvPr/>
        </p:nvCxnSpPr>
        <p:spPr>
          <a:xfrm xmlns:a="http://schemas.openxmlformats.org/drawingml/2006/main">
            <a:off x="3209925" y="3071813"/>
            <a:ext cx="457200" cy="0"/>
          </a:xfrm>
          <a:prstGeom xmlns:a="http://schemas.openxmlformats.org/drawingml/2006/main" prst="straightConnector1">
            <a:avLst/>
          </a:prstGeom>
          <a:ln xmlns:a="http://schemas.openxmlformats.org/drawingml/2006/main" w="19050">
            <a:solidFill>
              <a:srgbClr val="A33232"/>
            </a:solidFill>
            <a:prstDash val="solid"/>
            <a:headEnd type="triangle" w="sm" len="sm"/>
          </a:ln>
        </p:spPr>
      </p:cxnSp>
      <p:cxnSp>
        <p:nvCxnSpPr>
          <p:cNvPr id="43" name=""/>
          <p:cNvCxnSpPr>
            <a:stCxn xmlns:a="http://schemas.openxmlformats.org/drawingml/2006/main" id="10" idx="3"/>
            <a:endCxn xmlns:a="http://schemas.openxmlformats.org/drawingml/2006/main" id="13" idx="1"/>
          </p:cNvCxnSpPr>
          <p:nvPr/>
        </p:nvCxnSpPr>
        <p:spPr>
          <a:xfrm xmlns:a="http://schemas.openxmlformats.org/drawingml/2006/main">
            <a:off x="6000750" y="3071813"/>
            <a:ext cx="457200" cy="0"/>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cxnSp>
        <p:nvCxnSpPr>
          <p:cNvPr id="44" name=""/>
          <p:cNvCxnSpPr>
            <a:stCxn xmlns:a="http://schemas.openxmlformats.org/drawingml/2006/main" id="13" idx="3"/>
            <a:endCxn xmlns:a="http://schemas.openxmlformats.org/drawingml/2006/main" id="16" idx="1"/>
          </p:cNvCxnSpPr>
          <p:nvPr/>
        </p:nvCxnSpPr>
        <p:spPr>
          <a:xfrm xmlns:a="http://schemas.openxmlformats.org/drawingml/2006/main">
            <a:off x="8791575" y="3071813"/>
            <a:ext cx="457200" cy="0"/>
          </a:xfrm>
          <a:prstGeom xmlns:a="http://schemas.openxmlformats.org/drawingml/2006/main" prst="straightConnector1">
            <a:avLst/>
          </a:prstGeom>
          <a:ln xmlns:a="http://schemas.openxmlformats.org/drawingml/2006/main" w="19050">
            <a:solidFill>
              <a:srgbClr val="07897F"/>
            </a:solidFill>
            <a:prstDash val="solid"/>
            <a:headEnd type="triangle" w="sm" len="sm"/>
          </a:ln>
        </p:spPr>
      </p:cxnSp>
      <p:sp>
        <p:nvSpPr>
          <p:cNvPr id="22" name="">
            <a:extLst xmlns:a="http://schemas.openxmlformats.org/drawingml/2006/main">
              <a:ext uri="{FF2B5EF4-FFF2-40B4-BE49-F238E27FC236}">
                <a16:creationId xmlns:a16="http://schemas.microsoft.com/office/drawing/2014/main" id="{11DEAD70-CCDB-4707-9CAE-B3C6FB5F1BCC}"/>
              </a:ext>
            </a:extLst>
          </p:cNvPr>
          <p:cNvSpPr>
            <a:spLocks xmlns:a="http://schemas.openxmlformats.org/drawingml/2006/main" noGrp="1"/>
          </p:cNvSpPr>
          <p:nvPr/>
        </p:nvSpPr>
        <p:spPr>
          <a:xfrm xmlns:a="http://schemas.openxmlformats.org/drawingml/2006/main">
            <a:off x="952500" y="4476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Good email copy states whether the code is for sign-in, account verification or password recovery.</a:t>
            </a:r>
          </a:p>
        </p:txBody>
      </p:sp>
      <p:sp>
        <p:nvSpPr>
          <p:cNvPr id="23" name="">
            <a:extLst xmlns:a="http://schemas.openxmlformats.org/drawingml/2006/main">
              <a:ext uri="{FF2B5EF4-FFF2-40B4-BE49-F238E27FC236}">
                <a16:creationId xmlns:a16="http://schemas.microsoft.com/office/drawing/2014/main" id="{F9156191-986C-421B-9394-18C9CC9B163F}"/>
              </a:ext>
            </a:extLst>
          </p:cNvPr>
          <p:cNvSpPr>
            <a:spLocks xmlns:a="http://schemas.openxmlformats.org/drawingml/2006/main" noGrp="1"/>
          </p:cNvSpPr>
          <p:nvPr/>
        </p:nvSpPr>
        <p:spPr>
          <a:xfrm xmlns:a="http://schemas.openxmlformats.org/drawingml/2006/main">
            <a:off x="1143000" y="52578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The portal must verify the code server-side and apply expiry and attempt limits.</a:t>
            </a:r>
          </a:p>
        </p:txBody>
      </p:sp>
    </p:spTree>
    <p:extLst>
      <p:ext uri="{BB962C8B-B14F-4D97-AF65-F5344CB8AC3E}">
        <p14:creationId xmlns:p14="http://schemas.microsoft.com/office/powerpoint/2010/main" val="7459086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7C594A5-0BD8-4FA0-B16B-1331FA18430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CC3AD24C-F4BF-452A-AEC7-935780ACAF05}"/>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Role access boundaries</a:t>
            </a:r>
          </a:p>
        </p:txBody>
      </p:sp>
      <p:sp>
        <p:nvSpPr>
          <p:cNvPr id="3" name="">
            <a:extLst xmlns:a="http://schemas.openxmlformats.org/drawingml/2006/main">
              <a:ext uri="{FF2B5EF4-FFF2-40B4-BE49-F238E27FC236}">
                <a16:creationId xmlns:a16="http://schemas.microsoft.com/office/drawing/2014/main" id="{2903C5A2-5677-4FBB-8F60-16FF99BC384E}"/>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32EAD3BA-92A5-4D42-8634-0E1DF800EFF1}"/>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FDC79652-D4BC-446F-8F85-403B2115F8C6}"/>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E33E5A37-79FE-4203-99FD-185C43846F22}"/>
              </a:ext>
            </a:extLst>
          </p:cNvPr>
          <p:cNvSpPr>
            <a:spLocks xmlns:a="http://schemas.openxmlformats.org/drawingml/2006/main" noGrp="1"/>
          </p:cNvSpPr>
          <p:nvPr/>
        </p:nvSpPr>
        <p:spPr>
          <a:xfrm xmlns:a="http://schemas.openxmlformats.org/drawingml/2006/main">
            <a:off x="714375" y="1743075"/>
            <a:ext cx="3286125" cy="2857500"/>
          </a:xfrm>
          <a:prstGeom xmlns:a="http://schemas.openxmlformats.org/drawingml/2006/main" prst="roundRect">
            <a:avLst>
              <a:gd name="adj" fmla="val 4667"/>
            </a:avLst>
          </a:prstGeom>
          <a:solidFill xmlns:a="http://schemas.openxmlformats.org/drawingml/2006/main">
            <a:srgbClr val="E8F1F8"/>
          </a:solidFill>
          <a:ln xmlns:a="http://schemas.openxmlformats.org/drawingml/2006/main" w="19050">
            <a:solidFill>
              <a:srgbClr val="1F5B88"/>
            </a:solidFill>
            <a:prstDash val="solid"/>
          </a:ln>
        </p:spPr>
      </p:sp>
      <p:sp>
        <p:nvSpPr>
          <p:cNvPr id="7" name="">
            <a:extLst xmlns:a="http://schemas.openxmlformats.org/drawingml/2006/main">
              <a:ext uri="{FF2B5EF4-FFF2-40B4-BE49-F238E27FC236}">
                <a16:creationId xmlns:a16="http://schemas.microsoft.com/office/drawing/2014/main" id="{B19F0148-3AD9-46C1-8447-0F8A2C4EB959}"/>
              </a:ext>
            </a:extLst>
          </p:cNvPr>
          <p:cNvSpPr>
            <a:spLocks xmlns:a="http://schemas.openxmlformats.org/drawingml/2006/main" noGrp="1"/>
          </p:cNvSpPr>
          <p:nvPr/>
        </p:nvSpPr>
        <p:spPr>
          <a:xfrm xmlns:a="http://schemas.openxmlformats.org/drawingml/2006/main">
            <a:off x="828675" y="1828800"/>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75" b="1">
                <a:solidFill>
                  <a:srgbClr val="142B4B"/>
                </a:solidFill>
                <a:latin typeface="Arial"/>
                <a:ea typeface="Arial"/>
                <a:cs typeface="Arial"/>
              </a:defRPr>
            </a:pPr>
            <a:r>
              <a:rPr sz="1875" b="1">
                <a:solidFill>
                  <a:srgbClr val="142B4B"/>
                </a:solidFill>
                <a:latin typeface="Arial"/>
                <a:ea typeface="Arial"/>
                <a:cs typeface="Arial"/>
              </a:rPr>
              <a:t>Student</a:t>
            </a:r>
          </a:p>
        </p:txBody>
      </p:sp>
      <p:sp>
        <p:nvSpPr>
          <p:cNvPr id="8" name="">
            <a:extLst xmlns:a="http://schemas.openxmlformats.org/drawingml/2006/main">
              <a:ext uri="{FF2B5EF4-FFF2-40B4-BE49-F238E27FC236}">
                <a16:creationId xmlns:a16="http://schemas.microsoft.com/office/drawing/2014/main" id="{DC3CAEC8-EB10-4A17-A288-B6E0593E7D49}"/>
              </a:ext>
            </a:extLst>
          </p:cNvPr>
          <p:cNvSpPr>
            <a:spLocks xmlns:a="http://schemas.openxmlformats.org/drawingml/2006/main" noGrp="1"/>
          </p:cNvSpPr>
          <p:nvPr/>
        </p:nvSpPr>
        <p:spPr>
          <a:xfrm xmlns:a="http://schemas.openxmlformats.org/drawingml/2006/main">
            <a:off x="847725" y="2200275"/>
            <a:ext cx="3019425"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View own permitted records</a:t>
            </a:r>
          </a:p>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No other student private records</a:t>
            </a:r>
          </a:p>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No admin settings</a:t>
            </a:r>
          </a:p>
        </p:txBody>
      </p:sp>
      <p:sp>
        <p:nvSpPr>
          <p:cNvPr id="9" name="">
            <a:extLst xmlns:a="http://schemas.openxmlformats.org/drawingml/2006/main">
              <a:ext uri="{FF2B5EF4-FFF2-40B4-BE49-F238E27FC236}">
                <a16:creationId xmlns:a16="http://schemas.microsoft.com/office/drawing/2014/main" id="{B7EE28F0-C269-423D-93F6-5BCBA2FBDB4C}"/>
              </a:ext>
            </a:extLst>
          </p:cNvPr>
          <p:cNvSpPr>
            <a:spLocks xmlns:a="http://schemas.openxmlformats.org/drawingml/2006/main" noGrp="1"/>
          </p:cNvSpPr>
          <p:nvPr/>
        </p:nvSpPr>
        <p:spPr>
          <a:xfrm xmlns:a="http://schemas.openxmlformats.org/drawingml/2006/main">
            <a:off x="4476750" y="1743075"/>
            <a:ext cx="3286125" cy="2857500"/>
          </a:xfrm>
          <a:prstGeom xmlns:a="http://schemas.openxmlformats.org/drawingml/2006/main" prst="roundRect">
            <a:avLst>
              <a:gd name="adj" fmla="val 4667"/>
            </a:avLst>
          </a:prstGeom>
          <a:solidFill xmlns:a="http://schemas.openxmlformats.org/drawingml/2006/main">
            <a:srgbClr val="E9F4F2"/>
          </a:solidFill>
          <a:ln xmlns:a="http://schemas.openxmlformats.org/drawingml/2006/main" w="19050">
            <a:solidFill>
              <a:srgbClr val="07897F"/>
            </a:solidFill>
            <a:prstDash val="solid"/>
          </a:ln>
        </p:spPr>
      </p:sp>
      <p:sp>
        <p:nvSpPr>
          <p:cNvPr id="10" name="">
            <a:extLst xmlns:a="http://schemas.openxmlformats.org/drawingml/2006/main">
              <a:ext uri="{FF2B5EF4-FFF2-40B4-BE49-F238E27FC236}">
                <a16:creationId xmlns:a16="http://schemas.microsoft.com/office/drawing/2014/main" id="{067669AD-2613-45C8-8AFE-8008B73EA2A4}"/>
              </a:ext>
            </a:extLst>
          </p:cNvPr>
          <p:cNvSpPr>
            <a:spLocks xmlns:a="http://schemas.openxmlformats.org/drawingml/2006/main" noGrp="1"/>
          </p:cNvSpPr>
          <p:nvPr/>
        </p:nvSpPr>
        <p:spPr>
          <a:xfrm xmlns:a="http://schemas.openxmlformats.org/drawingml/2006/main">
            <a:off x="4591050" y="1828800"/>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75" b="1">
                <a:solidFill>
                  <a:srgbClr val="142B4B"/>
                </a:solidFill>
                <a:latin typeface="Arial"/>
                <a:ea typeface="Arial"/>
                <a:cs typeface="Arial"/>
              </a:defRPr>
            </a:pPr>
            <a:r>
              <a:rPr sz="1875" b="1">
                <a:solidFill>
                  <a:srgbClr val="142B4B"/>
                </a:solidFill>
                <a:latin typeface="Arial"/>
                <a:ea typeface="Arial"/>
                <a:cs typeface="Arial"/>
              </a:rPr>
              <a:t>Teacher</a:t>
            </a:r>
          </a:p>
        </p:txBody>
      </p:sp>
      <p:sp>
        <p:nvSpPr>
          <p:cNvPr id="11" name="">
            <a:extLst xmlns:a="http://schemas.openxmlformats.org/drawingml/2006/main">
              <a:ext uri="{FF2B5EF4-FFF2-40B4-BE49-F238E27FC236}">
                <a16:creationId xmlns:a16="http://schemas.microsoft.com/office/drawing/2014/main" id="{7EEAAB8A-CFC0-4B67-826D-97615AE4A581}"/>
              </a:ext>
            </a:extLst>
          </p:cNvPr>
          <p:cNvSpPr>
            <a:spLocks xmlns:a="http://schemas.openxmlformats.org/drawingml/2006/main" noGrp="1"/>
          </p:cNvSpPr>
          <p:nvPr/>
        </p:nvSpPr>
        <p:spPr>
          <a:xfrm xmlns:a="http://schemas.openxmlformats.org/drawingml/2006/main">
            <a:off x="4610100" y="2200275"/>
            <a:ext cx="3019425"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Assigned classes and rosters</a:t>
            </a:r>
          </a:p>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Attendance and class workflows</a:t>
            </a:r>
          </a:p>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No account approval</a:t>
            </a:r>
          </a:p>
        </p:txBody>
      </p:sp>
      <p:sp>
        <p:nvSpPr>
          <p:cNvPr id="12" name="">
            <a:extLst xmlns:a="http://schemas.openxmlformats.org/drawingml/2006/main">
              <a:ext uri="{FF2B5EF4-FFF2-40B4-BE49-F238E27FC236}">
                <a16:creationId xmlns:a16="http://schemas.microsoft.com/office/drawing/2014/main" id="{22FA73C7-3948-4217-8ECB-037DDB7D7FD4}"/>
              </a:ext>
            </a:extLst>
          </p:cNvPr>
          <p:cNvSpPr>
            <a:spLocks xmlns:a="http://schemas.openxmlformats.org/drawingml/2006/main" noGrp="1"/>
          </p:cNvSpPr>
          <p:nvPr/>
        </p:nvSpPr>
        <p:spPr>
          <a:xfrm xmlns:a="http://schemas.openxmlformats.org/drawingml/2006/main">
            <a:off x="8239125" y="1743075"/>
            <a:ext cx="3286125" cy="2857500"/>
          </a:xfrm>
          <a:prstGeom xmlns:a="http://schemas.openxmlformats.org/drawingml/2006/main" prst="roundRect">
            <a:avLst>
              <a:gd name="adj" fmla="val 4667"/>
            </a:avLst>
          </a:prstGeom>
          <a:solidFill xmlns:a="http://schemas.openxmlformats.org/drawingml/2006/main">
            <a:srgbClr val="FFF7E3"/>
          </a:solidFill>
          <a:ln xmlns:a="http://schemas.openxmlformats.org/drawingml/2006/main" w="19050">
            <a:solidFill>
              <a:srgbClr val="E4A51B"/>
            </a:solidFill>
            <a:prstDash val="solid"/>
          </a:ln>
        </p:spPr>
      </p:sp>
      <p:sp>
        <p:nvSpPr>
          <p:cNvPr id="13" name="">
            <a:extLst xmlns:a="http://schemas.openxmlformats.org/drawingml/2006/main">
              <a:ext uri="{FF2B5EF4-FFF2-40B4-BE49-F238E27FC236}">
                <a16:creationId xmlns:a16="http://schemas.microsoft.com/office/drawing/2014/main" id="{03BE6818-BCC7-4DD1-801D-BEBCCD15C24F}"/>
              </a:ext>
            </a:extLst>
          </p:cNvPr>
          <p:cNvSpPr>
            <a:spLocks xmlns:a="http://schemas.openxmlformats.org/drawingml/2006/main" noGrp="1"/>
          </p:cNvSpPr>
          <p:nvPr/>
        </p:nvSpPr>
        <p:spPr>
          <a:xfrm xmlns:a="http://schemas.openxmlformats.org/drawingml/2006/main">
            <a:off x="8353425" y="1828800"/>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75" b="1">
                <a:solidFill>
                  <a:srgbClr val="142B4B"/>
                </a:solidFill>
                <a:latin typeface="Arial"/>
                <a:ea typeface="Arial"/>
                <a:cs typeface="Arial"/>
              </a:defRPr>
            </a:pPr>
            <a:r>
              <a:rPr sz="1875" b="1">
                <a:solidFill>
                  <a:srgbClr val="142B4B"/>
                </a:solidFill>
                <a:latin typeface="Arial"/>
                <a:ea typeface="Arial"/>
                <a:cs typeface="Arial"/>
              </a:rPr>
              <a:t>Administrator</a:t>
            </a:r>
          </a:p>
        </p:txBody>
      </p:sp>
      <p:sp>
        <p:nvSpPr>
          <p:cNvPr id="14" name="">
            <a:extLst xmlns:a="http://schemas.openxmlformats.org/drawingml/2006/main">
              <a:ext uri="{FF2B5EF4-FFF2-40B4-BE49-F238E27FC236}">
                <a16:creationId xmlns:a16="http://schemas.microsoft.com/office/drawing/2014/main" id="{D687CE21-200E-41E7-8D83-B1CC037EF823}"/>
              </a:ext>
            </a:extLst>
          </p:cNvPr>
          <p:cNvSpPr>
            <a:spLocks xmlns:a="http://schemas.openxmlformats.org/drawingml/2006/main" noGrp="1"/>
          </p:cNvSpPr>
          <p:nvPr/>
        </p:nvSpPr>
        <p:spPr>
          <a:xfrm xmlns:a="http://schemas.openxmlformats.org/drawingml/2006/main">
            <a:off x="8372475" y="2200275"/>
            <a:ext cx="3019425"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Requests and accounts</a:t>
            </a:r>
          </a:p>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Audit and security settings</a:t>
            </a:r>
          </a:p>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Role MFA policy</a:t>
            </a:r>
          </a:p>
        </p:txBody>
      </p:sp>
      <p:sp>
        <p:nvSpPr>
          <p:cNvPr id="15" name="">
            <a:extLst xmlns:a="http://schemas.openxmlformats.org/drawingml/2006/main">
              <a:ext uri="{FF2B5EF4-FFF2-40B4-BE49-F238E27FC236}">
                <a16:creationId xmlns:a16="http://schemas.microsoft.com/office/drawing/2014/main" id="{D65CFE38-1B9B-4637-A018-2E304CA884EE}"/>
              </a:ext>
            </a:extLst>
          </p:cNvPr>
          <p:cNvSpPr>
            <a:spLocks xmlns:a="http://schemas.openxmlformats.org/drawingml/2006/main" noGrp="1"/>
          </p:cNvSpPr>
          <p:nvPr/>
        </p:nvSpPr>
        <p:spPr>
          <a:xfrm xmlns:a="http://schemas.openxmlformats.org/drawingml/2006/main">
            <a:off x="952500" y="500062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The backend checks permission on every protected request. Menu visibility is not the security boundary.</a:t>
            </a:r>
          </a:p>
        </p:txBody>
      </p:sp>
    </p:spTree>
    <p:extLst>
      <p:ext uri="{BB962C8B-B14F-4D97-AF65-F5344CB8AC3E}">
        <p14:creationId xmlns:p14="http://schemas.microsoft.com/office/powerpoint/2010/main" val="13078519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9EBB1A9-49A9-48A1-B15D-FFC5365DC7C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E67AC915-5F8F-4CAC-AFBC-2168D465BB05}"/>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Administrator MFA settings</a:t>
            </a:r>
          </a:p>
        </p:txBody>
      </p:sp>
      <p:sp>
        <p:nvSpPr>
          <p:cNvPr id="3" name="">
            <a:extLst xmlns:a="http://schemas.openxmlformats.org/drawingml/2006/main">
              <a:ext uri="{FF2B5EF4-FFF2-40B4-BE49-F238E27FC236}">
                <a16:creationId xmlns:a16="http://schemas.microsoft.com/office/drawing/2014/main" id="{ACB90279-41B3-473D-9460-D4DC1F216877}"/>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41E8C449-ACBD-4164-8327-AAE49A7DD2C9}"/>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1F98ED56-48EC-4EE5-A75C-A3844F10E86A}"/>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4A5C2B72-DEED-42AA-AABB-FE318963FC13}"/>
              </a:ext>
            </a:extLst>
          </p:cNvPr>
          <p:cNvSpPr>
            <a:spLocks xmlns:a="http://schemas.openxmlformats.org/drawingml/2006/main" noGrp="1"/>
          </p:cNvSpPr>
          <p:nvPr/>
        </p:nvSpPr>
        <p:spPr>
          <a:xfrm xmlns:a="http://schemas.openxmlformats.org/drawingml/2006/main">
            <a:off x="685800" y="11811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53677E"/>
                </a:solidFill>
                <a:latin typeface="Arial"/>
                <a:ea typeface="Arial"/>
                <a:cs typeface="Arial"/>
              </a:defRPr>
            </a:pPr>
            <a:r>
              <a:rPr sz="1725" b="0">
                <a:solidFill>
                  <a:srgbClr val="53677E"/>
                </a:solidFill>
                <a:latin typeface="Arial"/>
                <a:ea typeface="Arial"/>
                <a:cs typeface="Arial"/>
              </a:rPr>
              <a:t>The dashboard stores a separate portal policy for each role.</a:t>
            </a:r>
          </a:p>
        </p:txBody>
      </p:sp>
      <p:sp>
        <p:nvSpPr>
          <p:cNvPr id="7" name="">
            <a:extLst xmlns:a="http://schemas.openxmlformats.org/drawingml/2006/main">
              <a:ext uri="{FF2B5EF4-FFF2-40B4-BE49-F238E27FC236}">
                <a16:creationId xmlns:a16="http://schemas.microsoft.com/office/drawing/2014/main" id="{2F90D61F-C38C-4CE7-B603-882E47664314}"/>
              </a:ext>
            </a:extLst>
          </p:cNvPr>
          <p:cNvSpPr>
            <a:spLocks xmlns:a="http://schemas.openxmlformats.org/drawingml/2006/main" noGrp="1"/>
          </p:cNvSpPr>
          <p:nvPr/>
        </p:nvSpPr>
        <p:spPr>
          <a:xfrm xmlns:a="http://schemas.openxmlformats.org/drawingml/2006/main">
            <a:off x="685800" y="2028825"/>
            <a:ext cx="3238500" cy="2143125"/>
          </a:xfrm>
          <a:prstGeom xmlns:a="http://schemas.openxmlformats.org/drawingml/2006/main" prst="roundRect">
            <a:avLst>
              <a:gd name="adj" fmla="val 6222"/>
            </a:avLst>
          </a:prstGeom>
          <a:solidFill xmlns:a="http://schemas.openxmlformats.org/drawingml/2006/main">
            <a:srgbClr val="E8F1F8"/>
          </a:solidFill>
          <a:ln xmlns:a="http://schemas.openxmlformats.org/drawingml/2006/main" w="19050">
            <a:solidFill>
              <a:srgbClr val="1F5B88"/>
            </a:solidFill>
            <a:prstDash val="solid"/>
          </a:ln>
        </p:spPr>
      </p:sp>
      <p:sp>
        <p:nvSpPr>
          <p:cNvPr id="8" name="">
            <a:extLst xmlns:a="http://schemas.openxmlformats.org/drawingml/2006/main">
              <a:ext uri="{FF2B5EF4-FFF2-40B4-BE49-F238E27FC236}">
                <a16:creationId xmlns:a16="http://schemas.microsoft.com/office/drawing/2014/main" id="{8FB5F98A-E63C-4CF1-B4F8-7FCE2F3C0602}"/>
              </a:ext>
            </a:extLst>
          </p:cNvPr>
          <p:cNvSpPr>
            <a:spLocks xmlns:a="http://schemas.openxmlformats.org/drawingml/2006/main" noGrp="1"/>
          </p:cNvSpPr>
          <p:nvPr/>
        </p:nvSpPr>
        <p:spPr>
          <a:xfrm xmlns:a="http://schemas.openxmlformats.org/drawingml/2006/main">
            <a:off x="800100" y="2114550"/>
            <a:ext cx="300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Students</a:t>
            </a:r>
          </a:p>
        </p:txBody>
      </p:sp>
      <p:sp>
        <p:nvSpPr>
          <p:cNvPr id="9" name="">
            <a:extLst xmlns:a="http://schemas.openxmlformats.org/drawingml/2006/main">
              <a:ext uri="{FF2B5EF4-FFF2-40B4-BE49-F238E27FC236}">
                <a16:creationId xmlns:a16="http://schemas.microsoft.com/office/drawing/2014/main" id="{ED0FD0FD-FEB4-4B55-B7A9-0F5C2DA6AFD8}"/>
              </a:ext>
            </a:extLst>
          </p:cNvPr>
          <p:cNvSpPr>
            <a:spLocks xmlns:a="http://schemas.openxmlformats.org/drawingml/2006/main" noGrp="1"/>
          </p:cNvSpPr>
          <p:nvPr/>
        </p:nvSpPr>
        <p:spPr>
          <a:xfrm xmlns:a="http://schemas.openxmlformats.org/drawingml/2006/main">
            <a:off x="819150" y="2486025"/>
            <a:ext cx="29718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Choose whether MFA is enabled and which available factors apply.</a:t>
            </a:r>
          </a:p>
        </p:txBody>
      </p:sp>
      <p:sp>
        <p:nvSpPr>
          <p:cNvPr id="10" name="">
            <a:extLst xmlns:a="http://schemas.openxmlformats.org/drawingml/2006/main">
              <a:ext uri="{FF2B5EF4-FFF2-40B4-BE49-F238E27FC236}">
                <a16:creationId xmlns:a16="http://schemas.microsoft.com/office/drawing/2014/main" id="{289EDA41-6557-4BBB-9491-A90A1AF28C42}"/>
              </a:ext>
            </a:extLst>
          </p:cNvPr>
          <p:cNvSpPr>
            <a:spLocks xmlns:a="http://schemas.openxmlformats.org/drawingml/2006/main" noGrp="1"/>
          </p:cNvSpPr>
          <p:nvPr/>
        </p:nvSpPr>
        <p:spPr>
          <a:xfrm xmlns:a="http://schemas.openxmlformats.org/drawingml/2006/main">
            <a:off x="4476750" y="2028825"/>
            <a:ext cx="3238500" cy="2143125"/>
          </a:xfrm>
          <a:prstGeom xmlns:a="http://schemas.openxmlformats.org/drawingml/2006/main" prst="roundRect">
            <a:avLst>
              <a:gd name="adj" fmla="val 6222"/>
            </a:avLst>
          </a:prstGeom>
          <a:solidFill xmlns:a="http://schemas.openxmlformats.org/drawingml/2006/main">
            <a:srgbClr val="E9F4F2"/>
          </a:solidFill>
          <a:ln xmlns:a="http://schemas.openxmlformats.org/drawingml/2006/main" w="19050">
            <a:solidFill>
              <a:srgbClr val="07897F"/>
            </a:solidFill>
            <a:prstDash val="solid"/>
          </a:ln>
        </p:spPr>
      </p:sp>
      <p:sp>
        <p:nvSpPr>
          <p:cNvPr id="11" name="">
            <a:extLst xmlns:a="http://schemas.openxmlformats.org/drawingml/2006/main">
              <a:ext uri="{FF2B5EF4-FFF2-40B4-BE49-F238E27FC236}">
                <a16:creationId xmlns:a16="http://schemas.microsoft.com/office/drawing/2014/main" id="{F21676C5-D877-4A2F-994D-279CB9A3195C}"/>
              </a:ext>
            </a:extLst>
          </p:cNvPr>
          <p:cNvSpPr>
            <a:spLocks xmlns:a="http://schemas.openxmlformats.org/drawingml/2006/main" noGrp="1"/>
          </p:cNvSpPr>
          <p:nvPr/>
        </p:nvSpPr>
        <p:spPr>
          <a:xfrm xmlns:a="http://schemas.openxmlformats.org/drawingml/2006/main">
            <a:off x="4591050" y="2114550"/>
            <a:ext cx="300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Teachers</a:t>
            </a:r>
          </a:p>
        </p:txBody>
      </p:sp>
      <p:sp>
        <p:nvSpPr>
          <p:cNvPr id="12" name="">
            <a:extLst xmlns:a="http://schemas.openxmlformats.org/drawingml/2006/main">
              <a:ext uri="{FF2B5EF4-FFF2-40B4-BE49-F238E27FC236}">
                <a16:creationId xmlns:a16="http://schemas.microsoft.com/office/drawing/2014/main" id="{A86B7B16-FB74-4406-8FF5-2FBFEA9C3257}"/>
              </a:ext>
            </a:extLst>
          </p:cNvPr>
          <p:cNvSpPr>
            <a:spLocks xmlns:a="http://schemas.openxmlformats.org/drawingml/2006/main" noGrp="1"/>
          </p:cNvSpPr>
          <p:nvPr/>
        </p:nvSpPr>
        <p:spPr>
          <a:xfrm xmlns:a="http://schemas.openxmlformats.org/drawingml/2006/main">
            <a:off x="4610100" y="2486025"/>
            <a:ext cx="29718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The teacher policy is independent of Student and Administrator policy.</a:t>
            </a:r>
          </a:p>
        </p:txBody>
      </p:sp>
      <p:sp>
        <p:nvSpPr>
          <p:cNvPr id="13" name="">
            <a:extLst xmlns:a="http://schemas.openxmlformats.org/drawingml/2006/main">
              <a:ext uri="{FF2B5EF4-FFF2-40B4-BE49-F238E27FC236}">
                <a16:creationId xmlns:a16="http://schemas.microsoft.com/office/drawing/2014/main" id="{642C4C88-A368-4A68-9C04-E294365E9F05}"/>
              </a:ext>
            </a:extLst>
          </p:cNvPr>
          <p:cNvSpPr>
            <a:spLocks xmlns:a="http://schemas.openxmlformats.org/drawingml/2006/main" noGrp="1"/>
          </p:cNvSpPr>
          <p:nvPr/>
        </p:nvSpPr>
        <p:spPr>
          <a:xfrm xmlns:a="http://schemas.openxmlformats.org/drawingml/2006/main">
            <a:off x="8267700" y="2028825"/>
            <a:ext cx="3238500" cy="2143125"/>
          </a:xfrm>
          <a:prstGeom xmlns:a="http://schemas.openxmlformats.org/drawingml/2006/main" prst="roundRect">
            <a:avLst>
              <a:gd name="adj" fmla="val 6222"/>
            </a:avLst>
          </a:prstGeom>
          <a:solidFill xmlns:a="http://schemas.openxmlformats.org/drawingml/2006/main">
            <a:srgbClr val="FFF7E3"/>
          </a:solidFill>
          <a:ln xmlns:a="http://schemas.openxmlformats.org/drawingml/2006/main" w="19050">
            <a:solidFill>
              <a:srgbClr val="E4A51B"/>
            </a:solidFill>
            <a:prstDash val="solid"/>
          </a:ln>
        </p:spPr>
      </p:sp>
      <p:sp>
        <p:nvSpPr>
          <p:cNvPr id="14" name="">
            <a:extLst xmlns:a="http://schemas.openxmlformats.org/drawingml/2006/main">
              <a:ext uri="{FF2B5EF4-FFF2-40B4-BE49-F238E27FC236}">
                <a16:creationId xmlns:a16="http://schemas.microsoft.com/office/drawing/2014/main" id="{1784C6AF-4DEE-4602-A900-3C47EFFACE3D}"/>
              </a:ext>
            </a:extLst>
          </p:cNvPr>
          <p:cNvSpPr>
            <a:spLocks xmlns:a="http://schemas.openxmlformats.org/drawingml/2006/main" noGrp="1"/>
          </p:cNvSpPr>
          <p:nvPr/>
        </p:nvSpPr>
        <p:spPr>
          <a:xfrm xmlns:a="http://schemas.openxmlformats.org/drawingml/2006/main">
            <a:off x="8382000" y="2114550"/>
            <a:ext cx="300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Administrators</a:t>
            </a:r>
          </a:p>
        </p:txBody>
      </p:sp>
      <p:sp>
        <p:nvSpPr>
          <p:cNvPr id="15" name="">
            <a:extLst xmlns:a="http://schemas.openxmlformats.org/drawingml/2006/main">
              <a:ext uri="{FF2B5EF4-FFF2-40B4-BE49-F238E27FC236}">
                <a16:creationId xmlns:a16="http://schemas.microsoft.com/office/drawing/2014/main" id="{40B4BEE3-1CA2-48AF-8712-E86F0C7FCE6B}"/>
              </a:ext>
            </a:extLst>
          </p:cNvPr>
          <p:cNvSpPr>
            <a:spLocks xmlns:a="http://schemas.openxmlformats.org/drawingml/2006/main" noGrp="1"/>
          </p:cNvSpPr>
          <p:nvPr/>
        </p:nvSpPr>
        <p:spPr>
          <a:xfrm xmlns:a="http://schemas.openxmlformats.org/drawingml/2006/main">
            <a:off x="8401050" y="2486025"/>
            <a:ext cx="29718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Changes require an administrator confirmation and are audit-relevant.</a:t>
            </a:r>
          </a:p>
        </p:txBody>
      </p:sp>
      <p:sp>
        <p:nvSpPr>
          <p:cNvPr id="16" name="">
            <a:extLst xmlns:a="http://schemas.openxmlformats.org/drawingml/2006/main">
              <a:ext uri="{FF2B5EF4-FFF2-40B4-BE49-F238E27FC236}">
                <a16:creationId xmlns:a16="http://schemas.microsoft.com/office/drawing/2014/main" id="{1BAF36DC-956D-4A9D-BA8F-5311B163816C}"/>
              </a:ext>
            </a:extLst>
          </p:cNvPr>
          <p:cNvSpPr>
            <a:spLocks xmlns:a="http://schemas.openxmlformats.org/drawingml/2006/main" noGrp="1"/>
          </p:cNvSpPr>
          <p:nvPr/>
        </p:nvSpPr>
        <p:spPr>
          <a:xfrm xmlns:a="http://schemas.openxmlformats.org/drawingml/2006/main">
            <a:off x="838200" y="4619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A33232"/>
                </a:solidFill>
                <a:latin typeface="Arial"/>
                <a:ea typeface="Arial"/>
                <a:cs typeface="Arial"/>
              </a:defRPr>
            </a:pPr>
            <a:r>
              <a:rPr sz="1650" b="1">
                <a:solidFill>
                  <a:srgbClr val="A33232"/>
                </a:solidFill>
                <a:latin typeface="Arial"/>
                <a:ea typeface="Arial"/>
                <a:cs typeface="Arial"/>
              </a:rPr>
              <a:t>Turning MFA off removes the portal OTP step for future sign-ins of that role.</a:t>
            </a:r>
          </a:p>
        </p:txBody>
      </p:sp>
      <p:sp>
        <p:nvSpPr>
          <p:cNvPr id="17" name="">
            <a:extLst xmlns:a="http://schemas.openxmlformats.org/drawingml/2006/main">
              <a:ext uri="{FF2B5EF4-FFF2-40B4-BE49-F238E27FC236}">
                <a16:creationId xmlns:a16="http://schemas.microsoft.com/office/drawing/2014/main" id="{2747C2AF-55E1-4AD6-AA3F-C1753027C641}"/>
              </a:ext>
            </a:extLst>
          </p:cNvPr>
          <p:cNvSpPr>
            <a:spLocks xmlns:a="http://schemas.openxmlformats.org/drawingml/2006/main" noGrp="1"/>
          </p:cNvSpPr>
          <p:nvPr/>
        </p:nvSpPr>
        <p:spPr>
          <a:xfrm xmlns:a="http://schemas.openxmlformats.org/drawingml/2006/main">
            <a:off x="952500" y="52197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It does not configure Firebase or Keycloak and does not automatically end existing sessions.</a:t>
            </a:r>
          </a:p>
        </p:txBody>
      </p:sp>
    </p:spTree>
    <p:extLst>
      <p:ext uri="{BB962C8B-B14F-4D97-AF65-F5344CB8AC3E}">
        <p14:creationId xmlns:p14="http://schemas.microsoft.com/office/powerpoint/2010/main" val="18558451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12159E1-4A38-4C80-8C3D-05A66B9FE03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EA9787B7-A940-4E4B-87E0-D26A143B85E5}"/>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Database relationships</a:t>
            </a:r>
          </a:p>
        </p:txBody>
      </p:sp>
      <p:sp>
        <p:nvSpPr>
          <p:cNvPr id="3" name="">
            <a:extLst xmlns:a="http://schemas.openxmlformats.org/drawingml/2006/main">
              <a:ext uri="{FF2B5EF4-FFF2-40B4-BE49-F238E27FC236}">
                <a16:creationId xmlns:a16="http://schemas.microsoft.com/office/drawing/2014/main" id="{D070ED81-CB85-4E0E-A8DF-00F4C6AF071A}"/>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3C125D30-7EC1-400F-AEB4-087B27691F64}"/>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B28A6239-C72E-4661-B710-489274EF993A}"/>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AA91C24F-5AEB-42EE-8979-E33FDB34966E}"/>
              </a:ext>
            </a:extLst>
          </p:cNvPr>
          <p:cNvSpPr>
            <a:spLocks xmlns:a="http://schemas.openxmlformats.org/drawingml/2006/main" noGrp="1"/>
          </p:cNvSpPr>
          <p:nvPr/>
        </p:nvSpPr>
        <p:spPr>
          <a:xfrm xmlns:a="http://schemas.openxmlformats.org/drawingml/2006/main">
            <a:off x="685800" y="118110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650" b="0">
                <a:solidFill>
                  <a:srgbClr val="53677E"/>
                </a:solidFill>
                <a:latin typeface="Arial"/>
                <a:ea typeface="Arial"/>
                <a:cs typeface="Arial"/>
              </a:defRPr>
            </a:pPr>
            <a:r>
              <a:rPr sz="1650" b="0">
                <a:solidFill>
                  <a:srgbClr val="53677E"/>
                </a:solidFill>
                <a:latin typeface="Arial"/>
                <a:ea typeface="Arial"/>
                <a:cs typeface="Arial"/>
              </a:rPr>
              <a:t>Django migrations describe the PostgreSQL schema. These are application records, not a production data export.</a:t>
            </a:r>
          </a:p>
        </p:txBody>
      </p:sp>
      <p:sp>
        <p:nvSpPr>
          <p:cNvPr id="7" name="">
            <a:extLst xmlns:a="http://schemas.openxmlformats.org/drawingml/2006/main">
              <a:ext uri="{FF2B5EF4-FFF2-40B4-BE49-F238E27FC236}">
                <a16:creationId xmlns:a16="http://schemas.microsoft.com/office/drawing/2014/main" id="{F3B1EF08-54CF-4862-AACE-EA5095E43493}"/>
              </a:ext>
            </a:extLst>
          </p:cNvPr>
          <p:cNvSpPr>
            <a:spLocks xmlns:a="http://schemas.openxmlformats.org/drawingml/2006/main" noGrp="1"/>
          </p:cNvSpPr>
          <p:nvPr/>
        </p:nvSpPr>
        <p:spPr>
          <a:xfrm xmlns:a="http://schemas.openxmlformats.org/drawingml/2006/main">
            <a:off x="723900" y="2543175"/>
            <a:ext cx="2476500" cy="1095375"/>
          </a:xfrm>
          <a:prstGeom xmlns:a="http://schemas.openxmlformats.org/drawingml/2006/main" prst="roundRect">
            <a:avLst>
              <a:gd name="adj" fmla="val 12174"/>
            </a:avLst>
          </a:prstGeom>
          <a:solidFill xmlns:a="http://schemas.openxmlformats.org/drawingml/2006/main">
            <a:srgbClr val="E8F1F8"/>
          </a:solidFill>
          <a:ln xmlns:a="http://schemas.openxmlformats.org/drawingml/2006/main" w="19050">
            <a:solidFill>
              <a:srgbClr val="1F5B88"/>
            </a:solidFill>
            <a:prstDash val="solid"/>
          </a:ln>
        </p:spPr>
      </p:sp>
      <p:sp>
        <p:nvSpPr>
          <p:cNvPr id="8" name="">
            <a:extLst xmlns:a="http://schemas.openxmlformats.org/drawingml/2006/main">
              <a:ext uri="{FF2B5EF4-FFF2-40B4-BE49-F238E27FC236}">
                <a16:creationId xmlns:a16="http://schemas.microsoft.com/office/drawing/2014/main" id="{81D83E4F-BDB0-4A81-B928-585B22CF3051}"/>
              </a:ext>
            </a:extLst>
          </p:cNvPr>
          <p:cNvSpPr>
            <a:spLocks xmlns:a="http://schemas.openxmlformats.org/drawingml/2006/main" noGrp="1"/>
          </p:cNvSpPr>
          <p:nvPr/>
        </p:nvSpPr>
        <p:spPr>
          <a:xfrm xmlns:a="http://schemas.openxmlformats.org/drawingml/2006/main">
            <a:off x="838200" y="2628900"/>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User</a:t>
            </a:r>
          </a:p>
        </p:txBody>
      </p:sp>
      <p:sp>
        <p:nvSpPr>
          <p:cNvPr id="9" name="">
            <a:extLst xmlns:a="http://schemas.openxmlformats.org/drawingml/2006/main">
              <a:ext uri="{FF2B5EF4-FFF2-40B4-BE49-F238E27FC236}">
                <a16:creationId xmlns:a16="http://schemas.microsoft.com/office/drawing/2014/main" id="{7F1517CE-C72B-44A4-8E56-8A2EA6652FAF}"/>
              </a:ext>
            </a:extLst>
          </p:cNvPr>
          <p:cNvSpPr>
            <a:spLocks xmlns:a="http://schemas.openxmlformats.org/drawingml/2006/main" noGrp="1"/>
          </p:cNvSpPr>
          <p:nvPr/>
        </p:nvSpPr>
        <p:spPr>
          <a:xfrm xmlns:a="http://schemas.openxmlformats.org/drawingml/2006/main">
            <a:off x="857250" y="3000375"/>
            <a:ext cx="2209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Role, approval and contact details</a:t>
            </a:r>
          </a:p>
        </p:txBody>
      </p:sp>
      <p:sp>
        <p:nvSpPr>
          <p:cNvPr id="10" name="">
            <a:extLst xmlns:a="http://schemas.openxmlformats.org/drawingml/2006/main">
              <a:ext uri="{FF2B5EF4-FFF2-40B4-BE49-F238E27FC236}">
                <a16:creationId xmlns:a16="http://schemas.microsoft.com/office/drawing/2014/main" id="{E27928BC-96D7-47BE-A77D-7EC73945B069}"/>
              </a:ext>
            </a:extLst>
          </p:cNvPr>
          <p:cNvSpPr>
            <a:spLocks xmlns:a="http://schemas.openxmlformats.org/drawingml/2006/main" noGrp="1"/>
          </p:cNvSpPr>
          <p:nvPr/>
        </p:nvSpPr>
        <p:spPr>
          <a:xfrm xmlns:a="http://schemas.openxmlformats.org/drawingml/2006/main">
            <a:off x="4095750" y="1809750"/>
            <a:ext cx="2381250" cy="1047750"/>
          </a:xfrm>
          <a:prstGeom xmlns:a="http://schemas.openxmlformats.org/drawingml/2006/main" prst="roundRect">
            <a:avLst>
              <a:gd name="adj" fmla="val 12727"/>
            </a:avLst>
          </a:prstGeom>
          <a:solidFill xmlns:a="http://schemas.openxmlformats.org/drawingml/2006/main">
            <a:srgbClr val="F2F6FA"/>
          </a:solidFill>
          <a:ln xmlns:a="http://schemas.openxmlformats.org/drawingml/2006/main" w="19050">
            <a:solidFill>
              <a:srgbClr val="1F5B88"/>
            </a:solidFill>
            <a:prstDash val="solid"/>
          </a:ln>
        </p:spPr>
      </p:sp>
      <p:sp>
        <p:nvSpPr>
          <p:cNvPr id="11" name="">
            <a:extLst xmlns:a="http://schemas.openxmlformats.org/drawingml/2006/main">
              <a:ext uri="{FF2B5EF4-FFF2-40B4-BE49-F238E27FC236}">
                <a16:creationId xmlns:a16="http://schemas.microsoft.com/office/drawing/2014/main" id="{2EE6018A-AA6D-497D-961C-6FA8D91573F5}"/>
              </a:ext>
            </a:extLst>
          </p:cNvPr>
          <p:cNvSpPr>
            <a:spLocks xmlns:a="http://schemas.openxmlformats.org/drawingml/2006/main" noGrp="1"/>
          </p:cNvSpPr>
          <p:nvPr/>
        </p:nvSpPr>
        <p:spPr>
          <a:xfrm xmlns:a="http://schemas.openxmlformats.org/drawingml/2006/main">
            <a:off x="4210050" y="189547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StudentRecord</a:t>
            </a:r>
          </a:p>
        </p:txBody>
      </p:sp>
      <p:sp>
        <p:nvSpPr>
          <p:cNvPr id="12" name="">
            <a:extLst xmlns:a="http://schemas.openxmlformats.org/drawingml/2006/main">
              <a:ext uri="{FF2B5EF4-FFF2-40B4-BE49-F238E27FC236}">
                <a16:creationId xmlns:a16="http://schemas.microsoft.com/office/drawing/2014/main" id="{549C4920-ABB0-4BFF-A25A-4554B2DCE671}"/>
              </a:ext>
            </a:extLst>
          </p:cNvPr>
          <p:cNvSpPr>
            <a:spLocks xmlns:a="http://schemas.openxmlformats.org/drawingml/2006/main" noGrp="1"/>
          </p:cNvSpPr>
          <p:nvPr/>
        </p:nvSpPr>
        <p:spPr>
          <a:xfrm xmlns:a="http://schemas.openxmlformats.org/drawingml/2006/main">
            <a:off x="4229100" y="2266950"/>
            <a:ext cx="2114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0">
                <a:solidFill>
                  <a:srgbClr val="53677E"/>
                </a:solidFill>
                <a:latin typeface="Arial"/>
                <a:ea typeface="Arial"/>
                <a:cs typeface="Arial"/>
              </a:defRPr>
            </a:pPr>
            <a:r>
              <a:rPr sz="1275" b="0">
                <a:solidFill>
                  <a:srgbClr val="53677E"/>
                </a:solidFill>
                <a:latin typeface="Arial"/>
                <a:ea typeface="Arial"/>
                <a:cs typeface="Arial"/>
              </a:rPr>
              <a:t>One-to-one with a Student user</a:t>
            </a:r>
          </a:p>
        </p:txBody>
      </p:sp>
      <p:sp>
        <p:nvSpPr>
          <p:cNvPr id="13" name="">
            <a:extLst xmlns:a="http://schemas.openxmlformats.org/drawingml/2006/main">
              <a:ext uri="{FF2B5EF4-FFF2-40B4-BE49-F238E27FC236}">
                <a16:creationId xmlns:a16="http://schemas.microsoft.com/office/drawing/2014/main" id="{1E9E549E-EB1E-4385-B9F2-0DD607A4F680}"/>
              </a:ext>
            </a:extLst>
          </p:cNvPr>
          <p:cNvSpPr>
            <a:spLocks xmlns:a="http://schemas.openxmlformats.org/drawingml/2006/main" noGrp="1"/>
          </p:cNvSpPr>
          <p:nvPr/>
        </p:nvSpPr>
        <p:spPr>
          <a:xfrm xmlns:a="http://schemas.openxmlformats.org/drawingml/2006/main">
            <a:off x="4095750" y="3619500"/>
            <a:ext cx="2381250" cy="1047750"/>
          </a:xfrm>
          <a:prstGeom xmlns:a="http://schemas.openxmlformats.org/drawingml/2006/main" prst="roundRect">
            <a:avLst>
              <a:gd name="adj" fmla="val 12727"/>
            </a:avLst>
          </a:prstGeom>
          <a:solidFill xmlns:a="http://schemas.openxmlformats.org/drawingml/2006/main">
            <a:srgbClr val="E9F4F2"/>
          </a:solidFill>
          <a:ln xmlns:a="http://schemas.openxmlformats.org/drawingml/2006/main" w="19050">
            <a:solidFill>
              <a:srgbClr val="07897F"/>
            </a:solidFill>
            <a:prstDash val="solid"/>
          </a:ln>
        </p:spPr>
      </p:sp>
      <p:sp>
        <p:nvSpPr>
          <p:cNvPr id="14" name="">
            <a:extLst xmlns:a="http://schemas.openxmlformats.org/drawingml/2006/main">
              <a:ext uri="{FF2B5EF4-FFF2-40B4-BE49-F238E27FC236}">
                <a16:creationId xmlns:a16="http://schemas.microsoft.com/office/drawing/2014/main" id="{9863D14D-F847-4B2C-9156-8FB1D450498B}"/>
              </a:ext>
            </a:extLst>
          </p:cNvPr>
          <p:cNvSpPr>
            <a:spLocks xmlns:a="http://schemas.openxmlformats.org/drawingml/2006/main" noGrp="1"/>
          </p:cNvSpPr>
          <p:nvPr/>
        </p:nvSpPr>
        <p:spPr>
          <a:xfrm xmlns:a="http://schemas.openxmlformats.org/drawingml/2006/main">
            <a:off x="4210050" y="370522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Course</a:t>
            </a:r>
          </a:p>
        </p:txBody>
      </p:sp>
      <p:sp>
        <p:nvSpPr>
          <p:cNvPr id="15" name="">
            <a:extLst xmlns:a="http://schemas.openxmlformats.org/drawingml/2006/main">
              <a:ext uri="{FF2B5EF4-FFF2-40B4-BE49-F238E27FC236}">
                <a16:creationId xmlns:a16="http://schemas.microsoft.com/office/drawing/2014/main" id="{41CD3C38-09F9-4D48-AA39-4E4DD7AB0695}"/>
              </a:ext>
            </a:extLst>
          </p:cNvPr>
          <p:cNvSpPr>
            <a:spLocks xmlns:a="http://schemas.openxmlformats.org/drawingml/2006/main" noGrp="1"/>
          </p:cNvSpPr>
          <p:nvPr/>
        </p:nvSpPr>
        <p:spPr>
          <a:xfrm xmlns:a="http://schemas.openxmlformats.org/drawingml/2006/main">
            <a:off x="4229100" y="4076700"/>
            <a:ext cx="21145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0">
                <a:solidFill>
                  <a:srgbClr val="53677E"/>
                </a:solidFill>
                <a:latin typeface="Arial"/>
                <a:ea typeface="Arial"/>
                <a:cs typeface="Arial"/>
              </a:defRPr>
            </a:pPr>
            <a:r>
              <a:rPr sz="1275" b="0">
                <a:solidFill>
                  <a:srgbClr val="53677E"/>
                </a:solidFill>
                <a:latin typeface="Arial"/>
                <a:ea typeface="Arial"/>
                <a:cs typeface="Arial"/>
              </a:rPr>
              <a:t>May have a Teacher user</a:t>
            </a:r>
          </a:p>
        </p:txBody>
      </p:sp>
      <p:sp>
        <p:nvSpPr>
          <p:cNvPr id="16" name="">
            <a:extLst xmlns:a="http://schemas.openxmlformats.org/drawingml/2006/main">
              <a:ext uri="{FF2B5EF4-FFF2-40B4-BE49-F238E27FC236}">
                <a16:creationId xmlns:a16="http://schemas.microsoft.com/office/drawing/2014/main" id="{5E3371DB-1396-41FA-98C0-E64C609C4C87}"/>
              </a:ext>
            </a:extLst>
          </p:cNvPr>
          <p:cNvSpPr>
            <a:spLocks xmlns:a="http://schemas.openxmlformats.org/drawingml/2006/main" noGrp="1"/>
          </p:cNvSpPr>
          <p:nvPr/>
        </p:nvSpPr>
        <p:spPr>
          <a:xfrm xmlns:a="http://schemas.openxmlformats.org/drawingml/2006/main">
            <a:off x="7810500" y="3619500"/>
            <a:ext cx="2476500" cy="1047750"/>
          </a:xfrm>
          <a:prstGeom xmlns:a="http://schemas.openxmlformats.org/drawingml/2006/main" prst="roundRect">
            <a:avLst>
              <a:gd name="adj" fmla="val 12727"/>
            </a:avLst>
          </a:prstGeom>
          <a:solidFill xmlns:a="http://schemas.openxmlformats.org/drawingml/2006/main">
            <a:srgbClr val="FFF7E3"/>
          </a:solidFill>
          <a:ln xmlns:a="http://schemas.openxmlformats.org/drawingml/2006/main" w="19050">
            <a:solidFill>
              <a:srgbClr val="E4A51B"/>
            </a:solidFill>
            <a:prstDash val="solid"/>
          </a:ln>
        </p:spPr>
      </p:sp>
      <p:sp>
        <p:nvSpPr>
          <p:cNvPr id="17" name="">
            <a:extLst xmlns:a="http://schemas.openxmlformats.org/drawingml/2006/main">
              <a:ext uri="{FF2B5EF4-FFF2-40B4-BE49-F238E27FC236}">
                <a16:creationId xmlns:a16="http://schemas.microsoft.com/office/drawing/2014/main" id="{ADD010EB-260C-449C-821B-313A04BB0B67}"/>
              </a:ext>
            </a:extLst>
          </p:cNvPr>
          <p:cNvSpPr>
            <a:spLocks xmlns:a="http://schemas.openxmlformats.org/drawingml/2006/main" noGrp="1"/>
          </p:cNvSpPr>
          <p:nvPr/>
        </p:nvSpPr>
        <p:spPr>
          <a:xfrm xmlns:a="http://schemas.openxmlformats.org/drawingml/2006/main">
            <a:off x="7924800" y="3705225"/>
            <a:ext cx="2247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Enrollment</a:t>
            </a:r>
          </a:p>
        </p:txBody>
      </p:sp>
      <p:sp>
        <p:nvSpPr>
          <p:cNvPr id="18" name="">
            <a:extLst xmlns:a="http://schemas.openxmlformats.org/drawingml/2006/main">
              <a:ext uri="{FF2B5EF4-FFF2-40B4-BE49-F238E27FC236}">
                <a16:creationId xmlns:a16="http://schemas.microsoft.com/office/drawing/2014/main" id="{25FF00CA-E84F-4563-B3BF-4CA7C67487F1}"/>
              </a:ext>
            </a:extLst>
          </p:cNvPr>
          <p:cNvSpPr>
            <a:spLocks xmlns:a="http://schemas.openxmlformats.org/drawingml/2006/main" noGrp="1"/>
          </p:cNvSpPr>
          <p:nvPr/>
        </p:nvSpPr>
        <p:spPr>
          <a:xfrm xmlns:a="http://schemas.openxmlformats.org/drawingml/2006/main">
            <a:off x="7943850" y="4076700"/>
            <a:ext cx="2209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0">
                <a:solidFill>
                  <a:srgbClr val="53677E"/>
                </a:solidFill>
                <a:latin typeface="Arial"/>
                <a:ea typeface="Arial"/>
                <a:cs typeface="Arial"/>
              </a:defRPr>
            </a:pPr>
            <a:r>
              <a:rPr sz="1275" b="0">
                <a:solidFill>
                  <a:srgbClr val="53677E"/>
                </a:solidFill>
                <a:latin typeface="Arial"/>
                <a:ea typeface="Arial"/>
                <a:cs typeface="Arial"/>
              </a:rPr>
              <a:t>Links a Student user to a Course</a:t>
            </a:r>
          </a:p>
        </p:txBody>
      </p:sp>
      <p:sp>
        <p:nvSpPr>
          <p:cNvPr id="19" name="">
            <a:extLst xmlns:a="http://schemas.openxmlformats.org/drawingml/2006/main">
              <a:ext uri="{FF2B5EF4-FFF2-40B4-BE49-F238E27FC236}">
                <a16:creationId xmlns:a16="http://schemas.microsoft.com/office/drawing/2014/main" id="{05EE2E2D-75E1-43C7-B86D-33DBDCFFA651}"/>
              </a:ext>
            </a:extLst>
          </p:cNvPr>
          <p:cNvSpPr>
            <a:spLocks xmlns:a="http://schemas.openxmlformats.org/drawingml/2006/main" noGrp="1"/>
          </p:cNvSpPr>
          <p:nvPr/>
        </p:nvSpPr>
        <p:spPr>
          <a:xfrm xmlns:a="http://schemas.openxmlformats.org/drawingml/2006/main">
            <a:off x="7810500" y="1809750"/>
            <a:ext cx="3238500" cy="1047750"/>
          </a:xfrm>
          <a:prstGeom xmlns:a="http://schemas.openxmlformats.org/drawingml/2006/main" prst="roundRect">
            <a:avLst>
              <a:gd name="adj" fmla="val 12727"/>
            </a:avLst>
          </a:prstGeom>
          <a:solidFill xmlns:a="http://schemas.openxmlformats.org/drawingml/2006/main">
            <a:srgbClr val="F2F6FA"/>
          </a:solidFill>
          <a:ln xmlns:a="http://schemas.openxmlformats.org/drawingml/2006/main" w="19050">
            <a:solidFill>
              <a:srgbClr val="1F5B88"/>
            </a:solidFill>
            <a:prstDash val="solid"/>
          </a:ln>
        </p:spPr>
      </p:sp>
      <p:sp>
        <p:nvSpPr>
          <p:cNvPr id="20" name="">
            <a:extLst xmlns:a="http://schemas.openxmlformats.org/drawingml/2006/main">
              <a:ext uri="{FF2B5EF4-FFF2-40B4-BE49-F238E27FC236}">
                <a16:creationId xmlns:a16="http://schemas.microsoft.com/office/drawing/2014/main" id="{3ACE53D4-F795-40C8-88F0-3939808BF342}"/>
              </a:ext>
            </a:extLst>
          </p:cNvPr>
          <p:cNvSpPr>
            <a:spLocks xmlns:a="http://schemas.openxmlformats.org/drawingml/2006/main" noGrp="1"/>
          </p:cNvSpPr>
          <p:nvPr/>
        </p:nvSpPr>
        <p:spPr>
          <a:xfrm xmlns:a="http://schemas.openxmlformats.org/drawingml/2006/main">
            <a:off x="7924800" y="1895475"/>
            <a:ext cx="300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Course records</a:t>
            </a:r>
          </a:p>
        </p:txBody>
      </p:sp>
      <p:sp>
        <p:nvSpPr>
          <p:cNvPr id="21" name="">
            <a:extLst xmlns:a="http://schemas.openxmlformats.org/drawingml/2006/main">
              <a:ext uri="{FF2B5EF4-FFF2-40B4-BE49-F238E27FC236}">
                <a16:creationId xmlns:a16="http://schemas.microsoft.com/office/drawing/2014/main" id="{057903C4-787B-4733-A52F-8CD863549C74}"/>
              </a:ext>
            </a:extLst>
          </p:cNvPr>
          <p:cNvSpPr>
            <a:spLocks xmlns:a="http://schemas.openxmlformats.org/drawingml/2006/main" noGrp="1"/>
          </p:cNvSpPr>
          <p:nvPr/>
        </p:nvSpPr>
        <p:spPr>
          <a:xfrm xmlns:a="http://schemas.openxmlformats.org/drawingml/2006/main">
            <a:off x="7943850" y="2266950"/>
            <a:ext cx="2971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0">
                <a:solidFill>
                  <a:srgbClr val="53677E"/>
                </a:solidFill>
                <a:latin typeface="Arial"/>
                <a:ea typeface="Arial"/>
                <a:cs typeface="Arial"/>
              </a:defRPr>
            </a:pPr>
            <a:r>
              <a:rPr sz="1275" b="0">
                <a:solidFill>
                  <a:srgbClr val="53677E"/>
                </a:solidFill>
                <a:latin typeface="Arial"/>
                <a:ea typeface="Arial"/>
                <a:cs typeface="Arial"/>
              </a:rPr>
              <a:t>Assignments, results and attendance</a:t>
            </a:r>
          </a:p>
        </p:txBody>
      </p:sp>
      <p:cxnSp>
        <p:nvCxnSpPr>
          <p:cNvPr id="48" name=""/>
          <p:cNvCxnSpPr>
            <a:stCxn xmlns:a="http://schemas.openxmlformats.org/drawingml/2006/main" id="7" idx="3"/>
            <a:endCxn xmlns:a="http://schemas.openxmlformats.org/drawingml/2006/main" id="10" idx="1"/>
          </p:cNvCxnSpPr>
          <p:nvPr/>
        </p:nvCxnSpPr>
        <p:spPr>
          <a:xfrm xmlns:a="http://schemas.openxmlformats.org/drawingml/2006/main" flipV="1">
            <a:off x="3200400" y="2333625"/>
            <a:ext cx="895350" cy="757238"/>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cxnSp>
        <p:nvCxnSpPr>
          <p:cNvPr id="49" name=""/>
          <p:cNvCxnSpPr>
            <a:stCxn xmlns:a="http://schemas.openxmlformats.org/drawingml/2006/main" id="7" idx="3"/>
            <a:endCxn xmlns:a="http://schemas.openxmlformats.org/drawingml/2006/main" id="16" idx="1"/>
          </p:cNvCxnSpPr>
          <p:nvPr/>
        </p:nvCxnSpPr>
        <p:spPr>
          <a:xfrm xmlns:a="http://schemas.openxmlformats.org/drawingml/2006/main">
            <a:off x="3200400" y="3090863"/>
            <a:ext cx="4610100" cy="1052513"/>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cxnSp>
        <p:nvCxnSpPr>
          <p:cNvPr id="50" name=""/>
          <p:cNvCxnSpPr>
            <a:stCxn xmlns:a="http://schemas.openxmlformats.org/drawingml/2006/main" id="13" idx="3"/>
            <a:endCxn xmlns:a="http://schemas.openxmlformats.org/drawingml/2006/main" id="16" idx="1"/>
          </p:cNvCxnSpPr>
          <p:nvPr/>
        </p:nvCxnSpPr>
        <p:spPr>
          <a:xfrm xmlns:a="http://schemas.openxmlformats.org/drawingml/2006/main">
            <a:off x="6477000" y="4143375"/>
            <a:ext cx="1333500" cy="0"/>
          </a:xfrm>
          <a:prstGeom xmlns:a="http://schemas.openxmlformats.org/drawingml/2006/main" prst="straightConnector1">
            <a:avLst/>
          </a:prstGeom>
          <a:ln xmlns:a="http://schemas.openxmlformats.org/drawingml/2006/main" w="19050">
            <a:solidFill>
              <a:srgbClr val="E4A51B"/>
            </a:solidFill>
            <a:prstDash val="solid"/>
            <a:headEnd type="triangle" w="sm" len="sm"/>
          </a:ln>
        </p:spPr>
      </p:cxnSp>
      <p:cxnSp>
        <p:nvCxnSpPr>
          <p:cNvPr id="51" name=""/>
          <p:cNvCxnSpPr>
            <a:stCxn xmlns:a="http://schemas.openxmlformats.org/drawingml/2006/main" id="13" idx="0"/>
            <a:endCxn xmlns:a="http://schemas.openxmlformats.org/drawingml/2006/main" id="19" idx="1"/>
          </p:cNvCxnSpPr>
          <p:nvPr/>
        </p:nvCxnSpPr>
        <p:spPr>
          <a:xfrm xmlns:a="http://schemas.openxmlformats.org/drawingml/2006/main" flipV="1">
            <a:off x="5286375" y="2333625"/>
            <a:ext cx="2524125" cy="1285875"/>
          </a:xfrm>
          <a:prstGeom xmlns:a="http://schemas.openxmlformats.org/drawingml/2006/main" prst="straightConnector1">
            <a:avLst/>
          </a:prstGeom>
          <a:ln xmlns:a="http://schemas.openxmlformats.org/drawingml/2006/main" w="19050">
            <a:solidFill>
              <a:srgbClr val="07897F"/>
            </a:solidFill>
            <a:prstDash val="solid"/>
            <a:headEnd type="triangle" w="sm" len="sm"/>
          </a:ln>
        </p:spPr>
      </p:cxnSp>
      <p:sp>
        <p:nvSpPr>
          <p:cNvPr id="26" name="">
            <a:extLst xmlns:a="http://schemas.openxmlformats.org/drawingml/2006/main">
              <a:ext uri="{FF2B5EF4-FFF2-40B4-BE49-F238E27FC236}">
                <a16:creationId xmlns:a16="http://schemas.microsoft.com/office/drawing/2014/main" id="{63498087-AE26-44B4-8068-81C08285536E}"/>
              </a:ext>
            </a:extLst>
          </p:cNvPr>
          <p:cNvSpPr>
            <a:spLocks xmlns:a="http://schemas.openxmlformats.org/drawingml/2006/main" noGrp="1"/>
          </p:cNvSpPr>
          <p:nvPr/>
        </p:nvSpPr>
        <p:spPr>
          <a:xfrm xmlns:a="http://schemas.openxmlformats.org/drawingml/2006/main">
            <a:off x="762000" y="509587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Audit proxy views reuse one PortalAuditEvent table. See Database/ERD.svg and Django migrations for details.</a:t>
            </a:r>
          </a:p>
        </p:txBody>
      </p:sp>
    </p:spTree>
    <p:extLst>
      <p:ext uri="{BB962C8B-B14F-4D97-AF65-F5344CB8AC3E}">
        <p14:creationId xmlns:p14="http://schemas.microsoft.com/office/powerpoint/2010/main" val="4499784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A4119D2-2D49-41C0-B9BC-4A3A8F0FB20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45A3ABA5-82ED-4ED1-9977-1B28BC377B16}"/>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School portal workflows</a:t>
            </a:r>
          </a:p>
        </p:txBody>
      </p:sp>
      <p:sp>
        <p:nvSpPr>
          <p:cNvPr id="3" name="">
            <a:extLst xmlns:a="http://schemas.openxmlformats.org/drawingml/2006/main">
              <a:ext uri="{FF2B5EF4-FFF2-40B4-BE49-F238E27FC236}">
                <a16:creationId xmlns:a16="http://schemas.microsoft.com/office/drawing/2014/main" id="{A217F2D8-FB91-41A7-BF23-7630B0D00C1E}"/>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A920F703-FCFE-4002-9246-4ADBD1C6D647}"/>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B1C30625-973C-4E3B-97EB-A7F5A19B5B78}"/>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0F52CA49-7D2D-493A-92E8-A45318514F43}"/>
              </a:ext>
            </a:extLst>
          </p:cNvPr>
          <p:cNvSpPr>
            <a:spLocks xmlns:a="http://schemas.openxmlformats.org/drawingml/2006/main" noGrp="1"/>
          </p:cNvSpPr>
          <p:nvPr/>
        </p:nvSpPr>
        <p:spPr>
          <a:xfrm xmlns:a="http://schemas.openxmlformats.org/drawingml/2006/main">
            <a:off x="685800" y="1181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53677E"/>
                </a:solidFill>
                <a:latin typeface="Arial"/>
                <a:ea typeface="Arial"/>
                <a:cs typeface="Arial"/>
              </a:defRPr>
            </a:pPr>
            <a:r>
              <a:rPr sz="1725" b="0">
                <a:solidFill>
                  <a:srgbClr val="53677E"/>
                </a:solidFill>
                <a:latin typeface="Arial"/>
                <a:ea typeface="Arial"/>
                <a:cs typeface="Arial"/>
              </a:rPr>
              <a:t>Authentication protects the records used in day-to-day school work.</a:t>
            </a:r>
          </a:p>
        </p:txBody>
      </p:sp>
      <p:sp>
        <p:nvSpPr>
          <p:cNvPr id="7" name="">
            <a:extLst xmlns:a="http://schemas.openxmlformats.org/drawingml/2006/main">
              <a:ext uri="{FF2B5EF4-FFF2-40B4-BE49-F238E27FC236}">
                <a16:creationId xmlns:a16="http://schemas.microsoft.com/office/drawing/2014/main" id="{2F19CA3E-4CEB-471B-8B98-E8A91E7663E4}"/>
              </a:ext>
            </a:extLst>
          </p:cNvPr>
          <p:cNvSpPr>
            <a:spLocks xmlns:a="http://schemas.openxmlformats.org/drawingml/2006/main" noGrp="1"/>
          </p:cNvSpPr>
          <p:nvPr/>
        </p:nvSpPr>
        <p:spPr>
          <a:xfrm xmlns:a="http://schemas.openxmlformats.org/drawingml/2006/main">
            <a:off x="762000" y="2152650"/>
            <a:ext cx="3143250" cy="2419350"/>
          </a:xfrm>
          <a:prstGeom xmlns:a="http://schemas.openxmlformats.org/drawingml/2006/main" prst="roundRect">
            <a:avLst>
              <a:gd name="adj" fmla="val 5512"/>
            </a:avLst>
          </a:prstGeom>
          <a:solidFill xmlns:a="http://schemas.openxmlformats.org/drawingml/2006/main">
            <a:srgbClr val="E8F1F8"/>
          </a:solidFill>
          <a:ln xmlns:a="http://schemas.openxmlformats.org/drawingml/2006/main" w="19050">
            <a:solidFill>
              <a:srgbClr val="1F5B88"/>
            </a:solidFill>
            <a:prstDash val="solid"/>
          </a:ln>
        </p:spPr>
      </p:sp>
      <p:sp>
        <p:nvSpPr>
          <p:cNvPr id="8" name="">
            <a:extLst xmlns:a="http://schemas.openxmlformats.org/drawingml/2006/main">
              <a:ext uri="{FF2B5EF4-FFF2-40B4-BE49-F238E27FC236}">
                <a16:creationId xmlns:a16="http://schemas.microsoft.com/office/drawing/2014/main" id="{77BC4C49-CBFE-4645-B58F-2C50428D3122}"/>
              </a:ext>
            </a:extLst>
          </p:cNvPr>
          <p:cNvSpPr>
            <a:spLocks xmlns:a="http://schemas.openxmlformats.org/drawingml/2006/main" noGrp="1"/>
          </p:cNvSpPr>
          <p:nvPr/>
        </p:nvSpPr>
        <p:spPr>
          <a:xfrm xmlns:a="http://schemas.openxmlformats.org/drawingml/2006/main">
            <a:off x="876300" y="2238375"/>
            <a:ext cx="291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42B4B"/>
                </a:solidFill>
                <a:latin typeface="Arial"/>
                <a:ea typeface="Arial"/>
                <a:cs typeface="Arial"/>
              </a:defRPr>
            </a:pPr>
            <a:r>
              <a:rPr sz="1800" b="1">
                <a:solidFill>
                  <a:srgbClr val="142B4B"/>
                </a:solidFill>
                <a:latin typeface="Arial"/>
                <a:ea typeface="Arial"/>
                <a:cs typeface="Arial"/>
              </a:rPr>
              <a:t>Access requests</a:t>
            </a:r>
          </a:p>
        </p:txBody>
      </p:sp>
      <p:sp>
        <p:nvSpPr>
          <p:cNvPr id="9" name="">
            <a:extLst xmlns:a="http://schemas.openxmlformats.org/drawingml/2006/main">
              <a:ext uri="{FF2B5EF4-FFF2-40B4-BE49-F238E27FC236}">
                <a16:creationId xmlns:a16="http://schemas.microsoft.com/office/drawing/2014/main" id="{F0EE28C8-DE44-4868-A31E-6B68FC0A320E}"/>
              </a:ext>
            </a:extLst>
          </p:cNvPr>
          <p:cNvSpPr>
            <a:spLocks xmlns:a="http://schemas.openxmlformats.org/drawingml/2006/main" noGrp="1"/>
          </p:cNvSpPr>
          <p:nvPr/>
        </p:nvSpPr>
        <p:spPr>
          <a:xfrm xmlns:a="http://schemas.openxmlformats.org/drawingml/2006/main">
            <a:off x="895350" y="2609850"/>
            <a:ext cx="287655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Students and Teachers submit requests. Administrators review them before access is approved.</a:t>
            </a:r>
          </a:p>
        </p:txBody>
      </p:sp>
      <p:sp>
        <p:nvSpPr>
          <p:cNvPr id="10" name="">
            <a:extLst xmlns:a="http://schemas.openxmlformats.org/drawingml/2006/main">
              <a:ext uri="{FF2B5EF4-FFF2-40B4-BE49-F238E27FC236}">
                <a16:creationId xmlns:a16="http://schemas.microsoft.com/office/drawing/2014/main" id="{8D273750-D991-4AE7-9CC2-795F71D24017}"/>
              </a:ext>
            </a:extLst>
          </p:cNvPr>
          <p:cNvSpPr>
            <a:spLocks xmlns:a="http://schemas.openxmlformats.org/drawingml/2006/main" noGrp="1"/>
          </p:cNvSpPr>
          <p:nvPr/>
        </p:nvSpPr>
        <p:spPr>
          <a:xfrm xmlns:a="http://schemas.openxmlformats.org/drawingml/2006/main">
            <a:off x="4524375" y="2152650"/>
            <a:ext cx="3143250" cy="2419350"/>
          </a:xfrm>
          <a:prstGeom xmlns:a="http://schemas.openxmlformats.org/drawingml/2006/main" prst="roundRect">
            <a:avLst>
              <a:gd name="adj" fmla="val 5512"/>
            </a:avLst>
          </a:prstGeom>
          <a:solidFill xmlns:a="http://schemas.openxmlformats.org/drawingml/2006/main">
            <a:srgbClr val="E9F4F2"/>
          </a:solidFill>
          <a:ln xmlns:a="http://schemas.openxmlformats.org/drawingml/2006/main" w="19050">
            <a:solidFill>
              <a:srgbClr val="07897F"/>
            </a:solidFill>
            <a:prstDash val="solid"/>
          </a:ln>
        </p:spPr>
      </p:sp>
      <p:sp>
        <p:nvSpPr>
          <p:cNvPr id="11" name="">
            <a:extLst xmlns:a="http://schemas.openxmlformats.org/drawingml/2006/main">
              <a:ext uri="{FF2B5EF4-FFF2-40B4-BE49-F238E27FC236}">
                <a16:creationId xmlns:a16="http://schemas.microsoft.com/office/drawing/2014/main" id="{433A9CDB-C568-4D3E-9E7E-405FB8740940}"/>
              </a:ext>
            </a:extLst>
          </p:cNvPr>
          <p:cNvSpPr>
            <a:spLocks xmlns:a="http://schemas.openxmlformats.org/drawingml/2006/main" noGrp="1"/>
          </p:cNvSpPr>
          <p:nvPr/>
        </p:nvSpPr>
        <p:spPr>
          <a:xfrm xmlns:a="http://schemas.openxmlformats.org/drawingml/2006/main">
            <a:off x="4638675" y="2238375"/>
            <a:ext cx="291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42B4B"/>
                </a:solidFill>
                <a:latin typeface="Arial"/>
                <a:ea typeface="Arial"/>
                <a:cs typeface="Arial"/>
              </a:defRPr>
            </a:pPr>
            <a:r>
              <a:rPr sz="1800" b="1">
                <a:solidFill>
                  <a:srgbClr val="142B4B"/>
                </a:solidFill>
                <a:latin typeface="Arial"/>
                <a:ea typeface="Arial"/>
                <a:cs typeface="Arial"/>
              </a:rPr>
              <a:t>Teaching and learning</a:t>
            </a:r>
          </a:p>
        </p:txBody>
      </p:sp>
      <p:sp>
        <p:nvSpPr>
          <p:cNvPr id="12" name="">
            <a:extLst xmlns:a="http://schemas.openxmlformats.org/drawingml/2006/main">
              <a:ext uri="{FF2B5EF4-FFF2-40B4-BE49-F238E27FC236}">
                <a16:creationId xmlns:a16="http://schemas.microsoft.com/office/drawing/2014/main" id="{1E23B526-516A-46D5-815D-788FC44AB73B}"/>
              </a:ext>
            </a:extLst>
          </p:cNvPr>
          <p:cNvSpPr>
            <a:spLocks xmlns:a="http://schemas.openxmlformats.org/drawingml/2006/main" noGrp="1"/>
          </p:cNvSpPr>
          <p:nvPr/>
        </p:nvSpPr>
        <p:spPr>
          <a:xfrm xmlns:a="http://schemas.openxmlformats.org/drawingml/2006/main">
            <a:off x="4657725" y="2609850"/>
            <a:ext cx="287655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Teachers work with assigned courses. Students see permitted course, assignment, attendance and result information.</a:t>
            </a:r>
          </a:p>
        </p:txBody>
      </p:sp>
      <p:sp>
        <p:nvSpPr>
          <p:cNvPr id="13" name="">
            <a:extLst xmlns:a="http://schemas.openxmlformats.org/drawingml/2006/main">
              <a:ext uri="{FF2B5EF4-FFF2-40B4-BE49-F238E27FC236}">
                <a16:creationId xmlns:a16="http://schemas.microsoft.com/office/drawing/2014/main" id="{53336DEB-D348-410D-BBCC-7ED0CAE4CE66}"/>
              </a:ext>
            </a:extLst>
          </p:cNvPr>
          <p:cNvSpPr>
            <a:spLocks xmlns:a="http://schemas.openxmlformats.org/drawingml/2006/main" noGrp="1"/>
          </p:cNvSpPr>
          <p:nvPr/>
        </p:nvSpPr>
        <p:spPr>
          <a:xfrm xmlns:a="http://schemas.openxmlformats.org/drawingml/2006/main">
            <a:off x="8286750" y="2152650"/>
            <a:ext cx="3143250" cy="2419350"/>
          </a:xfrm>
          <a:prstGeom xmlns:a="http://schemas.openxmlformats.org/drawingml/2006/main" prst="roundRect">
            <a:avLst>
              <a:gd name="adj" fmla="val 5512"/>
            </a:avLst>
          </a:prstGeom>
          <a:solidFill xmlns:a="http://schemas.openxmlformats.org/drawingml/2006/main">
            <a:srgbClr val="FFF7E3"/>
          </a:solidFill>
          <a:ln xmlns:a="http://schemas.openxmlformats.org/drawingml/2006/main" w="19050">
            <a:solidFill>
              <a:srgbClr val="E4A51B"/>
            </a:solidFill>
            <a:prstDash val="solid"/>
          </a:ln>
        </p:spPr>
      </p:sp>
      <p:sp>
        <p:nvSpPr>
          <p:cNvPr id="14" name="">
            <a:extLst xmlns:a="http://schemas.openxmlformats.org/drawingml/2006/main">
              <a:ext uri="{FF2B5EF4-FFF2-40B4-BE49-F238E27FC236}">
                <a16:creationId xmlns:a16="http://schemas.microsoft.com/office/drawing/2014/main" id="{21DB073B-5B18-4CF4-AD3D-8C78E29C43D7}"/>
              </a:ext>
            </a:extLst>
          </p:cNvPr>
          <p:cNvSpPr>
            <a:spLocks xmlns:a="http://schemas.openxmlformats.org/drawingml/2006/main" noGrp="1"/>
          </p:cNvSpPr>
          <p:nvPr/>
        </p:nvSpPr>
        <p:spPr>
          <a:xfrm xmlns:a="http://schemas.openxmlformats.org/drawingml/2006/main">
            <a:off x="8401050" y="2238375"/>
            <a:ext cx="291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42B4B"/>
                </a:solidFill>
                <a:latin typeface="Arial"/>
                <a:ea typeface="Arial"/>
                <a:cs typeface="Arial"/>
              </a:defRPr>
            </a:pPr>
            <a:r>
              <a:rPr sz="1800" b="1">
                <a:solidFill>
                  <a:srgbClr val="142B4B"/>
                </a:solidFill>
                <a:latin typeface="Arial"/>
                <a:ea typeface="Arial"/>
                <a:cs typeface="Arial"/>
              </a:rPr>
              <a:t>Administration</a:t>
            </a:r>
          </a:p>
        </p:txBody>
      </p:sp>
      <p:sp>
        <p:nvSpPr>
          <p:cNvPr id="15" name="">
            <a:extLst xmlns:a="http://schemas.openxmlformats.org/drawingml/2006/main">
              <a:ext uri="{FF2B5EF4-FFF2-40B4-BE49-F238E27FC236}">
                <a16:creationId xmlns:a16="http://schemas.microsoft.com/office/drawing/2014/main" id="{A3319B89-DB8F-45D1-9D35-DAED3DB3BA16}"/>
              </a:ext>
            </a:extLst>
          </p:cNvPr>
          <p:cNvSpPr>
            <a:spLocks xmlns:a="http://schemas.openxmlformats.org/drawingml/2006/main" noGrp="1"/>
          </p:cNvSpPr>
          <p:nvPr/>
        </p:nvSpPr>
        <p:spPr>
          <a:xfrm xmlns:a="http://schemas.openxmlformats.org/drawingml/2006/main">
            <a:off x="8420100" y="2609850"/>
            <a:ext cx="287655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0">
                <a:solidFill>
                  <a:srgbClr val="53677E"/>
                </a:solidFill>
                <a:latin typeface="Arial"/>
                <a:ea typeface="Arial"/>
                <a:cs typeface="Arial"/>
              </a:defRPr>
            </a:pPr>
            <a:r>
              <a:rPr sz="1575" b="0">
                <a:solidFill>
                  <a:srgbClr val="53677E"/>
                </a:solidFill>
                <a:latin typeface="Arial"/>
                <a:ea typeface="Arial"/>
                <a:cs typeface="Arial"/>
              </a:rPr>
              <a:t>Manage accounts, review security events and apply role-specific MFA settings.</a:t>
            </a:r>
          </a:p>
        </p:txBody>
      </p:sp>
      <p:sp>
        <p:nvSpPr>
          <p:cNvPr id="16" name="">
            <a:extLst xmlns:a="http://schemas.openxmlformats.org/drawingml/2006/main">
              <a:ext uri="{FF2B5EF4-FFF2-40B4-BE49-F238E27FC236}">
                <a16:creationId xmlns:a16="http://schemas.microsoft.com/office/drawing/2014/main" id="{61E95CA8-221F-4487-BE0A-ABF0EE1757A8}"/>
              </a:ext>
            </a:extLst>
          </p:cNvPr>
          <p:cNvSpPr>
            <a:spLocks xmlns:a="http://schemas.openxmlformats.org/drawingml/2006/main" noGrp="1"/>
          </p:cNvSpPr>
          <p:nvPr/>
        </p:nvSpPr>
        <p:spPr>
          <a:xfrm xmlns:a="http://schemas.openxmlformats.org/drawingml/2006/main">
            <a:off x="952500" y="4914900"/>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A request status page reports a request state; it does not create a student account.</a:t>
            </a:r>
          </a:p>
        </p:txBody>
      </p:sp>
    </p:spTree>
    <p:extLst>
      <p:ext uri="{BB962C8B-B14F-4D97-AF65-F5344CB8AC3E}">
        <p14:creationId xmlns:p14="http://schemas.microsoft.com/office/powerpoint/2010/main" val="4516799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B5D47D2-1510-47D1-9787-F3726957208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222CF12C-51AB-43BE-9564-C01DA1994F74}"/>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Security controls in layers</a:t>
            </a:r>
          </a:p>
        </p:txBody>
      </p:sp>
      <p:sp>
        <p:nvSpPr>
          <p:cNvPr id="3" name="">
            <a:extLst xmlns:a="http://schemas.openxmlformats.org/drawingml/2006/main">
              <a:ext uri="{FF2B5EF4-FFF2-40B4-BE49-F238E27FC236}">
                <a16:creationId xmlns:a16="http://schemas.microsoft.com/office/drawing/2014/main" id="{4CC13204-D542-48A2-B88E-ABED723A96C0}"/>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0A94D103-7228-402C-9347-016013648A66}"/>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2387D3C1-1E4D-41CF-BD59-72D3B6077D12}"/>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2147991E-DA04-455A-8B39-78B45EE18A9C}"/>
              </a:ext>
            </a:extLst>
          </p:cNvPr>
          <p:cNvSpPr>
            <a:spLocks xmlns:a="http://schemas.openxmlformats.org/drawingml/2006/main" noGrp="1"/>
          </p:cNvSpPr>
          <p:nvPr/>
        </p:nvSpPr>
        <p:spPr>
          <a:xfrm xmlns:a="http://schemas.openxmlformats.org/drawingml/2006/main">
            <a:off x="1238250" y="1504950"/>
            <a:ext cx="9667875" cy="647700"/>
          </a:xfrm>
          <a:prstGeom xmlns:a="http://schemas.openxmlformats.org/drawingml/2006/main" prst="roundRect">
            <a:avLst>
              <a:gd name="adj" fmla="val 20588"/>
            </a:avLst>
          </a:prstGeom>
          <a:solidFill xmlns:a="http://schemas.openxmlformats.org/drawingml/2006/main">
            <a:srgbClr val="E8F1F8"/>
          </a:solidFill>
          <a:ln xmlns:a="http://schemas.openxmlformats.org/drawingml/2006/main" w="19050">
            <a:solidFill>
              <a:srgbClr val="1F5B88"/>
            </a:solidFill>
            <a:prstDash val="solid"/>
          </a:ln>
        </p:spPr>
      </p:sp>
      <p:sp>
        <p:nvSpPr>
          <p:cNvPr id="7" name="">
            <a:extLst xmlns:a="http://schemas.openxmlformats.org/drawingml/2006/main">
              <a:ext uri="{FF2B5EF4-FFF2-40B4-BE49-F238E27FC236}">
                <a16:creationId xmlns:a16="http://schemas.microsoft.com/office/drawing/2014/main" id="{A2E853C0-7A2A-45F0-8632-E9EE32467723}"/>
              </a:ext>
            </a:extLst>
          </p:cNvPr>
          <p:cNvSpPr>
            <a:spLocks xmlns:a="http://schemas.openxmlformats.org/drawingml/2006/main" noGrp="1"/>
          </p:cNvSpPr>
          <p:nvPr/>
        </p:nvSpPr>
        <p:spPr>
          <a:xfrm xmlns:a="http://schemas.openxmlformats.org/drawingml/2006/main">
            <a:off x="1438275" y="1600200"/>
            <a:ext cx="552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950" b="1">
                <a:solidFill>
                  <a:srgbClr val="1F5B88"/>
                </a:solidFill>
                <a:latin typeface="Arial"/>
                <a:ea typeface="Arial"/>
                <a:cs typeface="Arial"/>
              </a:defRPr>
            </a:pPr>
            <a:r>
              <a:rPr sz="1950" b="1">
                <a:solidFill>
                  <a:srgbClr val="1F5B88"/>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A0F57704-1ED4-4F7D-ACF8-05F6D9BA73B5}"/>
              </a:ext>
            </a:extLst>
          </p:cNvPr>
          <p:cNvSpPr>
            <a:spLocks xmlns:a="http://schemas.openxmlformats.org/drawingml/2006/main" noGrp="1"/>
          </p:cNvSpPr>
          <p:nvPr/>
        </p:nvSpPr>
        <p:spPr>
          <a:xfrm xmlns:a="http://schemas.openxmlformats.org/drawingml/2006/main">
            <a:off x="2209800" y="15716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800" b="1">
                <a:solidFill>
                  <a:srgbClr val="142B4B"/>
                </a:solidFill>
                <a:latin typeface="Arial"/>
                <a:ea typeface="Arial"/>
                <a:cs typeface="Arial"/>
              </a:defRPr>
            </a:pPr>
            <a:r>
              <a:rPr sz="1800" b="1">
                <a:solidFill>
                  <a:srgbClr val="142B4B"/>
                </a:solidFill>
                <a:latin typeface="Arial"/>
                <a:ea typeface="Arial"/>
                <a:cs typeface="Arial"/>
              </a:rPr>
              <a:t>Identity</a:t>
            </a:r>
          </a:p>
        </p:txBody>
      </p:sp>
      <p:sp>
        <p:nvSpPr>
          <p:cNvPr id="9" name="">
            <a:extLst xmlns:a="http://schemas.openxmlformats.org/drawingml/2006/main">
              <a:ext uri="{FF2B5EF4-FFF2-40B4-BE49-F238E27FC236}">
                <a16:creationId xmlns:a16="http://schemas.microsoft.com/office/drawing/2014/main" id="{7CE27C0A-6BB5-4F01-8605-0DB2495B64F1}"/>
              </a:ext>
            </a:extLst>
          </p:cNvPr>
          <p:cNvSpPr>
            <a:spLocks xmlns:a="http://schemas.openxmlformats.org/drawingml/2006/main" noGrp="1"/>
          </p:cNvSpPr>
          <p:nvPr/>
        </p:nvSpPr>
        <p:spPr>
          <a:xfrm xmlns:a="http://schemas.openxmlformats.org/drawingml/2006/main">
            <a:off x="4762500" y="1571625"/>
            <a:ext cx="585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75" b="0">
                <a:solidFill>
                  <a:srgbClr val="53677E"/>
                </a:solidFill>
                <a:latin typeface="Arial"/>
                <a:ea typeface="Arial"/>
                <a:cs typeface="Arial"/>
              </a:defRPr>
            </a:pPr>
            <a:r>
              <a:rPr sz="1575" b="0">
                <a:solidFill>
                  <a:srgbClr val="53677E"/>
                </a:solidFill>
                <a:latin typeface="Arial"/>
                <a:ea typeface="Arial"/>
                <a:cs typeface="Arial"/>
              </a:rPr>
              <a:t>Password check, role and approval state</a:t>
            </a:r>
          </a:p>
        </p:txBody>
      </p:sp>
      <p:sp>
        <p:nvSpPr>
          <p:cNvPr id="10" name="">
            <a:extLst xmlns:a="http://schemas.openxmlformats.org/drawingml/2006/main">
              <a:ext uri="{FF2B5EF4-FFF2-40B4-BE49-F238E27FC236}">
                <a16:creationId xmlns:a16="http://schemas.microsoft.com/office/drawing/2014/main" id="{9C0FF16C-14BD-4FE5-9526-168FD80618C6}"/>
              </a:ext>
            </a:extLst>
          </p:cNvPr>
          <p:cNvSpPr>
            <a:spLocks xmlns:a="http://schemas.openxmlformats.org/drawingml/2006/main" noGrp="1"/>
          </p:cNvSpPr>
          <p:nvPr/>
        </p:nvSpPr>
        <p:spPr>
          <a:xfrm xmlns:a="http://schemas.openxmlformats.org/drawingml/2006/main">
            <a:off x="1238250" y="2343150"/>
            <a:ext cx="9667875" cy="647700"/>
          </a:xfrm>
          <a:prstGeom xmlns:a="http://schemas.openxmlformats.org/drawingml/2006/main" prst="roundRect">
            <a:avLst>
              <a:gd name="adj" fmla="val 20588"/>
            </a:avLst>
          </a:prstGeom>
          <a:solidFill xmlns:a="http://schemas.openxmlformats.org/drawingml/2006/main">
            <a:srgbClr val="FFF7E3"/>
          </a:solidFill>
          <a:ln xmlns:a="http://schemas.openxmlformats.org/drawingml/2006/main" w="19050">
            <a:solidFill>
              <a:srgbClr val="E4A51B"/>
            </a:solidFill>
            <a:prstDash val="solid"/>
          </a:ln>
        </p:spPr>
      </p:sp>
      <p:sp>
        <p:nvSpPr>
          <p:cNvPr id="11" name="">
            <a:extLst xmlns:a="http://schemas.openxmlformats.org/drawingml/2006/main">
              <a:ext uri="{FF2B5EF4-FFF2-40B4-BE49-F238E27FC236}">
                <a16:creationId xmlns:a16="http://schemas.microsoft.com/office/drawing/2014/main" id="{1275046A-2E6D-4BD4-B77E-41F1876F9EA9}"/>
              </a:ext>
            </a:extLst>
          </p:cNvPr>
          <p:cNvSpPr>
            <a:spLocks xmlns:a="http://schemas.openxmlformats.org/drawingml/2006/main" noGrp="1"/>
          </p:cNvSpPr>
          <p:nvPr/>
        </p:nvSpPr>
        <p:spPr>
          <a:xfrm xmlns:a="http://schemas.openxmlformats.org/drawingml/2006/main">
            <a:off x="1438275" y="2438400"/>
            <a:ext cx="552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950" b="1">
                <a:solidFill>
                  <a:srgbClr val="E4A51B"/>
                </a:solidFill>
                <a:latin typeface="Arial"/>
                <a:ea typeface="Arial"/>
                <a:cs typeface="Arial"/>
              </a:defRPr>
            </a:pPr>
            <a:r>
              <a:rPr sz="1950" b="1">
                <a:solidFill>
                  <a:srgbClr val="E4A51B"/>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3E11DE2F-726B-49DD-98E1-48850E5DF29B}"/>
              </a:ext>
            </a:extLst>
          </p:cNvPr>
          <p:cNvSpPr>
            <a:spLocks xmlns:a="http://schemas.openxmlformats.org/drawingml/2006/main" noGrp="1"/>
          </p:cNvSpPr>
          <p:nvPr/>
        </p:nvSpPr>
        <p:spPr>
          <a:xfrm xmlns:a="http://schemas.openxmlformats.org/drawingml/2006/main">
            <a:off x="2209800" y="24098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800" b="1">
                <a:solidFill>
                  <a:srgbClr val="142B4B"/>
                </a:solidFill>
                <a:latin typeface="Arial"/>
                <a:ea typeface="Arial"/>
                <a:cs typeface="Arial"/>
              </a:defRPr>
            </a:pPr>
            <a:r>
              <a:rPr sz="1800" b="1">
                <a:solidFill>
                  <a:srgbClr val="142B4B"/>
                </a:solidFill>
                <a:latin typeface="Arial"/>
                <a:ea typeface="Arial"/>
                <a:cs typeface="Arial"/>
              </a:rPr>
              <a:t>Challenge</a:t>
            </a:r>
          </a:p>
        </p:txBody>
      </p:sp>
      <p:sp>
        <p:nvSpPr>
          <p:cNvPr id="13" name="">
            <a:extLst xmlns:a="http://schemas.openxmlformats.org/drawingml/2006/main">
              <a:ext uri="{FF2B5EF4-FFF2-40B4-BE49-F238E27FC236}">
                <a16:creationId xmlns:a16="http://schemas.microsoft.com/office/drawing/2014/main" id="{91DB45CE-7FB8-4C90-9BB9-34182A98C36B}"/>
              </a:ext>
            </a:extLst>
          </p:cNvPr>
          <p:cNvSpPr>
            <a:spLocks xmlns:a="http://schemas.openxmlformats.org/drawingml/2006/main" noGrp="1"/>
          </p:cNvSpPr>
          <p:nvPr/>
        </p:nvSpPr>
        <p:spPr>
          <a:xfrm xmlns:a="http://schemas.openxmlformats.org/drawingml/2006/main">
            <a:off x="4762500" y="2409825"/>
            <a:ext cx="585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75" b="0">
                <a:solidFill>
                  <a:srgbClr val="53677E"/>
                </a:solidFill>
                <a:latin typeface="Arial"/>
                <a:ea typeface="Arial"/>
                <a:cs typeface="Arial"/>
              </a:defRPr>
            </a:pPr>
            <a:r>
              <a:rPr sz="1575" b="0">
                <a:solidFill>
                  <a:srgbClr val="53677E"/>
                </a:solidFill>
                <a:latin typeface="Arial"/>
                <a:ea typeface="Arial"/>
                <a:cs typeface="Arial"/>
              </a:rPr>
              <a:t>reCAPTCHA, Firebase SMS, separate email code</a:t>
            </a:r>
          </a:p>
        </p:txBody>
      </p:sp>
      <p:sp>
        <p:nvSpPr>
          <p:cNvPr id="14" name="">
            <a:extLst xmlns:a="http://schemas.openxmlformats.org/drawingml/2006/main">
              <a:ext uri="{FF2B5EF4-FFF2-40B4-BE49-F238E27FC236}">
                <a16:creationId xmlns:a16="http://schemas.microsoft.com/office/drawing/2014/main" id="{A8073D4E-6202-4D81-B8B4-63CA2FA02231}"/>
              </a:ext>
            </a:extLst>
          </p:cNvPr>
          <p:cNvSpPr>
            <a:spLocks xmlns:a="http://schemas.openxmlformats.org/drawingml/2006/main" noGrp="1"/>
          </p:cNvSpPr>
          <p:nvPr/>
        </p:nvSpPr>
        <p:spPr>
          <a:xfrm xmlns:a="http://schemas.openxmlformats.org/drawingml/2006/main">
            <a:off x="1238250" y="3181350"/>
            <a:ext cx="9667875" cy="647700"/>
          </a:xfrm>
          <a:prstGeom xmlns:a="http://schemas.openxmlformats.org/drawingml/2006/main" prst="roundRect">
            <a:avLst>
              <a:gd name="adj" fmla="val 20588"/>
            </a:avLst>
          </a:prstGeom>
          <a:solidFill xmlns:a="http://schemas.openxmlformats.org/drawingml/2006/main">
            <a:srgbClr val="FCEEEE"/>
          </a:solidFill>
          <a:ln xmlns:a="http://schemas.openxmlformats.org/drawingml/2006/main" w="19050">
            <a:solidFill>
              <a:srgbClr val="A33232"/>
            </a:solidFill>
            <a:prstDash val="solid"/>
          </a:ln>
        </p:spPr>
      </p:sp>
      <p:sp>
        <p:nvSpPr>
          <p:cNvPr id="15" name="">
            <a:extLst xmlns:a="http://schemas.openxmlformats.org/drawingml/2006/main">
              <a:ext uri="{FF2B5EF4-FFF2-40B4-BE49-F238E27FC236}">
                <a16:creationId xmlns:a16="http://schemas.microsoft.com/office/drawing/2014/main" id="{B38D9FF1-B7D0-4675-813B-D22DADA93F54}"/>
              </a:ext>
            </a:extLst>
          </p:cNvPr>
          <p:cNvSpPr>
            <a:spLocks xmlns:a="http://schemas.openxmlformats.org/drawingml/2006/main" noGrp="1"/>
          </p:cNvSpPr>
          <p:nvPr/>
        </p:nvSpPr>
        <p:spPr>
          <a:xfrm xmlns:a="http://schemas.openxmlformats.org/drawingml/2006/main">
            <a:off x="1438275" y="3276600"/>
            <a:ext cx="552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950" b="1">
                <a:solidFill>
                  <a:srgbClr val="A33232"/>
                </a:solidFill>
                <a:latin typeface="Arial"/>
                <a:ea typeface="Arial"/>
                <a:cs typeface="Arial"/>
              </a:defRPr>
            </a:pPr>
            <a:r>
              <a:rPr sz="1950" b="1">
                <a:solidFill>
                  <a:srgbClr val="A33232"/>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FD9565A6-4996-40DB-BCAC-BC1AA0E43543}"/>
              </a:ext>
            </a:extLst>
          </p:cNvPr>
          <p:cNvSpPr>
            <a:spLocks xmlns:a="http://schemas.openxmlformats.org/drawingml/2006/main" noGrp="1"/>
          </p:cNvSpPr>
          <p:nvPr/>
        </p:nvSpPr>
        <p:spPr>
          <a:xfrm xmlns:a="http://schemas.openxmlformats.org/drawingml/2006/main">
            <a:off x="2209800" y="32480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800" b="1">
                <a:solidFill>
                  <a:srgbClr val="142B4B"/>
                </a:solidFill>
                <a:latin typeface="Arial"/>
                <a:ea typeface="Arial"/>
                <a:cs typeface="Arial"/>
              </a:defRPr>
            </a:pPr>
            <a:r>
              <a:rPr sz="1800" b="1">
                <a:solidFill>
                  <a:srgbClr val="142B4B"/>
                </a:solidFill>
                <a:latin typeface="Arial"/>
                <a:ea typeface="Arial"/>
                <a:cs typeface="Arial"/>
              </a:rPr>
              <a:t>Abuse control</a:t>
            </a:r>
          </a:p>
        </p:txBody>
      </p:sp>
      <p:sp>
        <p:nvSpPr>
          <p:cNvPr id="17" name="">
            <a:extLst xmlns:a="http://schemas.openxmlformats.org/drawingml/2006/main">
              <a:ext uri="{FF2B5EF4-FFF2-40B4-BE49-F238E27FC236}">
                <a16:creationId xmlns:a16="http://schemas.microsoft.com/office/drawing/2014/main" id="{9880BB9A-17A7-41B0-B450-0260910D4348}"/>
              </a:ext>
            </a:extLst>
          </p:cNvPr>
          <p:cNvSpPr>
            <a:spLocks xmlns:a="http://schemas.openxmlformats.org/drawingml/2006/main" noGrp="1"/>
          </p:cNvSpPr>
          <p:nvPr/>
        </p:nvSpPr>
        <p:spPr>
          <a:xfrm xmlns:a="http://schemas.openxmlformats.org/drawingml/2006/main">
            <a:off x="4762500" y="3248025"/>
            <a:ext cx="585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75" b="0">
                <a:solidFill>
                  <a:srgbClr val="53677E"/>
                </a:solidFill>
                <a:latin typeface="Arial"/>
                <a:ea typeface="Arial"/>
                <a:cs typeface="Arial"/>
              </a:defRPr>
            </a:pPr>
            <a:r>
              <a:rPr sz="1575" b="0">
                <a:solidFill>
                  <a:srgbClr val="53677E"/>
                </a:solidFill>
                <a:latin typeface="Arial"/>
                <a:ea typeface="Arial"/>
                <a:cs typeface="Arial"/>
              </a:rPr>
              <a:t>Cooldown, account/source quota and lockout</a:t>
            </a:r>
          </a:p>
        </p:txBody>
      </p:sp>
      <p:sp>
        <p:nvSpPr>
          <p:cNvPr id="18" name="">
            <a:extLst xmlns:a="http://schemas.openxmlformats.org/drawingml/2006/main">
              <a:ext uri="{FF2B5EF4-FFF2-40B4-BE49-F238E27FC236}">
                <a16:creationId xmlns:a16="http://schemas.microsoft.com/office/drawing/2014/main" id="{1A3026FF-C5EC-4477-B40B-C1269258B486}"/>
              </a:ext>
            </a:extLst>
          </p:cNvPr>
          <p:cNvSpPr>
            <a:spLocks xmlns:a="http://schemas.openxmlformats.org/drawingml/2006/main" noGrp="1"/>
          </p:cNvSpPr>
          <p:nvPr/>
        </p:nvSpPr>
        <p:spPr>
          <a:xfrm xmlns:a="http://schemas.openxmlformats.org/drawingml/2006/main">
            <a:off x="1238250" y="4019550"/>
            <a:ext cx="9667875" cy="647700"/>
          </a:xfrm>
          <a:prstGeom xmlns:a="http://schemas.openxmlformats.org/drawingml/2006/main" prst="roundRect">
            <a:avLst>
              <a:gd name="adj" fmla="val 20588"/>
            </a:avLst>
          </a:prstGeom>
          <a:solidFill xmlns:a="http://schemas.openxmlformats.org/drawingml/2006/main">
            <a:srgbClr val="E9F4F2"/>
          </a:solidFill>
          <a:ln xmlns:a="http://schemas.openxmlformats.org/drawingml/2006/main" w="19050">
            <a:solidFill>
              <a:srgbClr val="07897F"/>
            </a:solidFill>
            <a:prstDash val="solid"/>
          </a:ln>
        </p:spPr>
      </p:sp>
      <p:sp>
        <p:nvSpPr>
          <p:cNvPr id="19" name="">
            <a:extLst xmlns:a="http://schemas.openxmlformats.org/drawingml/2006/main">
              <a:ext uri="{FF2B5EF4-FFF2-40B4-BE49-F238E27FC236}">
                <a16:creationId xmlns:a16="http://schemas.microsoft.com/office/drawing/2014/main" id="{28973383-06DF-4EB9-AB75-FA1D7A6A5AE0}"/>
              </a:ext>
            </a:extLst>
          </p:cNvPr>
          <p:cNvSpPr>
            <a:spLocks xmlns:a="http://schemas.openxmlformats.org/drawingml/2006/main" noGrp="1"/>
          </p:cNvSpPr>
          <p:nvPr/>
        </p:nvSpPr>
        <p:spPr>
          <a:xfrm xmlns:a="http://schemas.openxmlformats.org/drawingml/2006/main">
            <a:off x="1438275" y="4114800"/>
            <a:ext cx="552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950" b="1">
                <a:solidFill>
                  <a:srgbClr val="07897F"/>
                </a:solidFill>
                <a:latin typeface="Arial"/>
                <a:ea typeface="Arial"/>
                <a:cs typeface="Arial"/>
              </a:defRPr>
            </a:pPr>
            <a:r>
              <a:rPr sz="1950" b="1">
                <a:solidFill>
                  <a:srgbClr val="07897F"/>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FCEFCAAD-7102-460C-9D04-EF665D57F9E2}"/>
              </a:ext>
            </a:extLst>
          </p:cNvPr>
          <p:cNvSpPr>
            <a:spLocks xmlns:a="http://schemas.openxmlformats.org/drawingml/2006/main" noGrp="1"/>
          </p:cNvSpPr>
          <p:nvPr/>
        </p:nvSpPr>
        <p:spPr>
          <a:xfrm xmlns:a="http://schemas.openxmlformats.org/drawingml/2006/main">
            <a:off x="2209800" y="40862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800" b="1">
                <a:solidFill>
                  <a:srgbClr val="142B4B"/>
                </a:solidFill>
                <a:latin typeface="Arial"/>
                <a:ea typeface="Arial"/>
                <a:cs typeface="Arial"/>
              </a:defRPr>
            </a:pPr>
            <a:r>
              <a:rPr sz="1800" b="1">
                <a:solidFill>
                  <a:srgbClr val="142B4B"/>
                </a:solidFill>
                <a:latin typeface="Arial"/>
                <a:ea typeface="Arial"/>
                <a:cs typeface="Arial"/>
              </a:rPr>
              <a:t>Authorization</a:t>
            </a:r>
          </a:p>
        </p:txBody>
      </p:sp>
      <p:sp>
        <p:nvSpPr>
          <p:cNvPr id="21" name="">
            <a:extLst xmlns:a="http://schemas.openxmlformats.org/drawingml/2006/main">
              <a:ext uri="{FF2B5EF4-FFF2-40B4-BE49-F238E27FC236}">
                <a16:creationId xmlns:a16="http://schemas.microsoft.com/office/drawing/2014/main" id="{3C6CF148-10C7-4022-9DAC-1CD45C870273}"/>
              </a:ext>
            </a:extLst>
          </p:cNvPr>
          <p:cNvSpPr>
            <a:spLocks xmlns:a="http://schemas.openxmlformats.org/drawingml/2006/main" noGrp="1"/>
          </p:cNvSpPr>
          <p:nvPr/>
        </p:nvSpPr>
        <p:spPr>
          <a:xfrm xmlns:a="http://schemas.openxmlformats.org/drawingml/2006/main">
            <a:off x="4762500" y="4086225"/>
            <a:ext cx="585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75" b="0">
                <a:solidFill>
                  <a:srgbClr val="53677E"/>
                </a:solidFill>
                <a:latin typeface="Arial"/>
                <a:ea typeface="Arial"/>
                <a:cs typeface="Arial"/>
              </a:defRPr>
            </a:pPr>
            <a:r>
              <a:rPr sz="1575" b="0">
                <a:solidFill>
                  <a:srgbClr val="53677E"/>
                </a:solidFill>
                <a:latin typeface="Arial"/>
                <a:ea typeface="Arial"/>
                <a:cs typeface="Arial"/>
              </a:rPr>
              <a:t>CSRF and server-side permission checks</a:t>
            </a:r>
          </a:p>
        </p:txBody>
      </p:sp>
      <p:sp>
        <p:nvSpPr>
          <p:cNvPr id="22" name="">
            <a:extLst xmlns:a="http://schemas.openxmlformats.org/drawingml/2006/main">
              <a:ext uri="{FF2B5EF4-FFF2-40B4-BE49-F238E27FC236}">
                <a16:creationId xmlns:a16="http://schemas.microsoft.com/office/drawing/2014/main" id="{903F5606-1C94-45C2-9111-AF78EB0FA5B6}"/>
              </a:ext>
            </a:extLst>
          </p:cNvPr>
          <p:cNvSpPr>
            <a:spLocks xmlns:a="http://schemas.openxmlformats.org/drawingml/2006/main" noGrp="1"/>
          </p:cNvSpPr>
          <p:nvPr/>
        </p:nvSpPr>
        <p:spPr>
          <a:xfrm xmlns:a="http://schemas.openxmlformats.org/drawingml/2006/main">
            <a:off x="1238250" y="4857750"/>
            <a:ext cx="9667875" cy="647700"/>
          </a:xfrm>
          <a:prstGeom xmlns:a="http://schemas.openxmlformats.org/drawingml/2006/main" prst="roundRect">
            <a:avLst>
              <a:gd name="adj" fmla="val 20588"/>
            </a:avLst>
          </a:prstGeom>
          <a:solidFill xmlns:a="http://schemas.openxmlformats.org/drawingml/2006/main">
            <a:srgbClr val="F2F6FA"/>
          </a:solidFill>
          <a:ln xmlns:a="http://schemas.openxmlformats.org/drawingml/2006/main" w="19050">
            <a:solidFill>
              <a:srgbClr val="1F5B88"/>
            </a:solidFill>
            <a:prstDash val="solid"/>
          </a:ln>
        </p:spPr>
      </p:sp>
      <p:sp>
        <p:nvSpPr>
          <p:cNvPr id="23" name="">
            <a:extLst xmlns:a="http://schemas.openxmlformats.org/drawingml/2006/main">
              <a:ext uri="{FF2B5EF4-FFF2-40B4-BE49-F238E27FC236}">
                <a16:creationId xmlns:a16="http://schemas.microsoft.com/office/drawing/2014/main" id="{EEFFBDA8-E391-41CC-9056-F5365032D825}"/>
              </a:ext>
            </a:extLst>
          </p:cNvPr>
          <p:cNvSpPr>
            <a:spLocks xmlns:a="http://schemas.openxmlformats.org/drawingml/2006/main" noGrp="1"/>
          </p:cNvSpPr>
          <p:nvPr/>
        </p:nvSpPr>
        <p:spPr>
          <a:xfrm xmlns:a="http://schemas.openxmlformats.org/drawingml/2006/main">
            <a:off x="1438275" y="4953000"/>
            <a:ext cx="552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950" b="1">
                <a:solidFill>
                  <a:srgbClr val="1F5B88"/>
                </a:solidFill>
                <a:latin typeface="Arial"/>
                <a:ea typeface="Arial"/>
                <a:cs typeface="Arial"/>
              </a:defRPr>
            </a:pPr>
            <a:r>
              <a:rPr sz="1950" b="1">
                <a:solidFill>
                  <a:srgbClr val="1F5B88"/>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A9F6DD8C-A573-4E25-97CE-C46CF61D6125}"/>
              </a:ext>
            </a:extLst>
          </p:cNvPr>
          <p:cNvSpPr>
            <a:spLocks xmlns:a="http://schemas.openxmlformats.org/drawingml/2006/main" noGrp="1"/>
          </p:cNvSpPr>
          <p:nvPr/>
        </p:nvSpPr>
        <p:spPr>
          <a:xfrm xmlns:a="http://schemas.openxmlformats.org/drawingml/2006/main">
            <a:off x="2209800" y="4924425"/>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800" b="1">
                <a:solidFill>
                  <a:srgbClr val="142B4B"/>
                </a:solidFill>
                <a:latin typeface="Arial"/>
                <a:ea typeface="Arial"/>
                <a:cs typeface="Arial"/>
              </a:defRPr>
            </a:pPr>
            <a:r>
              <a:rPr sz="1800" b="1">
                <a:solidFill>
                  <a:srgbClr val="142B4B"/>
                </a:solidFill>
                <a:latin typeface="Arial"/>
                <a:ea typeface="Arial"/>
                <a:cs typeface="Arial"/>
              </a:rPr>
              <a:t>Evidence</a:t>
            </a:r>
          </a:p>
        </p:txBody>
      </p:sp>
      <p:sp>
        <p:nvSpPr>
          <p:cNvPr id="25" name="">
            <a:extLst xmlns:a="http://schemas.openxmlformats.org/drawingml/2006/main">
              <a:ext uri="{FF2B5EF4-FFF2-40B4-BE49-F238E27FC236}">
                <a16:creationId xmlns:a16="http://schemas.microsoft.com/office/drawing/2014/main" id="{6E4E5C20-F625-47C8-97D9-E6D034C1B561}"/>
              </a:ext>
            </a:extLst>
          </p:cNvPr>
          <p:cNvSpPr>
            <a:spLocks xmlns:a="http://schemas.openxmlformats.org/drawingml/2006/main" noGrp="1"/>
          </p:cNvSpPr>
          <p:nvPr/>
        </p:nvSpPr>
        <p:spPr>
          <a:xfrm xmlns:a="http://schemas.openxmlformats.org/drawingml/2006/main">
            <a:off x="4762500" y="4924425"/>
            <a:ext cx="585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75" b="0">
                <a:solidFill>
                  <a:srgbClr val="53677E"/>
                </a:solidFill>
                <a:latin typeface="Arial"/>
                <a:ea typeface="Arial"/>
                <a:cs typeface="Arial"/>
              </a:defRPr>
            </a:pPr>
            <a:r>
              <a:rPr sz="1575" b="0">
                <a:solidFill>
                  <a:srgbClr val="53677E"/>
                </a:solidFill>
                <a:latin typeface="Arial"/>
                <a:ea typeface="Arial"/>
                <a:cs typeface="Arial"/>
              </a:rPr>
              <a:t>Audit events, tests and code review</a:t>
            </a:r>
          </a:p>
        </p:txBody>
      </p:sp>
    </p:spTree>
    <p:extLst>
      <p:ext uri="{BB962C8B-B14F-4D97-AF65-F5344CB8AC3E}">
        <p14:creationId xmlns:p14="http://schemas.microsoft.com/office/powerpoint/2010/main" val="8695952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42AAD22-A4B6-44E2-A486-A7E749A4230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63522A62-C647-4822-B6AC-59BC912881B6}"/>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OTP limits and cost control</a:t>
            </a:r>
          </a:p>
        </p:txBody>
      </p:sp>
      <p:sp>
        <p:nvSpPr>
          <p:cNvPr id="3" name="">
            <a:extLst xmlns:a="http://schemas.openxmlformats.org/drawingml/2006/main">
              <a:ext uri="{FF2B5EF4-FFF2-40B4-BE49-F238E27FC236}">
                <a16:creationId xmlns:a16="http://schemas.microsoft.com/office/drawing/2014/main" id="{D0EB766D-2E9D-4CFF-AD98-BCCDF5203303}"/>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069F8BFA-5848-48FA-A140-5561BEE393C7}"/>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67E89BDC-D7C0-42A5-84B2-7AEB9FE16BBF}"/>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E8AACA9A-7522-4398-9487-F0643A82D7DB}"/>
              </a:ext>
            </a:extLst>
          </p:cNvPr>
          <p:cNvSpPr>
            <a:spLocks xmlns:a="http://schemas.openxmlformats.org/drawingml/2006/main" noGrp="1"/>
          </p:cNvSpPr>
          <p:nvPr/>
        </p:nvSpPr>
        <p:spPr>
          <a:xfrm xmlns:a="http://schemas.openxmlformats.org/drawingml/2006/main">
            <a:off x="685800" y="117157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650" b="0">
                <a:solidFill>
                  <a:srgbClr val="53677E"/>
                </a:solidFill>
                <a:latin typeface="Arial"/>
                <a:ea typeface="Arial"/>
                <a:cs typeface="Arial"/>
              </a:defRPr>
            </a:pPr>
            <a:r>
              <a:rPr sz="1650" b="0">
                <a:solidFill>
                  <a:srgbClr val="53677E"/>
                </a:solidFill>
                <a:latin typeface="Arial"/>
                <a:ea typeface="Arial"/>
                <a:cs typeface="Arial"/>
              </a:rPr>
              <a:t>The portal applies its own limits before Firebase applies its provider controls.</a:t>
            </a:r>
          </a:p>
        </p:txBody>
      </p:sp>
      <p:sp>
        <p:nvSpPr>
          <p:cNvPr id="7" name="">
            <a:extLst xmlns:a="http://schemas.openxmlformats.org/drawingml/2006/main">
              <a:ext uri="{FF2B5EF4-FFF2-40B4-BE49-F238E27FC236}">
                <a16:creationId xmlns:a16="http://schemas.microsoft.com/office/drawing/2014/main" id="{AF512E29-AB3E-4C58-BDA0-E541E7EC2B1F}"/>
              </a:ext>
            </a:extLst>
          </p:cNvPr>
          <p:cNvSpPr>
            <a:spLocks xmlns:a="http://schemas.openxmlformats.org/drawingml/2006/main" noGrp="1"/>
          </p:cNvSpPr>
          <p:nvPr/>
        </p:nvSpPr>
        <p:spPr>
          <a:xfrm xmlns:a="http://schemas.openxmlformats.org/drawingml/2006/main">
            <a:off x="904875" y="1790700"/>
            <a:ext cx="176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2250" b="1">
                <a:solidFill>
                  <a:srgbClr val="1F5B88"/>
                </a:solidFill>
                <a:latin typeface="Arial"/>
                <a:ea typeface="Arial"/>
                <a:cs typeface="Arial"/>
              </a:defRPr>
            </a:pPr>
            <a:r>
              <a:rPr sz="2250" b="1">
                <a:solidFill>
                  <a:srgbClr val="1F5B88"/>
                </a:solidFill>
                <a:latin typeface="Arial"/>
                <a:ea typeface="Arial"/>
                <a:cs typeface="Arial"/>
              </a:rPr>
              <a:t>5 min</a:t>
            </a:r>
          </a:p>
        </p:txBody>
      </p:sp>
      <p:sp>
        <p:nvSpPr>
          <p:cNvPr id="8" name="">
            <a:extLst xmlns:a="http://schemas.openxmlformats.org/drawingml/2006/main">
              <a:ext uri="{FF2B5EF4-FFF2-40B4-BE49-F238E27FC236}">
                <a16:creationId xmlns:a16="http://schemas.microsoft.com/office/drawing/2014/main" id="{0ED3641C-5026-4147-A990-E66A3EB54DBC}"/>
              </a:ext>
            </a:extLst>
          </p:cNvPr>
          <p:cNvSpPr>
            <a:spLocks xmlns:a="http://schemas.openxmlformats.org/drawingml/2006/main" noGrp="1"/>
          </p:cNvSpPr>
          <p:nvPr/>
        </p:nvSpPr>
        <p:spPr>
          <a:xfrm xmlns:a="http://schemas.openxmlformats.org/drawingml/2006/main">
            <a:off x="3028950" y="1790700"/>
            <a:ext cx="781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1B2C42"/>
                </a:solidFill>
                <a:latin typeface="Arial"/>
                <a:ea typeface="Arial"/>
                <a:cs typeface="Arial"/>
              </a:defRPr>
            </a:pPr>
            <a:r>
              <a:rPr sz="1725" b="0">
                <a:solidFill>
                  <a:srgbClr val="1B2C42"/>
                </a:solidFill>
                <a:latin typeface="Arial"/>
                <a:ea typeface="Arial"/>
                <a:cs typeface="Arial"/>
              </a:rPr>
              <a:t>SMS resend wait</a:t>
            </a:r>
          </a:p>
        </p:txBody>
      </p:sp>
      <p:sp>
        <p:nvSpPr>
          <p:cNvPr id="9" name="">
            <a:extLst xmlns:a="http://schemas.openxmlformats.org/drawingml/2006/main">
              <a:ext uri="{FF2B5EF4-FFF2-40B4-BE49-F238E27FC236}">
                <a16:creationId xmlns:a16="http://schemas.microsoft.com/office/drawing/2014/main" id="{ADD060E9-E38E-4F23-8649-25A09CA75331}"/>
              </a:ext>
            </a:extLst>
          </p:cNvPr>
          <p:cNvSpPr>
            <a:spLocks xmlns:a="http://schemas.openxmlformats.org/drawingml/2006/main" noGrp="1"/>
          </p:cNvSpPr>
          <p:nvPr/>
        </p:nvSpPr>
        <p:spPr>
          <a:xfrm xmlns:a="http://schemas.openxmlformats.org/drawingml/2006/main">
            <a:off x="904875" y="2409825"/>
            <a:ext cx="99060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10" name="">
            <a:extLst xmlns:a="http://schemas.openxmlformats.org/drawingml/2006/main">
              <a:ext uri="{FF2B5EF4-FFF2-40B4-BE49-F238E27FC236}">
                <a16:creationId xmlns:a16="http://schemas.microsoft.com/office/drawing/2014/main" id="{4975C5A2-1952-44B8-84FF-E5DEBA4DFAA6}"/>
              </a:ext>
            </a:extLst>
          </p:cNvPr>
          <p:cNvSpPr>
            <a:spLocks xmlns:a="http://schemas.openxmlformats.org/drawingml/2006/main" noGrp="1"/>
          </p:cNvSpPr>
          <p:nvPr/>
        </p:nvSpPr>
        <p:spPr>
          <a:xfrm xmlns:a="http://schemas.openxmlformats.org/drawingml/2006/main">
            <a:off x="904875" y="2552700"/>
            <a:ext cx="176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2250" b="1">
                <a:solidFill>
                  <a:srgbClr val="E4A51B"/>
                </a:solidFill>
                <a:latin typeface="Arial"/>
                <a:ea typeface="Arial"/>
                <a:cs typeface="Arial"/>
              </a:defRPr>
            </a:pPr>
            <a:r>
              <a:rPr sz="2250" b="1">
                <a:solidFill>
                  <a:srgbClr val="E4A51B"/>
                </a:solidFill>
                <a:latin typeface="Arial"/>
                <a:ea typeface="Arial"/>
                <a:cs typeface="Arial"/>
              </a:rPr>
              <a:t>3 sends</a:t>
            </a:r>
          </a:p>
        </p:txBody>
      </p:sp>
      <p:sp>
        <p:nvSpPr>
          <p:cNvPr id="11" name="">
            <a:extLst xmlns:a="http://schemas.openxmlformats.org/drawingml/2006/main">
              <a:ext uri="{FF2B5EF4-FFF2-40B4-BE49-F238E27FC236}">
                <a16:creationId xmlns:a16="http://schemas.microsoft.com/office/drawing/2014/main" id="{73B42A09-4C13-4226-968F-FD29722D110A}"/>
              </a:ext>
            </a:extLst>
          </p:cNvPr>
          <p:cNvSpPr>
            <a:spLocks xmlns:a="http://schemas.openxmlformats.org/drawingml/2006/main" noGrp="1"/>
          </p:cNvSpPr>
          <p:nvPr/>
        </p:nvSpPr>
        <p:spPr>
          <a:xfrm xmlns:a="http://schemas.openxmlformats.org/drawingml/2006/main">
            <a:off x="3028950" y="2552700"/>
            <a:ext cx="781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1B2C42"/>
                </a:solidFill>
                <a:latin typeface="Arial"/>
                <a:ea typeface="Arial"/>
                <a:cs typeface="Arial"/>
              </a:defRPr>
            </a:pPr>
            <a:r>
              <a:rPr sz="1725" b="0">
                <a:solidFill>
                  <a:srgbClr val="1B2C42"/>
                </a:solidFill>
                <a:latin typeface="Arial"/>
                <a:ea typeface="Arial"/>
                <a:cs typeface="Arial"/>
              </a:rPr>
              <a:t>Per account and channel in configured window</a:t>
            </a:r>
          </a:p>
        </p:txBody>
      </p:sp>
      <p:sp>
        <p:nvSpPr>
          <p:cNvPr id="12" name="">
            <a:extLst xmlns:a="http://schemas.openxmlformats.org/drawingml/2006/main">
              <a:ext uri="{FF2B5EF4-FFF2-40B4-BE49-F238E27FC236}">
                <a16:creationId xmlns:a16="http://schemas.microsoft.com/office/drawing/2014/main" id="{36564335-C5F0-4BB1-8CBD-4C22B594DB12}"/>
              </a:ext>
            </a:extLst>
          </p:cNvPr>
          <p:cNvSpPr>
            <a:spLocks xmlns:a="http://schemas.openxmlformats.org/drawingml/2006/main" noGrp="1"/>
          </p:cNvSpPr>
          <p:nvPr/>
        </p:nvSpPr>
        <p:spPr>
          <a:xfrm xmlns:a="http://schemas.openxmlformats.org/drawingml/2006/main">
            <a:off x="904875" y="3171825"/>
            <a:ext cx="99060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13" name="">
            <a:extLst xmlns:a="http://schemas.openxmlformats.org/drawingml/2006/main">
              <a:ext uri="{FF2B5EF4-FFF2-40B4-BE49-F238E27FC236}">
                <a16:creationId xmlns:a16="http://schemas.microsoft.com/office/drawing/2014/main" id="{168529C5-0961-4F06-AE7E-6DAB03766FAE}"/>
              </a:ext>
            </a:extLst>
          </p:cNvPr>
          <p:cNvSpPr>
            <a:spLocks xmlns:a="http://schemas.openxmlformats.org/drawingml/2006/main" noGrp="1"/>
          </p:cNvSpPr>
          <p:nvPr/>
        </p:nvSpPr>
        <p:spPr>
          <a:xfrm xmlns:a="http://schemas.openxmlformats.org/drawingml/2006/main">
            <a:off x="904875" y="3314700"/>
            <a:ext cx="176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2250" b="1">
                <a:solidFill>
                  <a:srgbClr val="A33232"/>
                </a:solidFill>
                <a:latin typeface="Arial"/>
                <a:ea typeface="Arial"/>
                <a:cs typeface="Arial"/>
              </a:defRPr>
            </a:pPr>
            <a:r>
              <a:rPr sz="2250" b="1">
                <a:solidFill>
                  <a:srgbClr val="A33232"/>
                </a:solidFill>
                <a:latin typeface="Arial"/>
                <a:ea typeface="Arial"/>
                <a:cs typeface="Arial"/>
              </a:rPr>
              <a:t>30 min</a:t>
            </a:r>
          </a:p>
        </p:txBody>
      </p:sp>
      <p:sp>
        <p:nvSpPr>
          <p:cNvPr id="14" name="">
            <a:extLst xmlns:a="http://schemas.openxmlformats.org/drawingml/2006/main">
              <a:ext uri="{FF2B5EF4-FFF2-40B4-BE49-F238E27FC236}">
                <a16:creationId xmlns:a16="http://schemas.microsoft.com/office/drawing/2014/main" id="{1C25B1D3-D520-4523-AA1B-296CB5B47ACC}"/>
              </a:ext>
            </a:extLst>
          </p:cNvPr>
          <p:cNvSpPr>
            <a:spLocks xmlns:a="http://schemas.openxmlformats.org/drawingml/2006/main" noGrp="1"/>
          </p:cNvSpPr>
          <p:nvPr/>
        </p:nvSpPr>
        <p:spPr>
          <a:xfrm xmlns:a="http://schemas.openxmlformats.org/drawingml/2006/main">
            <a:off x="3028950" y="3314700"/>
            <a:ext cx="781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1B2C42"/>
                </a:solidFill>
                <a:latin typeface="Arial"/>
                <a:ea typeface="Arial"/>
                <a:cs typeface="Arial"/>
              </a:defRPr>
            </a:pPr>
            <a:r>
              <a:rPr sz="1725" b="0">
                <a:solidFill>
                  <a:srgbClr val="1B2C42"/>
                </a:solidFill>
                <a:latin typeface="Arial"/>
                <a:ea typeface="Arial"/>
                <a:cs typeface="Arial"/>
              </a:rPr>
              <a:t>Lock after reaching send limit</a:t>
            </a:r>
          </a:p>
        </p:txBody>
      </p:sp>
      <p:sp>
        <p:nvSpPr>
          <p:cNvPr id="15" name="">
            <a:extLst xmlns:a="http://schemas.openxmlformats.org/drawingml/2006/main">
              <a:ext uri="{FF2B5EF4-FFF2-40B4-BE49-F238E27FC236}">
                <a16:creationId xmlns:a16="http://schemas.microsoft.com/office/drawing/2014/main" id="{49C64091-1182-4DE4-9D4F-C51B7A9F1D42}"/>
              </a:ext>
            </a:extLst>
          </p:cNvPr>
          <p:cNvSpPr>
            <a:spLocks xmlns:a="http://schemas.openxmlformats.org/drawingml/2006/main" noGrp="1"/>
          </p:cNvSpPr>
          <p:nvPr/>
        </p:nvSpPr>
        <p:spPr>
          <a:xfrm xmlns:a="http://schemas.openxmlformats.org/drawingml/2006/main">
            <a:off x="904875" y="3933825"/>
            <a:ext cx="99060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16" name="">
            <a:extLst xmlns:a="http://schemas.openxmlformats.org/drawingml/2006/main">
              <a:ext uri="{FF2B5EF4-FFF2-40B4-BE49-F238E27FC236}">
                <a16:creationId xmlns:a16="http://schemas.microsoft.com/office/drawing/2014/main" id="{E82ED1A6-2EB0-409B-9248-03FA39476701}"/>
              </a:ext>
            </a:extLst>
          </p:cNvPr>
          <p:cNvSpPr>
            <a:spLocks xmlns:a="http://schemas.openxmlformats.org/drawingml/2006/main" noGrp="1"/>
          </p:cNvSpPr>
          <p:nvPr/>
        </p:nvSpPr>
        <p:spPr>
          <a:xfrm xmlns:a="http://schemas.openxmlformats.org/drawingml/2006/main">
            <a:off x="904875" y="4076700"/>
            <a:ext cx="176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2250" b="1">
                <a:solidFill>
                  <a:srgbClr val="07897F"/>
                </a:solidFill>
                <a:latin typeface="Arial"/>
                <a:ea typeface="Arial"/>
                <a:cs typeface="Arial"/>
              </a:defRPr>
            </a:pPr>
            <a:r>
              <a:rPr sz="2250" b="1">
                <a:solidFill>
                  <a:srgbClr val="07897F"/>
                </a:solidFill>
                <a:latin typeface="Arial"/>
                <a:ea typeface="Arial"/>
                <a:cs typeface="Arial"/>
              </a:rPr>
              <a:t>5 tries</a:t>
            </a:r>
          </a:p>
        </p:txBody>
      </p:sp>
      <p:sp>
        <p:nvSpPr>
          <p:cNvPr id="17" name="">
            <a:extLst xmlns:a="http://schemas.openxmlformats.org/drawingml/2006/main">
              <a:ext uri="{FF2B5EF4-FFF2-40B4-BE49-F238E27FC236}">
                <a16:creationId xmlns:a16="http://schemas.microsoft.com/office/drawing/2014/main" id="{F96A9B9A-AE3E-42FB-B47F-CE40E909D812}"/>
              </a:ext>
            </a:extLst>
          </p:cNvPr>
          <p:cNvSpPr>
            <a:spLocks xmlns:a="http://schemas.openxmlformats.org/drawingml/2006/main" noGrp="1"/>
          </p:cNvSpPr>
          <p:nvPr/>
        </p:nvSpPr>
        <p:spPr>
          <a:xfrm xmlns:a="http://schemas.openxmlformats.org/drawingml/2006/main">
            <a:off x="3028950" y="4076700"/>
            <a:ext cx="781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1B2C42"/>
                </a:solidFill>
                <a:latin typeface="Arial"/>
                <a:ea typeface="Arial"/>
                <a:cs typeface="Arial"/>
              </a:defRPr>
            </a:pPr>
            <a:r>
              <a:rPr sz="1725" b="0">
                <a:solidFill>
                  <a:srgbClr val="1B2C42"/>
                </a:solidFill>
                <a:latin typeface="Arial"/>
                <a:ea typeface="Arial"/>
                <a:cs typeface="Arial"/>
              </a:rPr>
              <a:t>Challenge code attempts</a:t>
            </a:r>
          </a:p>
        </p:txBody>
      </p:sp>
      <p:sp>
        <p:nvSpPr>
          <p:cNvPr id="18" name="">
            <a:extLst xmlns:a="http://schemas.openxmlformats.org/drawingml/2006/main">
              <a:ext uri="{FF2B5EF4-FFF2-40B4-BE49-F238E27FC236}">
                <a16:creationId xmlns:a16="http://schemas.microsoft.com/office/drawing/2014/main" id="{9F363435-39FB-41DC-8B3F-FD42AB070852}"/>
              </a:ext>
            </a:extLst>
          </p:cNvPr>
          <p:cNvSpPr>
            <a:spLocks xmlns:a="http://schemas.openxmlformats.org/drawingml/2006/main" noGrp="1"/>
          </p:cNvSpPr>
          <p:nvPr/>
        </p:nvSpPr>
        <p:spPr>
          <a:xfrm xmlns:a="http://schemas.openxmlformats.org/drawingml/2006/main">
            <a:off x="904875" y="4695825"/>
            <a:ext cx="99060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19" name="">
            <a:extLst xmlns:a="http://schemas.openxmlformats.org/drawingml/2006/main">
              <a:ext uri="{FF2B5EF4-FFF2-40B4-BE49-F238E27FC236}">
                <a16:creationId xmlns:a16="http://schemas.microsoft.com/office/drawing/2014/main" id="{31505374-AC2E-4228-A017-8CE7987728C5}"/>
              </a:ext>
            </a:extLst>
          </p:cNvPr>
          <p:cNvSpPr>
            <a:spLocks xmlns:a="http://schemas.openxmlformats.org/drawingml/2006/main" noGrp="1"/>
          </p:cNvSpPr>
          <p:nvPr/>
        </p:nvSpPr>
        <p:spPr>
          <a:xfrm xmlns:a="http://schemas.openxmlformats.org/drawingml/2006/main">
            <a:off x="904875" y="4838700"/>
            <a:ext cx="1762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2250" b="1">
                <a:solidFill>
                  <a:srgbClr val="1F5B88"/>
                </a:solidFill>
                <a:latin typeface="Arial"/>
                <a:ea typeface="Arial"/>
                <a:cs typeface="Arial"/>
              </a:defRPr>
            </a:pPr>
            <a:r>
              <a:rPr sz="2250" b="1">
                <a:solidFill>
                  <a:srgbClr val="1F5B88"/>
                </a:solidFill>
                <a:latin typeface="Arial"/>
                <a:ea typeface="Arial"/>
                <a:cs typeface="Arial"/>
              </a:rPr>
              <a:t>3 / hour</a:t>
            </a:r>
          </a:p>
        </p:txBody>
      </p:sp>
      <p:sp>
        <p:nvSpPr>
          <p:cNvPr id="20" name="">
            <a:extLst xmlns:a="http://schemas.openxmlformats.org/drawingml/2006/main">
              <a:ext uri="{FF2B5EF4-FFF2-40B4-BE49-F238E27FC236}">
                <a16:creationId xmlns:a16="http://schemas.microsoft.com/office/drawing/2014/main" id="{2AC718E1-F096-42D5-A045-8520E86685DC}"/>
              </a:ext>
            </a:extLst>
          </p:cNvPr>
          <p:cNvSpPr>
            <a:spLocks xmlns:a="http://schemas.openxmlformats.org/drawingml/2006/main" noGrp="1"/>
          </p:cNvSpPr>
          <p:nvPr/>
        </p:nvSpPr>
        <p:spPr>
          <a:xfrm xmlns:a="http://schemas.openxmlformats.org/drawingml/2006/main">
            <a:off x="3028950" y="4838700"/>
            <a:ext cx="781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725" b="0">
                <a:solidFill>
                  <a:srgbClr val="1B2C42"/>
                </a:solidFill>
                <a:latin typeface="Arial"/>
                <a:ea typeface="Arial"/>
                <a:cs typeface="Arial"/>
              </a:defRPr>
            </a:pPr>
            <a:r>
              <a:rPr sz="1725" b="0">
                <a:solidFill>
                  <a:srgbClr val="1B2C42"/>
                </a:solidFill>
                <a:latin typeface="Arial"/>
                <a:ea typeface="Arial"/>
                <a:cs typeface="Arial"/>
              </a:rPr>
              <a:t>Password reset sends per account</a:t>
            </a:r>
          </a:p>
        </p:txBody>
      </p:sp>
      <p:sp>
        <p:nvSpPr>
          <p:cNvPr id="21" name="">
            <a:extLst xmlns:a="http://schemas.openxmlformats.org/drawingml/2006/main">
              <a:ext uri="{FF2B5EF4-FFF2-40B4-BE49-F238E27FC236}">
                <a16:creationId xmlns:a16="http://schemas.microsoft.com/office/drawing/2014/main" id="{1DC3826A-E550-4E52-AFEB-59C11982314F}"/>
              </a:ext>
            </a:extLst>
          </p:cNvPr>
          <p:cNvSpPr>
            <a:spLocks xmlns:a="http://schemas.openxmlformats.org/drawingml/2006/main" noGrp="1"/>
          </p:cNvSpPr>
          <p:nvPr/>
        </p:nvSpPr>
        <p:spPr>
          <a:xfrm xmlns:a="http://schemas.openxmlformats.org/drawingml/2006/main">
            <a:off x="904875" y="5457825"/>
            <a:ext cx="99060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22" name="">
            <a:extLst xmlns:a="http://schemas.openxmlformats.org/drawingml/2006/main">
              <a:ext uri="{FF2B5EF4-FFF2-40B4-BE49-F238E27FC236}">
                <a16:creationId xmlns:a16="http://schemas.microsoft.com/office/drawing/2014/main" id="{57CF736D-6E6B-4F18-A919-77220DC1C40F}"/>
              </a:ext>
            </a:extLst>
          </p:cNvPr>
          <p:cNvSpPr>
            <a:spLocks xmlns:a="http://schemas.openxmlformats.org/drawingml/2006/main" noGrp="1"/>
          </p:cNvSpPr>
          <p:nvPr/>
        </p:nvSpPr>
        <p:spPr>
          <a:xfrm xmlns:a="http://schemas.openxmlformats.org/drawingml/2006/main">
            <a:off x="952500" y="571500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These are documented source defaults. Production environment overrides and Firebase limits must be checked separately.</a:t>
            </a:r>
          </a:p>
        </p:txBody>
      </p:sp>
    </p:spTree>
    <p:extLst>
      <p:ext uri="{BB962C8B-B14F-4D97-AF65-F5344CB8AC3E}">
        <p14:creationId xmlns:p14="http://schemas.microsoft.com/office/powerpoint/2010/main" val="15020274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C9D2EFF-5A8C-45A9-9AF4-09B3C78F645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7E9015BE-FACA-4306-9814-A6FA0CA765C1}"/>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Local verification record</a:t>
            </a:r>
          </a:p>
        </p:txBody>
      </p:sp>
      <p:sp>
        <p:nvSpPr>
          <p:cNvPr id="3" name="">
            <a:extLst xmlns:a="http://schemas.openxmlformats.org/drawingml/2006/main">
              <a:ext uri="{FF2B5EF4-FFF2-40B4-BE49-F238E27FC236}">
                <a16:creationId xmlns:a16="http://schemas.microsoft.com/office/drawing/2014/main" id="{DCB89740-46A7-4F19-8346-6D05EEAAC664}"/>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7B50A3A3-59E2-4005-97D5-8682627831FE}"/>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17C6C953-F455-410C-8A1D-DF84832DC088}"/>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285F53AB-5F6B-4E90-BA1A-3431A169CAD2}"/>
              </a:ext>
            </a:extLst>
          </p:cNvPr>
          <p:cNvSpPr>
            <a:spLocks xmlns:a="http://schemas.openxmlformats.org/drawingml/2006/main" noGrp="1"/>
          </p:cNvSpPr>
          <p:nvPr/>
        </p:nvSpPr>
        <p:spPr>
          <a:xfrm xmlns:a="http://schemas.openxmlformats.org/drawingml/2006/main">
            <a:off x="685800" y="11811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650" b="0">
                <a:solidFill>
                  <a:srgbClr val="53677E"/>
                </a:solidFill>
                <a:latin typeface="Arial"/>
                <a:ea typeface="Arial"/>
                <a:cs typeface="Arial"/>
              </a:defRPr>
            </a:pPr>
            <a:r>
              <a:rPr sz="1650" b="0">
                <a:solidFill>
                  <a:srgbClr val="53677E"/>
                </a:solidFill>
                <a:latin typeface="Arial"/>
                <a:ea typeface="Arial"/>
                <a:cs typeface="Arial"/>
              </a:rPr>
              <a:t>Recorded local checks support the source handoff. They do not test external services.</a:t>
            </a:r>
          </a:p>
        </p:txBody>
      </p:sp>
      <p:sp>
        <p:nvSpPr>
          <p:cNvPr id="7" name="">
            <a:extLst xmlns:a="http://schemas.openxmlformats.org/drawingml/2006/main">
              <a:ext uri="{FF2B5EF4-FFF2-40B4-BE49-F238E27FC236}">
                <a16:creationId xmlns:a16="http://schemas.microsoft.com/office/drawing/2014/main" id="{F5A469D5-A934-4736-A1BB-165ADF37C98F}"/>
              </a:ext>
            </a:extLst>
          </p:cNvPr>
          <p:cNvSpPr>
            <a:spLocks xmlns:a="http://schemas.openxmlformats.org/drawingml/2006/main" noGrp="1"/>
          </p:cNvSpPr>
          <p:nvPr/>
        </p:nvSpPr>
        <p:spPr>
          <a:xfrm xmlns:a="http://schemas.openxmlformats.org/drawingml/2006/main">
            <a:off x="838200" y="2076450"/>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6750" b="1">
                <a:solidFill>
                  <a:srgbClr val="07897F"/>
                </a:solidFill>
                <a:latin typeface="Arial"/>
                <a:ea typeface="Arial"/>
                <a:cs typeface="Arial"/>
              </a:defRPr>
            </a:pPr>
            <a:r>
              <a:rPr sz="6750" b="1">
                <a:solidFill>
                  <a:srgbClr val="07897F"/>
                </a:solidFill>
                <a:latin typeface="Arial"/>
                <a:ea typeface="Arial"/>
                <a:cs typeface="Arial"/>
              </a:rPr>
              <a:t>145</a:t>
            </a:r>
          </a:p>
        </p:txBody>
      </p:sp>
      <p:sp>
        <p:nvSpPr>
          <p:cNvPr id="8" name="">
            <a:extLst xmlns:a="http://schemas.openxmlformats.org/drawingml/2006/main">
              <a:ext uri="{FF2B5EF4-FFF2-40B4-BE49-F238E27FC236}">
                <a16:creationId xmlns:a16="http://schemas.microsoft.com/office/drawing/2014/main" id="{37B98493-1F95-4120-BCE4-EA48622A1A39}"/>
              </a:ext>
            </a:extLst>
          </p:cNvPr>
          <p:cNvSpPr>
            <a:spLocks xmlns:a="http://schemas.openxmlformats.org/drawingml/2006/main" noGrp="1"/>
          </p:cNvSpPr>
          <p:nvPr/>
        </p:nvSpPr>
        <p:spPr>
          <a:xfrm xmlns:a="http://schemas.openxmlformats.org/drawingml/2006/main">
            <a:off x="809625" y="31908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42B4B"/>
                </a:solidFill>
                <a:latin typeface="Arial"/>
                <a:ea typeface="Arial"/>
                <a:cs typeface="Arial"/>
              </a:defRPr>
            </a:pPr>
            <a:r>
              <a:rPr sz="1800" b="1">
                <a:solidFill>
                  <a:srgbClr val="142B4B"/>
                </a:solidFill>
                <a:latin typeface="Arial"/>
                <a:ea typeface="Arial"/>
                <a:cs typeface="Arial"/>
              </a:rPr>
              <a:t>Django tests passed</a:t>
            </a:r>
          </a:p>
        </p:txBody>
      </p:sp>
      <p:sp>
        <p:nvSpPr>
          <p:cNvPr id="9" name="">
            <a:extLst xmlns:a="http://schemas.openxmlformats.org/drawingml/2006/main">
              <a:ext uri="{FF2B5EF4-FFF2-40B4-BE49-F238E27FC236}">
                <a16:creationId xmlns:a16="http://schemas.microsoft.com/office/drawing/2014/main" id="{6CCB94B4-1DCB-4688-B755-20B03590AAD3}"/>
              </a:ext>
            </a:extLst>
          </p:cNvPr>
          <p:cNvSpPr>
            <a:spLocks xmlns:a="http://schemas.openxmlformats.org/drawingml/2006/main" noGrp="1"/>
          </p:cNvSpPr>
          <p:nvPr/>
        </p:nvSpPr>
        <p:spPr>
          <a:xfrm xmlns:a="http://schemas.openxmlformats.org/drawingml/2006/main">
            <a:off x="4686300" y="2000250"/>
            <a:ext cx="2952750" cy="1190625"/>
          </a:xfrm>
          <a:prstGeom xmlns:a="http://schemas.openxmlformats.org/drawingml/2006/main" prst="roundRect">
            <a:avLst>
              <a:gd name="adj" fmla="val 11200"/>
            </a:avLst>
          </a:prstGeom>
          <a:solidFill xmlns:a="http://schemas.openxmlformats.org/drawingml/2006/main">
            <a:srgbClr val="E9F4F2"/>
          </a:solidFill>
          <a:ln xmlns:a="http://schemas.openxmlformats.org/drawingml/2006/main" w="19050">
            <a:solidFill>
              <a:srgbClr val="07897F"/>
            </a:solidFill>
            <a:prstDash val="solid"/>
          </a:ln>
        </p:spPr>
      </p:sp>
      <p:sp>
        <p:nvSpPr>
          <p:cNvPr id="10" name="">
            <a:extLst xmlns:a="http://schemas.openxmlformats.org/drawingml/2006/main">
              <a:ext uri="{FF2B5EF4-FFF2-40B4-BE49-F238E27FC236}">
                <a16:creationId xmlns:a16="http://schemas.microsoft.com/office/drawing/2014/main" id="{8931C2F0-23EF-4EAD-A71B-77A49740506A}"/>
              </a:ext>
            </a:extLst>
          </p:cNvPr>
          <p:cNvSpPr>
            <a:spLocks xmlns:a="http://schemas.openxmlformats.org/drawingml/2006/main" noGrp="1"/>
          </p:cNvSpPr>
          <p:nvPr/>
        </p:nvSpPr>
        <p:spPr>
          <a:xfrm xmlns:a="http://schemas.openxmlformats.org/drawingml/2006/main">
            <a:off x="4800600" y="2085975"/>
            <a:ext cx="2724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42B4B"/>
                </a:solidFill>
                <a:latin typeface="Arial"/>
                <a:ea typeface="Arial"/>
                <a:cs typeface="Arial"/>
              </a:defRPr>
            </a:pPr>
            <a:r>
              <a:rPr sz="1800" b="1">
                <a:solidFill>
                  <a:srgbClr val="142B4B"/>
                </a:solidFill>
                <a:latin typeface="Arial"/>
                <a:ea typeface="Arial"/>
                <a:cs typeface="Arial"/>
              </a:rPr>
              <a:t>Ruff</a:t>
            </a:r>
          </a:p>
        </p:txBody>
      </p:sp>
      <p:sp>
        <p:nvSpPr>
          <p:cNvPr id="11" name="">
            <a:extLst xmlns:a="http://schemas.openxmlformats.org/drawingml/2006/main">
              <a:ext uri="{FF2B5EF4-FFF2-40B4-BE49-F238E27FC236}">
                <a16:creationId xmlns:a16="http://schemas.microsoft.com/office/drawing/2014/main" id="{3403CA18-D07A-4F83-8AFA-794FABD1FF62}"/>
              </a:ext>
            </a:extLst>
          </p:cNvPr>
          <p:cNvSpPr>
            <a:spLocks xmlns:a="http://schemas.openxmlformats.org/drawingml/2006/main" noGrp="1"/>
          </p:cNvSpPr>
          <p:nvPr/>
        </p:nvSpPr>
        <p:spPr>
          <a:xfrm xmlns:a="http://schemas.openxmlformats.org/drawingml/2006/main">
            <a:off x="4819650" y="2457450"/>
            <a:ext cx="2686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Passed</a:t>
            </a:r>
          </a:p>
        </p:txBody>
      </p:sp>
      <p:sp>
        <p:nvSpPr>
          <p:cNvPr id="12" name="">
            <a:extLst xmlns:a="http://schemas.openxmlformats.org/drawingml/2006/main">
              <a:ext uri="{FF2B5EF4-FFF2-40B4-BE49-F238E27FC236}">
                <a16:creationId xmlns:a16="http://schemas.microsoft.com/office/drawing/2014/main" id="{848730C2-1022-4E1A-A841-8901FB25149F}"/>
              </a:ext>
            </a:extLst>
          </p:cNvPr>
          <p:cNvSpPr>
            <a:spLocks xmlns:a="http://schemas.openxmlformats.org/drawingml/2006/main" noGrp="1"/>
          </p:cNvSpPr>
          <p:nvPr/>
        </p:nvSpPr>
        <p:spPr>
          <a:xfrm xmlns:a="http://schemas.openxmlformats.org/drawingml/2006/main">
            <a:off x="7905750" y="2000250"/>
            <a:ext cx="3238500" cy="1190625"/>
          </a:xfrm>
          <a:prstGeom xmlns:a="http://schemas.openxmlformats.org/drawingml/2006/main" prst="roundRect">
            <a:avLst>
              <a:gd name="adj" fmla="val 11200"/>
            </a:avLst>
          </a:prstGeom>
          <a:solidFill xmlns:a="http://schemas.openxmlformats.org/drawingml/2006/main">
            <a:srgbClr val="F2F6FA"/>
          </a:solidFill>
          <a:ln xmlns:a="http://schemas.openxmlformats.org/drawingml/2006/main" w="19050">
            <a:solidFill>
              <a:srgbClr val="1F5B88"/>
            </a:solidFill>
            <a:prstDash val="solid"/>
          </a:ln>
        </p:spPr>
      </p:sp>
      <p:sp>
        <p:nvSpPr>
          <p:cNvPr id="13" name="">
            <a:extLst xmlns:a="http://schemas.openxmlformats.org/drawingml/2006/main">
              <a:ext uri="{FF2B5EF4-FFF2-40B4-BE49-F238E27FC236}">
                <a16:creationId xmlns:a16="http://schemas.microsoft.com/office/drawing/2014/main" id="{57C7BED4-0118-4D00-9536-DBB2AE980A25}"/>
              </a:ext>
            </a:extLst>
          </p:cNvPr>
          <p:cNvSpPr>
            <a:spLocks xmlns:a="http://schemas.openxmlformats.org/drawingml/2006/main" noGrp="1"/>
          </p:cNvSpPr>
          <p:nvPr/>
        </p:nvSpPr>
        <p:spPr>
          <a:xfrm xmlns:a="http://schemas.openxmlformats.org/drawingml/2006/main">
            <a:off x="8020050" y="2085975"/>
            <a:ext cx="300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Django checks</a:t>
            </a:r>
          </a:p>
        </p:txBody>
      </p:sp>
      <p:sp>
        <p:nvSpPr>
          <p:cNvPr id="14" name="">
            <a:extLst xmlns:a="http://schemas.openxmlformats.org/drawingml/2006/main">
              <a:ext uri="{FF2B5EF4-FFF2-40B4-BE49-F238E27FC236}">
                <a16:creationId xmlns:a16="http://schemas.microsoft.com/office/drawing/2014/main" id="{73939D0C-BF87-4E2B-8A6A-EF39C769A501}"/>
              </a:ext>
            </a:extLst>
          </p:cNvPr>
          <p:cNvSpPr>
            <a:spLocks xmlns:a="http://schemas.openxmlformats.org/drawingml/2006/main" noGrp="1"/>
          </p:cNvSpPr>
          <p:nvPr/>
        </p:nvSpPr>
        <p:spPr>
          <a:xfrm xmlns:a="http://schemas.openxmlformats.org/drawingml/2006/main">
            <a:off x="8039100" y="2457450"/>
            <a:ext cx="2971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Passed; no migration drift reported</a:t>
            </a:r>
          </a:p>
        </p:txBody>
      </p:sp>
      <p:sp>
        <p:nvSpPr>
          <p:cNvPr id="15" name="">
            <a:extLst xmlns:a="http://schemas.openxmlformats.org/drawingml/2006/main">
              <a:ext uri="{FF2B5EF4-FFF2-40B4-BE49-F238E27FC236}">
                <a16:creationId xmlns:a16="http://schemas.microsoft.com/office/drawing/2014/main" id="{4C8FE6FD-9201-48E3-8864-2C7246576579}"/>
              </a:ext>
            </a:extLst>
          </p:cNvPr>
          <p:cNvSpPr>
            <a:spLocks xmlns:a="http://schemas.openxmlformats.org/drawingml/2006/main" noGrp="1"/>
          </p:cNvSpPr>
          <p:nvPr/>
        </p:nvSpPr>
        <p:spPr>
          <a:xfrm xmlns:a="http://schemas.openxmlformats.org/drawingml/2006/main">
            <a:off x="4686300" y="3543300"/>
            <a:ext cx="2952750" cy="1190625"/>
          </a:xfrm>
          <a:prstGeom xmlns:a="http://schemas.openxmlformats.org/drawingml/2006/main" prst="roundRect">
            <a:avLst>
              <a:gd name="adj" fmla="val 11200"/>
            </a:avLst>
          </a:prstGeom>
          <a:solidFill xmlns:a="http://schemas.openxmlformats.org/drawingml/2006/main">
            <a:srgbClr val="FFF7E3"/>
          </a:solidFill>
          <a:ln xmlns:a="http://schemas.openxmlformats.org/drawingml/2006/main" w="19050">
            <a:solidFill>
              <a:srgbClr val="E4A51B"/>
            </a:solidFill>
            <a:prstDash val="solid"/>
          </a:ln>
        </p:spPr>
      </p:sp>
      <p:sp>
        <p:nvSpPr>
          <p:cNvPr id="16" name="">
            <a:extLst xmlns:a="http://schemas.openxmlformats.org/drawingml/2006/main">
              <a:ext uri="{FF2B5EF4-FFF2-40B4-BE49-F238E27FC236}">
                <a16:creationId xmlns:a16="http://schemas.microsoft.com/office/drawing/2014/main" id="{D9D889ED-5691-4931-B00B-96B230BCE35D}"/>
              </a:ext>
            </a:extLst>
          </p:cNvPr>
          <p:cNvSpPr>
            <a:spLocks xmlns:a="http://schemas.openxmlformats.org/drawingml/2006/main" noGrp="1"/>
          </p:cNvSpPr>
          <p:nvPr/>
        </p:nvSpPr>
        <p:spPr>
          <a:xfrm xmlns:a="http://schemas.openxmlformats.org/drawingml/2006/main">
            <a:off x="4800600" y="3629025"/>
            <a:ext cx="2724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Security diff review</a:t>
            </a:r>
          </a:p>
        </p:txBody>
      </p:sp>
      <p:sp>
        <p:nvSpPr>
          <p:cNvPr id="17" name="">
            <a:extLst xmlns:a="http://schemas.openxmlformats.org/drawingml/2006/main">
              <a:ext uri="{FF2B5EF4-FFF2-40B4-BE49-F238E27FC236}">
                <a16:creationId xmlns:a16="http://schemas.microsoft.com/office/drawing/2014/main" id="{D9795D19-DED1-4672-86F5-BA5DE17E40A4}"/>
              </a:ext>
            </a:extLst>
          </p:cNvPr>
          <p:cNvSpPr>
            <a:spLocks xmlns:a="http://schemas.openxmlformats.org/drawingml/2006/main" noGrp="1"/>
          </p:cNvSpPr>
          <p:nvPr/>
        </p:nvSpPr>
        <p:spPr>
          <a:xfrm xmlns:a="http://schemas.openxmlformats.org/drawingml/2006/main">
            <a:off x="4819650" y="4000500"/>
            <a:ext cx="2686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13 changed files reviewed</a:t>
            </a:r>
          </a:p>
        </p:txBody>
      </p:sp>
      <p:sp>
        <p:nvSpPr>
          <p:cNvPr id="18" name="">
            <a:extLst xmlns:a="http://schemas.openxmlformats.org/drawingml/2006/main">
              <a:ext uri="{FF2B5EF4-FFF2-40B4-BE49-F238E27FC236}">
                <a16:creationId xmlns:a16="http://schemas.microsoft.com/office/drawing/2014/main" id="{1DD5D2D6-CB96-4469-8A79-E0EFAC998A4E}"/>
              </a:ext>
            </a:extLst>
          </p:cNvPr>
          <p:cNvSpPr>
            <a:spLocks xmlns:a="http://schemas.openxmlformats.org/drawingml/2006/main" noGrp="1"/>
          </p:cNvSpPr>
          <p:nvPr/>
        </p:nvSpPr>
        <p:spPr>
          <a:xfrm xmlns:a="http://schemas.openxmlformats.org/drawingml/2006/main">
            <a:off x="7905750" y="3543300"/>
            <a:ext cx="3238500" cy="1190625"/>
          </a:xfrm>
          <a:prstGeom xmlns:a="http://schemas.openxmlformats.org/drawingml/2006/main" prst="roundRect">
            <a:avLst>
              <a:gd name="adj" fmla="val 11200"/>
            </a:avLst>
          </a:prstGeom>
          <a:solidFill xmlns:a="http://schemas.openxmlformats.org/drawingml/2006/main">
            <a:srgbClr val="E9F4F2"/>
          </a:solidFill>
          <a:ln xmlns:a="http://schemas.openxmlformats.org/drawingml/2006/main" w="19050">
            <a:solidFill>
              <a:srgbClr val="07897F"/>
            </a:solidFill>
            <a:prstDash val="solid"/>
          </a:ln>
        </p:spPr>
      </p:sp>
      <p:sp>
        <p:nvSpPr>
          <p:cNvPr id="19" name="">
            <a:extLst xmlns:a="http://schemas.openxmlformats.org/drawingml/2006/main">
              <a:ext uri="{FF2B5EF4-FFF2-40B4-BE49-F238E27FC236}">
                <a16:creationId xmlns:a16="http://schemas.microsoft.com/office/drawing/2014/main" id="{2484B1C0-D4F7-444D-9286-4CFFB43110AA}"/>
              </a:ext>
            </a:extLst>
          </p:cNvPr>
          <p:cNvSpPr>
            <a:spLocks xmlns:a="http://schemas.openxmlformats.org/drawingml/2006/main" noGrp="1"/>
          </p:cNvSpPr>
          <p:nvPr/>
        </p:nvSpPr>
        <p:spPr>
          <a:xfrm xmlns:a="http://schemas.openxmlformats.org/drawingml/2006/main">
            <a:off x="8020050" y="3629025"/>
            <a:ext cx="300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Reportable findings</a:t>
            </a:r>
          </a:p>
        </p:txBody>
      </p:sp>
      <p:sp>
        <p:nvSpPr>
          <p:cNvPr id="20" name="">
            <a:extLst xmlns:a="http://schemas.openxmlformats.org/drawingml/2006/main">
              <a:ext uri="{FF2B5EF4-FFF2-40B4-BE49-F238E27FC236}">
                <a16:creationId xmlns:a16="http://schemas.microsoft.com/office/drawing/2014/main" id="{14B57455-09E2-44F0-BC8B-8A457636E1EC}"/>
              </a:ext>
            </a:extLst>
          </p:cNvPr>
          <p:cNvSpPr>
            <a:spLocks xmlns:a="http://schemas.openxmlformats.org/drawingml/2006/main" noGrp="1"/>
          </p:cNvSpPr>
          <p:nvPr/>
        </p:nvSpPr>
        <p:spPr>
          <a:xfrm xmlns:a="http://schemas.openxmlformats.org/drawingml/2006/main">
            <a:off x="8039100" y="4000500"/>
            <a:ext cx="2971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0 in that reviewed diff scope</a:t>
            </a:r>
          </a:p>
        </p:txBody>
      </p:sp>
      <p:sp>
        <p:nvSpPr>
          <p:cNvPr id="21" name="">
            <a:extLst xmlns:a="http://schemas.openxmlformats.org/drawingml/2006/main">
              <a:ext uri="{FF2B5EF4-FFF2-40B4-BE49-F238E27FC236}">
                <a16:creationId xmlns:a16="http://schemas.microsoft.com/office/drawing/2014/main" id="{F39DFA83-C300-41EB-B748-739A6912046D}"/>
              </a:ext>
            </a:extLst>
          </p:cNvPr>
          <p:cNvSpPr>
            <a:spLocks xmlns:a="http://schemas.openxmlformats.org/drawingml/2006/main" noGrp="1"/>
          </p:cNvSpPr>
          <p:nvPr/>
        </p:nvSpPr>
        <p:spPr>
          <a:xfrm xmlns:a="http://schemas.openxmlformats.org/drawingml/2006/main">
            <a:off x="952500" y="51435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A33232"/>
                </a:solidFill>
                <a:latin typeface="Arial"/>
                <a:ea typeface="Arial"/>
                <a:cs typeface="Arial"/>
              </a:defRPr>
            </a:pPr>
            <a:r>
              <a:rPr sz="1575" b="1">
                <a:solidFill>
                  <a:srgbClr val="A33232"/>
                </a:solidFill>
                <a:latin typeface="Arial"/>
                <a:ea typeface="Arial"/>
                <a:cs typeface="Arial"/>
              </a:rPr>
              <a:t>No live login, real SMS/email send, production database or provider console was checked.</a:t>
            </a:r>
          </a:p>
        </p:txBody>
      </p:sp>
    </p:spTree>
    <p:extLst>
      <p:ext uri="{BB962C8B-B14F-4D97-AF65-F5344CB8AC3E}">
        <p14:creationId xmlns:p14="http://schemas.microsoft.com/office/powerpoint/2010/main" val="18966661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03D7F9E-45E2-464D-ABCD-5D3193C5074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67F46D85-DACD-4B27-A1D3-3D6CC7AA2708}"/>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Build, hosting and operations</a:t>
            </a:r>
          </a:p>
        </p:txBody>
      </p:sp>
      <p:sp>
        <p:nvSpPr>
          <p:cNvPr id="3" name="">
            <a:extLst xmlns:a="http://schemas.openxmlformats.org/drawingml/2006/main">
              <a:ext uri="{FF2B5EF4-FFF2-40B4-BE49-F238E27FC236}">
                <a16:creationId xmlns:a16="http://schemas.microsoft.com/office/drawing/2014/main" id="{0109FDA6-2F55-43F5-8290-113EF4437508}"/>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5164057D-3C24-4D8D-856F-4D5B962BDF3B}"/>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4B6087A5-6DF1-41FE-9F40-451F2BFADC09}"/>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C41AC0F3-C08E-42FD-8210-FF86AB5A9EAB}"/>
              </a:ext>
            </a:extLst>
          </p:cNvPr>
          <p:cNvSpPr>
            <a:spLocks xmlns:a="http://schemas.openxmlformats.org/drawingml/2006/main" noGrp="1"/>
          </p:cNvSpPr>
          <p:nvPr/>
        </p:nvSpPr>
        <p:spPr>
          <a:xfrm xmlns:a="http://schemas.openxmlformats.org/drawingml/2006/main">
            <a:off x="685800" y="2200275"/>
            <a:ext cx="2381250" cy="1428750"/>
          </a:xfrm>
          <a:prstGeom xmlns:a="http://schemas.openxmlformats.org/drawingml/2006/main" prst="roundRect">
            <a:avLst>
              <a:gd name="adj" fmla="val 9333"/>
            </a:avLst>
          </a:prstGeom>
          <a:solidFill xmlns:a="http://schemas.openxmlformats.org/drawingml/2006/main">
            <a:srgbClr val="F2F6FA"/>
          </a:solidFill>
          <a:ln xmlns:a="http://schemas.openxmlformats.org/drawingml/2006/main" w="19050">
            <a:solidFill>
              <a:srgbClr val="1F5B88"/>
            </a:solidFill>
            <a:prstDash val="solid"/>
          </a:ln>
        </p:spPr>
      </p:sp>
      <p:sp>
        <p:nvSpPr>
          <p:cNvPr id="7" name="">
            <a:extLst xmlns:a="http://schemas.openxmlformats.org/drawingml/2006/main">
              <a:ext uri="{FF2B5EF4-FFF2-40B4-BE49-F238E27FC236}">
                <a16:creationId xmlns:a16="http://schemas.microsoft.com/office/drawing/2014/main" id="{43307B46-D75F-47D3-BDC7-281F60644B13}"/>
              </a:ext>
            </a:extLst>
          </p:cNvPr>
          <p:cNvSpPr>
            <a:spLocks xmlns:a="http://schemas.openxmlformats.org/drawingml/2006/main" noGrp="1"/>
          </p:cNvSpPr>
          <p:nvPr/>
        </p:nvSpPr>
        <p:spPr>
          <a:xfrm xmlns:a="http://schemas.openxmlformats.org/drawingml/2006/main">
            <a:off x="800100" y="228600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GitHub</a:t>
            </a:r>
          </a:p>
        </p:txBody>
      </p:sp>
      <p:sp>
        <p:nvSpPr>
          <p:cNvPr id="8" name="">
            <a:extLst xmlns:a="http://schemas.openxmlformats.org/drawingml/2006/main">
              <a:ext uri="{FF2B5EF4-FFF2-40B4-BE49-F238E27FC236}">
                <a16:creationId xmlns:a16="http://schemas.microsoft.com/office/drawing/2014/main" id="{A0BB9D3B-9CD5-48ED-92C9-B34F9FD2FB26}"/>
              </a:ext>
            </a:extLst>
          </p:cNvPr>
          <p:cNvSpPr>
            <a:spLocks xmlns:a="http://schemas.openxmlformats.org/drawingml/2006/main" noGrp="1"/>
          </p:cNvSpPr>
          <p:nvPr/>
        </p:nvSpPr>
        <p:spPr>
          <a:xfrm xmlns:a="http://schemas.openxmlformats.org/drawingml/2006/main">
            <a:off x="819150" y="2657475"/>
            <a:ext cx="2114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Tracked source and CI workflow</a:t>
            </a:r>
          </a:p>
        </p:txBody>
      </p:sp>
      <p:sp>
        <p:nvSpPr>
          <p:cNvPr id="9" name="">
            <a:extLst xmlns:a="http://schemas.openxmlformats.org/drawingml/2006/main">
              <a:ext uri="{FF2B5EF4-FFF2-40B4-BE49-F238E27FC236}">
                <a16:creationId xmlns:a16="http://schemas.microsoft.com/office/drawing/2014/main" id="{AC3AA594-6567-4CDC-86AF-F8B8FBE8009D}"/>
              </a:ext>
            </a:extLst>
          </p:cNvPr>
          <p:cNvSpPr>
            <a:spLocks xmlns:a="http://schemas.openxmlformats.org/drawingml/2006/main" noGrp="1"/>
          </p:cNvSpPr>
          <p:nvPr/>
        </p:nvSpPr>
        <p:spPr>
          <a:xfrm xmlns:a="http://schemas.openxmlformats.org/drawingml/2006/main">
            <a:off x="3743325" y="2200275"/>
            <a:ext cx="2381250" cy="1428750"/>
          </a:xfrm>
          <a:prstGeom xmlns:a="http://schemas.openxmlformats.org/drawingml/2006/main" prst="roundRect">
            <a:avLst>
              <a:gd name="adj" fmla="val 9333"/>
            </a:avLst>
          </a:prstGeom>
          <a:solidFill xmlns:a="http://schemas.openxmlformats.org/drawingml/2006/main">
            <a:srgbClr val="E8F1F8"/>
          </a:solidFill>
          <a:ln xmlns:a="http://schemas.openxmlformats.org/drawingml/2006/main" w="19050">
            <a:solidFill>
              <a:srgbClr val="1F5B88"/>
            </a:solidFill>
            <a:prstDash val="solid"/>
          </a:ln>
        </p:spPr>
      </p:sp>
      <p:sp>
        <p:nvSpPr>
          <p:cNvPr id="10" name="">
            <a:extLst xmlns:a="http://schemas.openxmlformats.org/drawingml/2006/main">
              <a:ext uri="{FF2B5EF4-FFF2-40B4-BE49-F238E27FC236}">
                <a16:creationId xmlns:a16="http://schemas.microsoft.com/office/drawing/2014/main" id="{65EA10E3-729D-4DED-851E-81010BACF5F3}"/>
              </a:ext>
            </a:extLst>
          </p:cNvPr>
          <p:cNvSpPr>
            <a:spLocks xmlns:a="http://schemas.openxmlformats.org/drawingml/2006/main" noGrp="1"/>
          </p:cNvSpPr>
          <p:nvPr/>
        </p:nvSpPr>
        <p:spPr>
          <a:xfrm xmlns:a="http://schemas.openxmlformats.org/drawingml/2006/main">
            <a:off x="3857625" y="228600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Vercel</a:t>
            </a:r>
          </a:p>
        </p:txBody>
      </p:sp>
      <p:sp>
        <p:nvSpPr>
          <p:cNvPr id="11" name="">
            <a:extLst xmlns:a="http://schemas.openxmlformats.org/drawingml/2006/main">
              <a:ext uri="{FF2B5EF4-FFF2-40B4-BE49-F238E27FC236}">
                <a16:creationId xmlns:a16="http://schemas.microsoft.com/office/drawing/2014/main" id="{0343FDD7-4F2E-42F4-9F24-A1684598C0BD}"/>
              </a:ext>
            </a:extLst>
          </p:cNvPr>
          <p:cNvSpPr>
            <a:spLocks xmlns:a="http://schemas.openxmlformats.org/drawingml/2006/main" noGrp="1"/>
          </p:cNvSpPr>
          <p:nvPr/>
        </p:nvSpPr>
        <p:spPr>
          <a:xfrm xmlns:a="http://schemas.openxmlformats.org/drawingml/2006/main">
            <a:off x="3876675" y="2657475"/>
            <a:ext cx="2114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Build and web runtime when connected</a:t>
            </a:r>
          </a:p>
        </p:txBody>
      </p:sp>
      <p:sp>
        <p:nvSpPr>
          <p:cNvPr id="12" name="">
            <a:extLst xmlns:a="http://schemas.openxmlformats.org/drawingml/2006/main">
              <a:ext uri="{FF2B5EF4-FFF2-40B4-BE49-F238E27FC236}">
                <a16:creationId xmlns:a16="http://schemas.microsoft.com/office/drawing/2014/main" id="{2FEFAF6A-74E3-4A85-A55E-3A0F84D70D8A}"/>
              </a:ext>
            </a:extLst>
          </p:cNvPr>
          <p:cNvSpPr>
            <a:spLocks xmlns:a="http://schemas.openxmlformats.org/drawingml/2006/main" noGrp="1"/>
          </p:cNvSpPr>
          <p:nvPr/>
        </p:nvSpPr>
        <p:spPr>
          <a:xfrm xmlns:a="http://schemas.openxmlformats.org/drawingml/2006/main">
            <a:off x="6800850" y="2200275"/>
            <a:ext cx="2381250" cy="1428750"/>
          </a:xfrm>
          <a:prstGeom xmlns:a="http://schemas.openxmlformats.org/drawingml/2006/main" prst="roundRect">
            <a:avLst>
              <a:gd name="adj" fmla="val 9333"/>
            </a:avLst>
          </a:prstGeom>
          <a:solidFill xmlns:a="http://schemas.openxmlformats.org/drawingml/2006/main">
            <a:srgbClr val="E9F4F2"/>
          </a:solidFill>
          <a:ln xmlns:a="http://schemas.openxmlformats.org/drawingml/2006/main" w="19050">
            <a:solidFill>
              <a:srgbClr val="07897F"/>
            </a:solidFill>
            <a:prstDash val="solid"/>
          </a:ln>
        </p:spPr>
      </p:sp>
      <p:sp>
        <p:nvSpPr>
          <p:cNvPr id="13" name="">
            <a:extLst xmlns:a="http://schemas.openxmlformats.org/drawingml/2006/main">
              <a:ext uri="{FF2B5EF4-FFF2-40B4-BE49-F238E27FC236}">
                <a16:creationId xmlns:a16="http://schemas.microsoft.com/office/drawing/2014/main" id="{A2D010E5-593C-47D1-919B-7ED12587A0D6}"/>
              </a:ext>
            </a:extLst>
          </p:cNvPr>
          <p:cNvSpPr>
            <a:spLocks xmlns:a="http://schemas.openxmlformats.org/drawingml/2006/main" noGrp="1"/>
          </p:cNvSpPr>
          <p:nvPr/>
        </p:nvSpPr>
        <p:spPr>
          <a:xfrm xmlns:a="http://schemas.openxmlformats.org/drawingml/2006/main">
            <a:off x="6915150" y="228600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Neon</a:t>
            </a:r>
          </a:p>
        </p:txBody>
      </p:sp>
      <p:sp>
        <p:nvSpPr>
          <p:cNvPr id="14" name="">
            <a:extLst xmlns:a="http://schemas.openxmlformats.org/drawingml/2006/main">
              <a:ext uri="{FF2B5EF4-FFF2-40B4-BE49-F238E27FC236}">
                <a16:creationId xmlns:a16="http://schemas.microsoft.com/office/drawing/2014/main" id="{0EA0C3B2-A359-424F-808F-7668A6161E7D}"/>
              </a:ext>
            </a:extLst>
          </p:cNvPr>
          <p:cNvSpPr>
            <a:spLocks xmlns:a="http://schemas.openxmlformats.org/drawingml/2006/main" noGrp="1"/>
          </p:cNvSpPr>
          <p:nvPr/>
        </p:nvSpPr>
        <p:spPr>
          <a:xfrm xmlns:a="http://schemas.openxmlformats.org/drawingml/2006/main">
            <a:off x="6934200" y="2657475"/>
            <a:ext cx="2114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00" b="0">
                <a:solidFill>
                  <a:srgbClr val="53677E"/>
                </a:solidFill>
                <a:latin typeface="Arial"/>
                <a:ea typeface="Arial"/>
                <a:cs typeface="Arial"/>
              </a:defRPr>
            </a:pPr>
            <a:r>
              <a:rPr sz="1500" b="0">
                <a:solidFill>
                  <a:srgbClr val="53677E"/>
                </a:solidFill>
                <a:latin typeface="Arial"/>
                <a:ea typeface="Arial"/>
                <a:cs typeface="Arial"/>
              </a:rPr>
              <a:t>Hosted PostgreSQL owner and schema</a:t>
            </a:r>
          </a:p>
        </p:txBody>
      </p:sp>
      <p:sp>
        <p:nvSpPr>
          <p:cNvPr id="15" name="">
            <a:extLst xmlns:a="http://schemas.openxmlformats.org/drawingml/2006/main">
              <a:ext uri="{FF2B5EF4-FFF2-40B4-BE49-F238E27FC236}">
                <a16:creationId xmlns:a16="http://schemas.microsoft.com/office/drawing/2014/main" id="{43912F55-40FD-40BB-A026-E5264025B2A2}"/>
              </a:ext>
            </a:extLst>
          </p:cNvPr>
          <p:cNvSpPr>
            <a:spLocks xmlns:a="http://schemas.openxmlformats.org/drawingml/2006/main" noGrp="1"/>
          </p:cNvSpPr>
          <p:nvPr/>
        </p:nvSpPr>
        <p:spPr>
          <a:xfrm xmlns:a="http://schemas.openxmlformats.org/drawingml/2006/main">
            <a:off x="9620250" y="2200275"/>
            <a:ext cx="1905000" cy="1428750"/>
          </a:xfrm>
          <a:prstGeom xmlns:a="http://schemas.openxmlformats.org/drawingml/2006/main" prst="roundRect">
            <a:avLst>
              <a:gd name="adj" fmla="val 9333"/>
            </a:avLst>
          </a:prstGeom>
          <a:solidFill xmlns:a="http://schemas.openxmlformats.org/drawingml/2006/main">
            <a:srgbClr val="FFF7E3"/>
          </a:solidFill>
          <a:ln xmlns:a="http://schemas.openxmlformats.org/drawingml/2006/main" w="19050">
            <a:solidFill>
              <a:srgbClr val="E4A51B"/>
            </a:solidFill>
            <a:prstDash val="solid"/>
          </a:ln>
        </p:spPr>
      </p:sp>
      <p:sp>
        <p:nvSpPr>
          <p:cNvPr id="16" name="">
            <a:extLst xmlns:a="http://schemas.openxmlformats.org/drawingml/2006/main">
              <a:ext uri="{FF2B5EF4-FFF2-40B4-BE49-F238E27FC236}">
                <a16:creationId xmlns:a16="http://schemas.microsoft.com/office/drawing/2014/main" id="{BDFE00C7-8379-4686-9241-2F622EB98EEC}"/>
              </a:ext>
            </a:extLst>
          </p:cNvPr>
          <p:cNvSpPr>
            <a:spLocks xmlns:a="http://schemas.openxmlformats.org/drawingml/2006/main" noGrp="1"/>
          </p:cNvSpPr>
          <p:nvPr/>
        </p:nvSpPr>
        <p:spPr>
          <a:xfrm xmlns:a="http://schemas.openxmlformats.org/drawingml/2006/main">
            <a:off x="9734550" y="2286000"/>
            <a:ext cx="167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Providers</a:t>
            </a:r>
          </a:p>
        </p:txBody>
      </p:sp>
      <p:sp>
        <p:nvSpPr>
          <p:cNvPr id="17" name="">
            <a:extLst xmlns:a="http://schemas.openxmlformats.org/drawingml/2006/main">
              <a:ext uri="{FF2B5EF4-FFF2-40B4-BE49-F238E27FC236}">
                <a16:creationId xmlns:a16="http://schemas.microsoft.com/office/drawing/2014/main" id="{28B5C80F-C4BE-4A08-BC84-5AD8D30F262C}"/>
              </a:ext>
            </a:extLst>
          </p:cNvPr>
          <p:cNvSpPr>
            <a:spLocks xmlns:a="http://schemas.openxmlformats.org/drawingml/2006/main" noGrp="1"/>
          </p:cNvSpPr>
          <p:nvPr/>
        </p:nvSpPr>
        <p:spPr>
          <a:xfrm xmlns:a="http://schemas.openxmlformats.org/drawingml/2006/main">
            <a:off x="9753600" y="2657475"/>
            <a:ext cx="16383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Firebase and email</a:t>
            </a:r>
          </a:p>
        </p:txBody>
      </p:sp>
      <p:cxnSp>
        <p:nvCxnSpPr>
          <p:cNvPr id="40" name=""/>
          <p:cNvCxnSpPr>
            <a:stCxn xmlns:a="http://schemas.openxmlformats.org/drawingml/2006/main" id="6" idx="3"/>
            <a:endCxn xmlns:a="http://schemas.openxmlformats.org/drawingml/2006/main" id="9" idx="1"/>
          </p:cNvCxnSpPr>
          <p:nvPr/>
        </p:nvCxnSpPr>
        <p:spPr>
          <a:xfrm xmlns:a="http://schemas.openxmlformats.org/drawingml/2006/main">
            <a:off x="3067050" y="2914650"/>
            <a:ext cx="676275" cy="0"/>
          </a:xfrm>
          <a:prstGeom xmlns:a="http://schemas.openxmlformats.org/drawingml/2006/main" prst="straightConnector1">
            <a:avLst/>
          </a:prstGeom>
          <a:ln xmlns:a="http://schemas.openxmlformats.org/drawingml/2006/main" w="19050">
            <a:solidFill>
              <a:srgbClr val="1F5B88"/>
            </a:solidFill>
            <a:prstDash val="solid"/>
            <a:headEnd type="triangle" w="sm" len="sm"/>
          </a:ln>
        </p:spPr>
      </p:cxnSp>
      <p:cxnSp>
        <p:nvCxnSpPr>
          <p:cNvPr id="41" name=""/>
          <p:cNvCxnSpPr>
            <a:stCxn xmlns:a="http://schemas.openxmlformats.org/drawingml/2006/main" id="9" idx="3"/>
            <a:endCxn xmlns:a="http://schemas.openxmlformats.org/drawingml/2006/main" id="12" idx="1"/>
          </p:cNvCxnSpPr>
          <p:nvPr/>
        </p:nvCxnSpPr>
        <p:spPr>
          <a:xfrm xmlns:a="http://schemas.openxmlformats.org/drawingml/2006/main">
            <a:off x="6124575" y="2914650"/>
            <a:ext cx="676275" cy="0"/>
          </a:xfrm>
          <a:prstGeom xmlns:a="http://schemas.openxmlformats.org/drawingml/2006/main" prst="straightConnector1">
            <a:avLst/>
          </a:prstGeom>
          <a:ln xmlns:a="http://schemas.openxmlformats.org/drawingml/2006/main" w="19050">
            <a:solidFill>
              <a:srgbClr val="07897F"/>
            </a:solidFill>
            <a:prstDash val="solid"/>
            <a:headEnd type="triangle" w="sm" len="sm"/>
          </a:ln>
        </p:spPr>
      </p:cxnSp>
      <p:cxnSp>
        <p:nvCxnSpPr>
          <p:cNvPr id="42" name=""/>
          <p:cNvCxnSpPr>
            <a:stCxn xmlns:a="http://schemas.openxmlformats.org/drawingml/2006/main" id="9" idx="3"/>
            <a:endCxn xmlns:a="http://schemas.openxmlformats.org/drawingml/2006/main" id="15" idx="1"/>
          </p:cNvCxnSpPr>
          <p:nvPr/>
        </p:nvCxnSpPr>
        <p:spPr>
          <a:xfrm xmlns:a="http://schemas.openxmlformats.org/drawingml/2006/main">
            <a:off x="6124575" y="2914650"/>
            <a:ext cx="3495675" cy="0"/>
          </a:xfrm>
          <a:prstGeom xmlns:a="http://schemas.openxmlformats.org/drawingml/2006/main" prst="straightConnector1">
            <a:avLst/>
          </a:prstGeom>
          <a:ln xmlns:a="http://schemas.openxmlformats.org/drawingml/2006/main" w="19050">
            <a:solidFill>
              <a:srgbClr val="E4A51B"/>
            </a:solidFill>
            <a:prstDash val="solid"/>
            <a:headEnd type="triangle" w="sm" len="sm"/>
          </a:ln>
        </p:spPr>
      </p:cxnSp>
      <p:sp>
        <p:nvSpPr>
          <p:cNvPr id="21" name="">
            <a:extLst xmlns:a="http://schemas.openxmlformats.org/drawingml/2006/main">
              <a:ext uri="{FF2B5EF4-FFF2-40B4-BE49-F238E27FC236}">
                <a16:creationId xmlns:a16="http://schemas.microsoft.com/office/drawing/2014/main" id="{3159CD40-10F6-4B25-80F2-A4E136296AB9}"/>
              </a:ext>
            </a:extLst>
          </p:cNvPr>
          <p:cNvSpPr>
            <a:spLocks xmlns:a="http://schemas.openxmlformats.org/drawingml/2006/main" noGrp="1"/>
          </p:cNvSpPr>
          <p:nvPr/>
        </p:nvSpPr>
        <p:spPr>
          <a:xfrm xmlns:a="http://schemas.openxmlformats.org/drawingml/2006/main">
            <a:off x="933450" y="4305300"/>
            <a:ext cx="1028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A copied folder is not a release. Check the deployment commit, build log, database migration state and provider configuration.</a:t>
            </a:r>
          </a:p>
        </p:txBody>
      </p:sp>
      <p:sp>
        <p:nvSpPr>
          <p:cNvPr id="22" name="">
            <a:extLst xmlns:a="http://schemas.openxmlformats.org/drawingml/2006/main">
              <a:ext uri="{FF2B5EF4-FFF2-40B4-BE49-F238E27FC236}">
                <a16:creationId xmlns:a16="http://schemas.microsoft.com/office/drawing/2014/main" id="{DF6CC1E1-C6FD-4402-8610-38F9891A7B08}"/>
              </a:ext>
            </a:extLst>
          </p:cNvPr>
          <p:cNvSpPr>
            <a:spLocks xmlns:a="http://schemas.openxmlformats.org/drawingml/2006/main" noGrp="1"/>
          </p:cNvSpPr>
          <p:nvPr/>
        </p:nvSpPr>
        <p:spPr>
          <a:xfrm xmlns:a="http://schemas.openxmlformats.org/drawingml/2006/main">
            <a:off x="1143000" y="54006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A33232"/>
                </a:solidFill>
                <a:latin typeface="Arial"/>
                <a:ea typeface="Arial"/>
                <a:cs typeface="Arial"/>
              </a:defRPr>
            </a:pPr>
            <a:r>
              <a:rPr sz="1425" b="0">
                <a:solidFill>
                  <a:srgbClr val="A33232"/>
                </a:solidFill>
                <a:latin typeface="Arial"/>
                <a:ea typeface="Arial"/>
                <a:cs typeface="Arial"/>
              </a:rPr>
              <a:t>Current Vercel deployment and production database status were not checked in this audit.</a:t>
            </a:r>
          </a:p>
        </p:txBody>
      </p:sp>
    </p:spTree>
    <p:extLst>
      <p:ext uri="{BB962C8B-B14F-4D97-AF65-F5344CB8AC3E}">
        <p14:creationId xmlns:p14="http://schemas.microsoft.com/office/powerpoint/2010/main" val="11259424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BD40ECB-DEAE-49B9-B3A1-630A2C8CFFD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71523231-BE58-4B68-A8BD-FF0543C0CD65}"/>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What the handoff contains</a:t>
            </a:r>
          </a:p>
        </p:txBody>
      </p:sp>
      <p:sp>
        <p:nvSpPr>
          <p:cNvPr id="3" name="">
            <a:extLst xmlns:a="http://schemas.openxmlformats.org/drawingml/2006/main">
              <a:ext uri="{FF2B5EF4-FFF2-40B4-BE49-F238E27FC236}">
                <a16:creationId xmlns:a16="http://schemas.microsoft.com/office/drawing/2014/main" id="{BDF404AA-4A0B-4F93-B733-1D7DE00D654D}"/>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515FA36B-F8B8-427F-9BA9-F08BD77A7EC5}"/>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EE7CFE9A-7592-407C-94F5-FEE1044C8ED6}"/>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0104F358-90C5-4D6D-B471-3465D74F2CB7}"/>
              </a:ext>
            </a:extLst>
          </p:cNvPr>
          <p:cNvSpPr>
            <a:spLocks xmlns:a="http://schemas.openxmlformats.org/drawingml/2006/main" noGrp="1"/>
          </p:cNvSpPr>
          <p:nvPr/>
        </p:nvSpPr>
        <p:spPr>
          <a:xfrm xmlns:a="http://schemas.openxmlformats.org/drawingml/2006/main">
            <a:off x="685800" y="118110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650" b="0">
                <a:solidFill>
                  <a:srgbClr val="53677E"/>
                </a:solidFill>
                <a:latin typeface="Arial"/>
                <a:ea typeface="Arial"/>
                <a:cs typeface="Arial"/>
              </a:defRPr>
            </a:pPr>
            <a:r>
              <a:rPr sz="1650" b="0">
                <a:solidFill>
                  <a:srgbClr val="53677E"/>
                </a:solidFill>
                <a:latin typeface="Arial"/>
                <a:ea typeface="Arial"/>
                <a:cs typeface="Arial"/>
              </a:rPr>
              <a:t>One project root keeps source, schema and jury material together.</a:t>
            </a:r>
          </a:p>
        </p:txBody>
      </p:sp>
      <p:sp>
        <p:nvSpPr>
          <p:cNvPr id="7" name="">
            <a:extLst xmlns:a="http://schemas.openxmlformats.org/drawingml/2006/main">
              <a:ext uri="{FF2B5EF4-FFF2-40B4-BE49-F238E27FC236}">
                <a16:creationId xmlns:a16="http://schemas.microsoft.com/office/drawing/2014/main" id="{C2793579-80E8-409A-85C6-977F5177B001}"/>
              </a:ext>
            </a:extLst>
          </p:cNvPr>
          <p:cNvSpPr>
            <a:spLocks xmlns:a="http://schemas.openxmlformats.org/drawingml/2006/main" noGrp="1"/>
          </p:cNvSpPr>
          <p:nvPr/>
        </p:nvSpPr>
        <p:spPr>
          <a:xfrm xmlns:a="http://schemas.openxmlformats.org/drawingml/2006/main">
            <a:off x="800100" y="1981200"/>
            <a:ext cx="2857500" cy="2876550"/>
          </a:xfrm>
          <a:prstGeom xmlns:a="http://schemas.openxmlformats.org/drawingml/2006/main" prst="roundRect">
            <a:avLst>
              <a:gd name="adj" fmla="val 4667"/>
            </a:avLst>
          </a:prstGeom>
          <a:solidFill xmlns:a="http://schemas.openxmlformats.org/drawingml/2006/main">
            <a:srgbClr val="E8F1F8"/>
          </a:solidFill>
          <a:ln xmlns:a="http://schemas.openxmlformats.org/drawingml/2006/main" w="19050">
            <a:solidFill>
              <a:srgbClr val="1F5B88"/>
            </a:solidFill>
            <a:prstDash val="solid"/>
          </a:ln>
        </p:spPr>
      </p:sp>
      <p:sp>
        <p:nvSpPr>
          <p:cNvPr id="8" name="">
            <a:extLst xmlns:a="http://schemas.openxmlformats.org/drawingml/2006/main">
              <a:ext uri="{FF2B5EF4-FFF2-40B4-BE49-F238E27FC236}">
                <a16:creationId xmlns:a16="http://schemas.microsoft.com/office/drawing/2014/main" id="{40D3A5B1-6384-4CC6-9C0C-05FC8E5F3186}"/>
              </a:ext>
            </a:extLst>
          </p:cNvPr>
          <p:cNvSpPr>
            <a:spLocks xmlns:a="http://schemas.openxmlformats.org/drawingml/2006/main" noGrp="1"/>
          </p:cNvSpPr>
          <p:nvPr/>
        </p:nvSpPr>
        <p:spPr>
          <a:xfrm xmlns:a="http://schemas.openxmlformats.org/drawingml/2006/main">
            <a:off x="914400" y="2066925"/>
            <a:ext cx="2628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75" b="1">
                <a:solidFill>
                  <a:srgbClr val="142B4B"/>
                </a:solidFill>
                <a:latin typeface="Arial"/>
                <a:ea typeface="Arial"/>
                <a:cs typeface="Arial"/>
              </a:defRPr>
            </a:pPr>
            <a:r>
              <a:rPr sz="1875" b="1">
                <a:solidFill>
                  <a:srgbClr val="142B4B"/>
                </a:solidFill>
                <a:latin typeface="Arial"/>
                <a:ea typeface="Arial"/>
                <a:cs typeface="Arial"/>
              </a:rPr>
              <a:t>AuthShield360</a:t>
            </a:r>
          </a:p>
        </p:txBody>
      </p:sp>
      <p:sp>
        <p:nvSpPr>
          <p:cNvPr id="9" name="">
            <a:extLst xmlns:a="http://schemas.openxmlformats.org/drawingml/2006/main">
              <a:ext uri="{FF2B5EF4-FFF2-40B4-BE49-F238E27FC236}">
                <a16:creationId xmlns:a16="http://schemas.microsoft.com/office/drawing/2014/main" id="{9F13FE8A-B228-4DE8-9590-ED20AC7A48F3}"/>
              </a:ext>
            </a:extLst>
          </p:cNvPr>
          <p:cNvSpPr>
            <a:spLocks xmlns:a="http://schemas.openxmlformats.org/drawingml/2006/main" noGrp="1"/>
          </p:cNvSpPr>
          <p:nvPr/>
        </p:nvSpPr>
        <p:spPr>
          <a:xfrm xmlns:a="http://schemas.openxmlformats.org/drawingml/2006/main">
            <a:off x="933450" y="2438400"/>
            <a:ext cx="25908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README and live link</a:t>
            </a:r>
          </a:p>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Django source and templates</a:t>
            </a:r>
          </a:p>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Vercel/GitHub configuration</a:t>
            </a:r>
          </a:p>
        </p:txBody>
      </p:sp>
      <p:sp>
        <p:nvSpPr>
          <p:cNvPr id="10" name="">
            <a:extLst xmlns:a="http://schemas.openxmlformats.org/drawingml/2006/main">
              <a:ext uri="{FF2B5EF4-FFF2-40B4-BE49-F238E27FC236}">
                <a16:creationId xmlns:a16="http://schemas.microsoft.com/office/drawing/2014/main" id="{9AC6ABF8-FEAB-468D-9216-ED553237E803}"/>
              </a:ext>
            </a:extLst>
          </p:cNvPr>
          <p:cNvSpPr>
            <a:spLocks xmlns:a="http://schemas.openxmlformats.org/drawingml/2006/main" noGrp="1"/>
          </p:cNvSpPr>
          <p:nvPr/>
        </p:nvSpPr>
        <p:spPr>
          <a:xfrm xmlns:a="http://schemas.openxmlformats.org/drawingml/2006/main">
            <a:off x="4457700" y="1657350"/>
            <a:ext cx="3028950" cy="1447800"/>
          </a:xfrm>
          <a:prstGeom xmlns:a="http://schemas.openxmlformats.org/drawingml/2006/main" prst="roundRect">
            <a:avLst>
              <a:gd name="adj" fmla="val 9211"/>
            </a:avLst>
          </a:prstGeom>
          <a:solidFill xmlns:a="http://schemas.openxmlformats.org/drawingml/2006/main">
            <a:srgbClr val="E9F4F2"/>
          </a:solidFill>
          <a:ln xmlns:a="http://schemas.openxmlformats.org/drawingml/2006/main" w="19050">
            <a:solidFill>
              <a:srgbClr val="07897F"/>
            </a:solidFill>
            <a:prstDash val="solid"/>
          </a:ln>
        </p:spPr>
      </p:sp>
      <p:sp>
        <p:nvSpPr>
          <p:cNvPr id="11" name="">
            <a:extLst xmlns:a="http://schemas.openxmlformats.org/drawingml/2006/main">
              <a:ext uri="{FF2B5EF4-FFF2-40B4-BE49-F238E27FC236}">
                <a16:creationId xmlns:a16="http://schemas.microsoft.com/office/drawing/2014/main" id="{A1FECA76-F2F2-42A4-B10D-0EF7B1917270}"/>
              </a:ext>
            </a:extLst>
          </p:cNvPr>
          <p:cNvSpPr>
            <a:spLocks xmlns:a="http://schemas.openxmlformats.org/drawingml/2006/main" noGrp="1"/>
          </p:cNvSpPr>
          <p:nvPr/>
        </p:nvSpPr>
        <p:spPr>
          <a:xfrm xmlns:a="http://schemas.openxmlformats.org/drawingml/2006/main">
            <a:off x="4572000" y="1743075"/>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Documentation</a:t>
            </a:r>
          </a:p>
        </p:txBody>
      </p:sp>
      <p:sp>
        <p:nvSpPr>
          <p:cNvPr id="12" name="">
            <a:extLst xmlns:a="http://schemas.openxmlformats.org/drawingml/2006/main">
              <a:ext uri="{FF2B5EF4-FFF2-40B4-BE49-F238E27FC236}">
                <a16:creationId xmlns:a16="http://schemas.microsoft.com/office/drawing/2014/main" id="{D1C0E43B-CD11-4EFA-96AB-BFE17DC1D046}"/>
              </a:ext>
            </a:extLst>
          </p:cNvPr>
          <p:cNvSpPr>
            <a:spLocks xmlns:a="http://schemas.openxmlformats.org/drawingml/2006/main" noGrp="1"/>
          </p:cNvSpPr>
          <p:nvPr/>
        </p:nvSpPr>
        <p:spPr>
          <a:xfrm xmlns:a="http://schemas.openxmlformats.org/drawingml/2006/main">
            <a:off x="4591050" y="21145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One current PDF guide</a:t>
            </a:r>
          </a:p>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One editable PowerPoint</a:t>
            </a:r>
          </a:p>
        </p:txBody>
      </p:sp>
      <p:sp>
        <p:nvSpPr>
          <p:cNvPr id="13" name="">
            <a:extLst xmlns:a="http://schemas.openxmlformats.org/drawingml/2006/main">
              <a:ext uri="{FF2B5EF4-FFF2-40B4-BE49-F238E27FC236}">
                <a16:creationId xmlns:a16="http://schemas.microsoft.com/office/drawing/2014/main" id="{1DFDA427-348A-4774-B7AA-FAF2DC1BD489}"/>
              </a:ext>
            </a:extLst>
          </p:cNvPr>
          <p:cNvSpPr>
            <a:spLocks xmlns:a="http://schemas.openxmlformats.org/drawingml/2006/main" noGrp="1"/>
          </p:cNvSpPr>
          <p:nvPr/>
        </p:nvSpPr>
        <p:spPr>
          <a:xfrm xmlns:a="http://schemas.openxmlformats.org/drawingml/2006/main">
            <a:off x="4457700" y="3495675"/>
            <a:ext cx="3028950" cy="1333500"/>
          </a:xfrm>
          <a:prstGeom xmlns:a="http://schemas.openxmlformats.org/drawingml/2006/main" prst="roundRect">
            <a:avLst>
              <a:gd name="adj" fmla="val 10000"/>
            </a:avLst>
          </a:prstGeom>
          <a:solidFill xmlns:a="http://schemas.openxmlformats.org/drawingml/2006/main">
            <a:srgbClr val="FFF7E3"/>
          </a:solidFill>
          <a:ln xmlns:a="http://schemas.openxmlformats.org/drawingml/2006/main" w="19050">
            <a:solidFill>
              <a:srgbClr val="E4A51B"/>
            </a:solidFill>
            <a:prstDash val="solid"/>
          </a:ln>
        </p:spPr>
      </p:sp>
      <p:sp>
        <p:nvSpPr>
          <p:cNvPr id="14" name="">
            <a:extLst xmlns:a="http://schemas.openxmlformats.org/drawingml/2006/main">
              <a:ext uri="{FF2B5EF4-FFF2-40B4-BE49-F238E27FC236}">
                <a16:creationId xmlns:a16="http://schemas.microsoft.com/office/drawing/2014/main" id="{AE8BDDEC-2206-40EB-984A-1AD81E0527F1}"/>
              </a:ext>
            </a:extLst>
          </p:cNvPr>
          <p:cNvSpPr>
            <a:spLocks xmlns:a="http://schemas.openxmlformats.org/drawingml/2006/main" noGrp="1"/>
          </p:cNvSpPr>
          <p:nvPr/>
        </p:nvSpPr>
        <p:spPr>
          <a:xfrm xmlns:a="http://schemas.openxmlformats.org/drawingml/2006/main">
            <a:off x="4572000" y="3581400"/>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Database</a:t>
            </a:r>
          </a:p>
        </p:txBody>
      </p:sp>
      <p:sp>
        <p:nvSpPr>
          <p:cNvPr id="15" name="">
            <a:extLst xmlns:a="http://schemas.openxmlformats.org/drawingml/2006/main">
              <a:ext uri="{FF2B5EF4-FFF2-40B4-BE49-F238E27FC236}">
                <a16:creationId xmlns:a16="http://schemas.microsoft.com/office/drawing/2014/main" id="{5240A4A6-324C-459D-A8F0-E8CA9097724F}"/>
              </a:ext>
            </a:extLst>
          </p:cNvPr>
          <p:cNvSpPr>
            <a:spLocks xmlns:a="http://schemas.openxmlformats.org/drawingml/2006/main" noGrp="1"/>
          </p:cNvSpPr>
          <p:nvPr/>
        </p:nvSpPr>
        <p:spPr>
          <a:xfrm xmlns:a="http://schemas.openxmlformats.org/drawingml/2006/main">
            <a:off x="4591050" y="3952875"/>
            <a:ext cx="276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ERD and schema handoff</a:t>
            </a:r>
          </a:p>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Django migrations remain in source</a:t>
            </a:r>
          </a:p>
        </p:txBody>
      </p:sp>
      <p:sp>
        <p:nvSpPr>
          <p:cNvPr id="16" name="">
            <a:extLst xmlns:a="http://schemas.openxmlformats.org/drawingml/2006/main">
              <a:ext uri="{FF2B5EF4-FFF2-40B4-BE49-F238E27FC236}">
                <a16:creationId xmlns:a16="http://schemas.microsoft.com/office/drawing/2014/main" id="{87F02CF8-E682-40D9-AD58-378E1102D8A3}"/>
              </a:ext>
            </a:extLst>
          </p:cNvPr>
          <p:cNvSpPr>
            <a:spLocks xmlns:a="http://schemas.openxmlformats.org/drawingml/2006/main" noGrp="1"/>
          </p:cNvSpPr>
          <p:nvPr/>
        </p:nvSpPr>
        <p:spPr>
          <a:xfrm xmlns:a="http://schemas.openxmlformats.org/drawingml/2006/main">
            <a:off x="8248650" y="1657350"/>
            <a:ext cx="3143250" cy="1447800"/>
          </a:xfrm>
          <a:prstGeom xmlns:a="http://schemas.openxmlformats.org/drawingml/2006/main" prst="roundRect">
            <a:avLst>
              <a:gd name="adj" fmla="val 9211"/>
            </a:avLst>
          </a:prstGeom>
          <a:solidFill xmlns:a="http://schemas.openxmlformats.org/drawingml/2006/main">
            <a:srgbClr val="FCEEEE"/>
          </a:solidFill>
          <a:ln xmlns:a="http://schemas.openxmlformats.org/drawingml/2006/main" w="19050">
            <a:solidFill>
              <a:srgbClr val="A33232"/>
            </a:solidFill>
            <a:prstDash val="solid"/>
          </a:ln>
        </p:spPr>
      </p:sp>
      <p:sp>
        <p:nvSpPr>
          <p:cNvPr id="17" name="">
            <a:extLst xmlns:a="http://schemas.openxmlformats.org/drawingml/2006/main">
              <a:ext uri="{FF2B5EF4-FFF2-40B4-BE49-F238E27FC236}">
                <a16:creationId xmlns:a16="http://schemas.microsoft.com/office/drawing/2014/main" id="{2F8B546B-A263-4F9E-B71D-D6E3FC90E8F2}"/>
              </a:ext>
            </a:extLst>
          </p:cNvPr>
          <p:cNvSpPr>
            <a:spLocks xmlns:a="http://schemas.openxmlformats.org/drawingml/2006/main" noGrp="1"/>
          </p:cNvSpPr>
          <p:nvPr/>
        </p:nvSpPr>
        <p:spPr>
          <a:xfrm xmlns:a="http://schemas.openxmlformats.org/drawingml/2006/main">
            <a:off x="8362950" y="1743075"/>
            <a:ext cx="291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Private local files</a:t>
            </a:r>
          </a:p>
        </p:txBody>
      </p:sp>
      <p:sp>
        <p:nvSpPr>
          <p:cNvPr id="18" name="">
            <a:extLst xmlns:a="http://schemas.openxmlformats.org/drawingml/2006/main">
              <a:ext uri="{FF2B5EF4-FFF2-40B4-BE49-F238E27FC236}">
                <a16:creationId xmlns:a16="http://schemas.microsoft.com/office/drawing/2014/main" id="{AE64B3F7-233F-439A-9BC5-C63DF98D729C}"/>
              </a:ext>
            </a:extLst>
          </p:cNvPr>
          <p:cNvSpPr>
            <a:spLocks xmlns:a="http://schemas.openxmlformats.org/drawingml/2006/main" noGrp="1"/>
          </p:cNvSpPr>
          <p:nvPr/>
        </p:nvSpPr>
        <p:spPr>
          <a:xfrm xmlns:a="http://schemas.openxmlformats.org/drawingml/2006/main">
            <a:off x="8382000" y="2114550"/>
            <a:ext cx="2876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Access workbook and portal credentials</a:t>
            </a:r>
          </a:p>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Ignored by Git and Vercel</a:t>
            </a:r>
          </a:p>
        </p:txBody>
      </p:sp>
      <p:sp>
        <p:nvSpPr>
          <p:cNvPr id="19" name="">
            <a:extLst xmlns:a="http://schemas.openxmlformats.org/drawingml/2006/main">
              <a:ext uri="{FF2B5EF4-FFF2-40B4-BE49-F238E27FC236}">
                <a16:creationId xmlns:a16="http://schemas.microsoft.com/office/drawing/2014/main" id="{5526DB12-AA7D-4FB2-A2EC-856032717F6F}"/>
              </a:ext>
            </a:extLst>
          </p:cNvPr>
          <p:cNvSpPr>
            <a:spLocks xmlns:a="http://schemas.openxmlformats.org/drawingml/2006/main" noGrp="1"/>
          </p:cNvSpPr>
          <p:nvPr/>
        </p:nvSpPr>
        <p:spPr>
          <a:xfrm xmlns:a="http://schemas.openxmlformats.org/drawingml/2006/main">
            <a:off x="8248650" y="3495675"/>
            <a:ext cx="3143250" cy="1333500"/>
          </a:xfrm>
          <a:prstGeom xmlns:a="http://schemas.openxmlformats.org/drawingml/2006/main" prst="roundRect">
            <a:avLst>
              <a:gd name="adj" fmla="val 10000"/>
            </a:avLst>
          </a:prstGeom>
          <a:solidFill xmlns:a="http://schemas.openxmlformats.org/drawingml/2006/main">
            <a:srgbClr val="F2F6FA"/>
          </a:solidFill>
          <a:ln xmlns:a="http://schemas.openxmlformats.org/drawingml/2006/main" w="19050">
            <a:solidFill>
              <a:srgbClr val="1F5B88"/>
            </a:solidFill>
            <a:prstDash val="solid"/>
          </a:ln>
        </p:spPr>
      </p:sp>
      <p:sp>
        <p:nvSpPr>
          <p:cNvPr id="20" name="">
            <a:extLst xmlns:a="http://schemas.openxmlformats.org/drawingml/2006/main">
              <a:ext uri="{FF2B5EF4-FFF2-40B4-BE49-F238E27FC236}">
                <a16:creationId xmlns:a16="http://schemas.microsoft.com/office/drawing/2014/main" id="{9891D17D-B19C-4872-BCCE-D264377F86D5}"/>
              </a:ext>
            </a:extLst>
          </p:cNvPr>
          <p:cNvSpPr>
            <a:spLocks xmlns:a="http://schemas.openxmlformats.org/drawingml/2006/main" noGrp="1"/>
          </p:cNvSpPr>
          <p:nvPr/>
        </p:nvSpPr>
        <p:spPr>
          <a:xfrm xmlns:a="http://schemas.openxmlformats.org/drawingml/2006/main">
            <a:off x="8362950" y="3581400"/>
            <a:ext cx="291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42B4B"/>
                </a:solidFill>
                <a:latin typeface="Arial"/>
                <a:ea typeface="Arial"/>
                <a:cs typeface="Arial"/>
              </a:defRPr>
            </a:pPr>
            <a:r>
              <a:rPr sz="1650" b="1">
                <a:solidFill>
                  <a:srgbClr val="142B4B"/>
                </a:solidFill>
                <a:latin typeface="Arial"/>
                <a:ea typeface="Arial"/>
                <a:cs typeface="Arial"/>
              </a:rPr>
              <a:t>Optional source</a:t>
            </a:r>
          </a:p>
        </p:txBody>
      </p:sp>
      <p:sp>
        <p:nvSpPr>
          <p:cNvPr id="21" name="">
            <a:extLst xmlns:a="http://schemas.openxmlformats.org/drawingml/2006/main">
              <a:ext uri="{FF2B5EF4-FFF2-40B4-BE49-F238E27FC236}">
                <a16:creationId xmlns:a16="http://schemas.microsoft.com/office/drawing/2014/main" id="{63DA86D5-6EDB-4BF4-A6F5-85C785C9E47B}"/>
              </a:ext>
            </a:extLst>
          </p:cNvPr>
          <p:cNvSpPr>
            <a:spLocks xmlns:a="http://schemas.openxmlformats.org/drawingml/2006/main" noGrp="1"/>
          </p:cNvSpPr>
          <p:nvPr/>
        </p:nvSpPr>
        <p:spPr>
          <a:xfrm xmlns:a="http://schemas.openxmlformats.org/drawingml/2006/main">
            <a:off x="8382000" y="3952875"/>
            <a:ext cx="28765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keycloak-vercel is source only</a:t>
            </a:r>
          </a:p>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No live Keycloak service is claimed</a:t>
            </a:r>
          </a:p>
        </p:txBody>
      </p:sp>
      <p:sp>
        <p:nvSpPr>
          <p:cNvPr id="22" name="">
            <a:extLst xmlns:a="http://schemas.openxmlformats.org/drawingml/2006/main">
              <a:ext uri="{FF2B5EF4-FFF2-40B4-BE49-F238E27FC236}">
                <a16:creationId xmlns:a16="http://schemas.microsoft.com/office/drawing/2014/main" id="{F99CAFF0-4890-4DAE-8E6A-33D46B12908B}"/>
              </a:ext>
            </a:extLst>
          </p:cNvPr>
          <p:cNvSpPr>
            <a:spLocks xmlns:a="http://schemas.openxmlformats.org/drawingml/2006/main" noGrp="1"/>
          </p:cNvSpPr>
          <p:nvPr/>
        </p:nvSpPr>
        <p:spPr>
          <a:xfrm xmlns:a="http://schemas.openxmlformats.org/drawingml/2006/main">
            <a:off x="904875" y="52578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No production database dump, video folder or APK is included.</a:t>
            </a:r>
          </a:p>
        </p:txBody>
      </p:sp>
    </p:spTree>
    <p:extLst>
      <p:ext uri="{BB962C8B-B14F-4D97-AF65-F5344CB8AC3E}">
        <p14:creationId xmlns:p14="http://schemas.microsoft.com/office/powerpoint/2010/main" val="179226784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617F27F-A6C7-417B-973F-DCF2A7D56DD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340A7E55-C9B6-40C4-B821-3CD5F111A0B7}"/>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The platforms, in plain language</a:t>
            </a:r>
          </a:p>
        </p:txBody>
      </p:sp>
      <p:sp>
        <p:nvSpPr>
          <p:cNvPr id="3" name="">
            <a:extLst xmlns:a="http://schemas.openxmlformats.org/drawingml/2006/main">
              <a:ext uri="{FF2B5EF4-FFF2-40B4-BE49-F238E27FC236}">
                <a16:creationId xmlns:a16="http://schemas.microsoft.com/office/drawing/2014/main" id="{07543A05-B2CA-4AF2-BFD7-E82E3536A7E0}"/>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CF4770BE-D29F-4CC0-8E62-056EAFED285B}"/>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9B6AC137-C520-4F37-A043-AB8463D41B81}"/>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5438BDC2-80BD-43D7-ACEA-24ED8C618C0C}"/>
              </a:ext>
            </a:extLst>
          </p:cNvPr>
          <p:cNvSpPr>
            <a:spLocks xmlns:a="http://schemas.openxmlformats.org/drawingml/2006/main" noGrp="1"/>
          </p:cNvSpPr>
          <p:nvPr/>
        </p:nvSpPr>
        <p:spPr>
          <a:xfrm xmlns:a="http://schemas.openxmlformats.org/drawingml/2006/main">
            <a:off x="685800" y="1181100"/>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650" b="0">
                <a:solidFill>
                  <a:srgbClr val="53677E"/>
                </a:solidFill>
                <a:latin typeface="Arial"/>
                <a:ea typeface="Arial"/>
                <a:cs typeface="Arial"/>
              </a:defRPr>
            </a:pPr>
            <a:r>
              <a:rPr sz="1650" b="0">
                <a:solidFill>
                  <a:srgbClr val="53677E"/>
                </a:solidFill>
                <a:latin typeface="Arial"/>
                <a:ea typeface="Arial"/>
                <a:cs typeface="Arial"/>
              </a:rPr>
              <a:t>Think of the project as a school office: each service has a focused responsibility.</a:t>
            </a:r>
          </a:p>
        </p:txBody>
      </p:sp>
      <p:sp>
        <p:nvSpPr>
          <p:cNvPr id="7" name="">
            <a:extLst xmlns:a="http://schemas.openxmlformats.org/drawingml/2006/main">
              <a:ext uri="{FF2B5EF4-FFF2-40B4-BE49-F238E27FC236}">
                <a16:creationId xmlns:a16="http://schemas.microsoft.com/office/drawing/2014/main" id="{4136AE13-0A72-4B97-9F1E-0DBD2A2220F3}"/>
              </a:ext>
            </a:extLst>
          </p:cNvPr>
          <p:cNvSpPr>
            <a:spLocks xmlns:a="http://schemas.openxmlformats.org/drawingml/2006/main" noGrp="1"/>
          </p:cNvSpPr>
          <p:nvPr/>
        </p:nvSpPr>
        <p:spPr>
          <a:xfrm xmlns:a="http://schemas.openxmlformats.org/drawingml/2006/main">
            <a:off x="685800" y="2009775"/>
            <a:ext cx="3333750" cy="1352550"/>
          </a:xfrm>
          <a:prstGeom xmlns:a="http://schemas.openxmlformats.org/drawingml/2006/main" prst="roundRect">
            <a:avLst>
              <a:gd name="adj" fmla="val 9859"/>
            </a:avLst>
          </a:prstGeom>
          <a:solidFill xmlns:a="http://schemas.openxmlformats.org/drawingml/2006/main">
            <a:srgbClr val="E8F1F8"/>
          </a:solidFill>
          <a:ln xmlns:a="http://schemas.openxmlformats.org/drawingml/2006/main" w="19050">
            <a:solidFill>
              <a:srgbClr val="1F5B88"/>
            </a:solidFill>
            <a:prstDash val="solid"/>
          </a:ln>
        </p:spPr>
      </p:sp>
      <p:sp>
        <p:nvSpPr>
          <p:cNvPr id="8" name="">
            <a:extLst xmlns:a="http://schemas.openxmlformats.org/drawingml/2006/main">
              <a:ext uri="{FF2B5EF4-FFF2-40B4-BE49-F238E27FC236}">
                <a16:creationId xmlns:a16="http://schemas.microsoft.com/office/drawing/2014/main" id="{3F15969F-2D51-4B23-B344-E525AA21285B}"/>
              </a:ext>
            </a:extLst>
          </p:cNvPr>
          <p:cNvSpPr>
            <a:spLocks xmlns:a="http://schemas.openxmlformats.org/drawingml/2006/main" noGrp="1"/>
          </p:cNvSpPr>
          <p:nvPr/>
        </p:nvSpPr>
        <p:spPr>
          <a:xfrm xmlns:a="http://schemas.openxmlformats.org/drawingml/2006/main">
            <a:off x="800100" y="2095500"/>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Django</a:t>
            </a:r>
          </a:p>
        </p:txBody>
      </p:sp>
      <p:sp>
        <p:nvSpPr>
          <p:cNvPr id="9" name="">
            <a:extLst xmlns:a="http://schemas.openxmlformats.org/drawingml/2006/main">
              <a:ext uri="{FF2B5EF4-FFF2-40B4-BE49-F238E27FC236}">
                <a16:creationId xmlns:a16="http://schemas.microsoft.com/office/drawing/2014/main" id="{9A7B2D44-BD7C-469F-A468-1CF0F26B2F1C}"/>
              </a:ext>
            </a:extLst>
          </p:cNvPr>
          <p:cNvSpPr>
            <a:spLocks xmlns:a="http://schemas.openxmlformats.org/drawingml/2006/main" noGrp="1"/>
          </p:cNvSpPr>
          <p:nvPr/>
        </p:nvSpPr>
        <p:spPr>
          <a:xfrm xmlns:a="http://schemas.openxmlformats.org/drawingml/2006/main">
            <a:off x="819150" y="246697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The web application: pages, rules, permissions and data logic.</a:t>
            </a:r>
          </a:p>
        </p:txBody>
      </p:sp>
      <p:sp>
        <p:nvSpPr>
          <p:cNvPr id="10" name="">
            <a:extLst xmlns:a="http://schemas.openxmlformats.org/drawingml/2006/main">
              <a:ext uri="{FF2B5EF4-FFF2-40B4-BE49-F238E27FC236}">
                <a16:creationId xmlns:a16="http://schemas.microsoft.com/office/drawing/2014/main" id="{F5A1A9C1-1382-4000-B891-AD0B0963392F}"/>
              </a:ext>
            </a:extLst>
          </p:cNvPr>
          <p:cNvSpPr>
            <a:spLocks xmlns:a="http://schemas.openxmlformats.org/drawingml/2006/main" noGrp="1"/>
          </p:cNvSpPr>
          <p:nvPr/>
        </p:nvSpPr>
        <p:spPr>
          <a:xfrm xmlns:a="http://schemas.openxmlformats.org/drawingml/2006/main">
            <a:off x="4400550" y="2009775"/>
            <a:ext cx="3333750" cy="1352550"/>
          </a:xfrm>
          <a:prstGeom xmlns:a="http://schemas.openxmlformats.org/drawingml/2006/main" prst="roundRect">
            <a:avLst>
              <a:gd name="adj" fmla="val 9859"/>
            </a:avLst>
          </a:prstGeom>
          <a:solidFill xmlns:a="http://schemas.openxmlformats.org/drawingml/2006/main">
            <a:srgbClr val="E9F4F2"/>
          </a:solidFill>
          <a:ln xmlns:a="http://schemas.openxmlformats.org/drawingml/2006/main" w="19050">
            <a:solidFill>
              <a:srgbClr val="07897F"/>
            </a:solidFill>
            <a:prstDash val="solid"/>
          </a:ln>
        </p:spPr>
      </p:sp>
      <p:sp>
        <p:nvSpPr>
          <p:cNvPr id="11" name="">
            <a:extLst xmlns:a="http://schemas.openxmlformats.org/drawingml/2006/main">
              <a:ext uri="{FF2B5EF4-FFF2-40B4-BE49-F238E27FC236}">
                <a16:creationId xmlns:a16="http://schemas.microsoft.com/office/drawing/2014/main" id="{0F82A709-E2EE-4E7C-8A60-B2EFB8D7820A}"/>
              </a:ext>
            </a:extLst>
          </p:cNvPr>
          <p:cNvSpPr>
            <a:spLocks xmlns:a="http://schemas.openxmlformats.org/drawingml/2006/main" noGrp="1"/>
          </p:cNvSpPr>
          <p:nvPr/>
        </p:nvSpPr>
        <p:spPr>
          <a:xfrm xmlns:a="http://schemas.openxmlformats.org/drawingml/2006/main">
            <a:off x="4514850" y="2095500"/>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PostgreSQL / Neon</a:t>
            </a:r>
          </a:p>
        </p:txBody>
      </p:sp>
      <p:sp>
        <p:nvSpPr>
          <p:cNvPr id="12" name="">
            <a:extLst xmlns:a="http://schemas.openxmlformats.org/drawingml/2006/main">
              <a:ext uri="{FF2B5EF4-FFF2-40B4-BE49-F238E27FC236}">
                <a16:creationId xmlns:a16="http://schemas.microsoft.com/office/drawing/2014/main" id="{12115DF6-AD1F-4CCD-BE91-9B9FC046FAA2}"/>
              </a:ext>
            </a:extLst>
          </p:cNvPr>
          <p:cNvSpPr>
            <a:spLocks xmlns:a="http://schemas.openxmlformats.org/drawingml/2006/main" noGrp="1"/>
          </p:cNvSpPr>
          <p:nvPr/>
        </p:nvSpPr>
        <p:spPr>
          <a:xfrm xmlns:a="http://schemas.openxmlformats.org/drawingml/2006/main">
            <a:off x="4533900" y="246697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A relational database; Neon hosts the database online.</a:t>
            </a:r>
          </a:p>
        </p:txBody>
      </p:sp>
      <p:sp>
        <p:nvSpPr>
          <p:cNvPr id="13" name="">
            <a:extLst xmlns:a="http://schemas.openxmlformats.org/drawingml/2006/main">
              <a:ext uri="{FF2B5EF4-FFF2-40B4-BE49-F238E27FC236}">
                <a16:creationId xmlns:a16="http://schemas.microsoft.com/office/drawing/2014/main" id="{585AB72D-B4B4-4528-AF3C-B17E7025852E}"/>
              </a:ext>
            </a:extLst>
          </p:cNvPr>
          <p:cNvSpPr>
            <a:spLocks xmlns:a="http://schemas.openxmlformats.org/drawingml/2006/main" noGrp="1"/>
          </p:cNvSpPr>
          <p:nvPr/>
        </p:nvSpPr>
        <p:spPr>
          <a:xfrm xmlns:a="http://schemas.openxmlformats.org/drawingml/2006/main">
            <a:off x="8115300" y="2009775"/>
            <a:ext cx="3333750" cy="1352550"/>
          </a:xfrm>
          <a:prstGeom xmlns:a="http://schemas.openxmlformats.org/drawingml/2006/main" prst="roundRect">
            <a:avLst>
              <a:gd name="adj" fmla="val 9859"/>
            </a:avLst>
          </a:prstGeom>
          <a:solidFill xmlns:a="http://schemas.openxmlformats.org/drawingml/2006/main">
            <a:srgbClr val="FFF7E3"/>
          </a:solidFill>
          <a:ln xmlns:a="http://schemas.openxmlformats.org/drawingml/2006/main" w="19050">
            <a:solidFill>
              <a:srgbClr val="E4A51B"/>
            </a:solidFill>
            <a:prstDash val="solid"/>
          </a:ln>
        </p:spPr>
      </p:sp>
      <p:sp>
        <p:nvSpPr>
          <p:cNvPr id="14" name="">
            <a:extLst xmlns:a="http://schemas.openxmlformats.org/drawingml/2006/main">
              <a:ext uri="{FF2B5EF4-FFF2-40B4-BE49-F238E27FC236}">
                <a16:creationId xmlns:a16="http://schemas.microsoft.com/office/drawing/2014/main" id="{9C42AB33-814C-4E30-BEB6-42738C426672}"/>
              </a:ext>
            </a:extLst>
          </p:cNvPr>
          <p:cNvSpPr>
            <a:spLocks xmlns:a="http://schemas.openxmlformats.org/drawingml/2006/main" noGrp="1"/>
          </p:cNvSpPr>
          <p:nvPr/>
        </p:nvSpPr>
        <p:spPr>
          <a:xfrm xmlns:a="http://schemas.openxmlformats.org/drawingml/2006/main">
            <a:off x="8229600" y="2095500"/>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Firebase Auth</a:t>
            </a:r>
          </a:p>
        </p:txBody>
      </p:sp>
      <p:sp>
        <p:nvSpPr>
          <p:cNvPr id="15" name="">
            <a:extLst xmlns:a="http://schemas.openxmlformats.org/drawingml/2006/main">
              <a:ext uri="{FF2B5EF4-FFF2-40B4-BE49-F238E27FC236}">
                <a16:creationId xmlns:a16="http://schemas.microsoft.com/office/drawing/2014/main" id="{645EBAA5-5B46-402C-B49A-D1CFCE491D8D}"/>
              </a:ext>
            </a:extLst>
          </p:cNvPr>
          <p:cNvSpPr>
            <a:spLocks xmlns:a="http://schemas.openxmlformats.org/drawingml/2006/main" noGrp="1"/>
          </p:cNvSpPr>
          <p:nvPr/>
        </p:nvSpPr>
        <p:spPr>
          <a:xfrm xmlns:a="http://schemas.openxmlformats.org/drawingml/2006/main">
            <a:off x="8248650" y="246697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Checks phone possession and delivers the SMS challenge.</a:t>
            </a:r>
          </a:p>
        </p:txBody>
      </p:sp>
      <p:sp>
        <p:nvSpPr>
          <p:cNvPr id="16" name="">
            <a:extLst xmlns:a="http://schemas.openxmlformats.org/drawingml/2006/main">
              <a:ext uri="{FF2B5EF4-FFF2-40B4-BE49-F238E27FC236}">
                <a16:creationId xmlns:a16="http://schemas.microsoft.com/office/drawing/2014/main" id="{33090BAA-683A-42E5-B4A7-3629979EC0F8}"/>
              </a:ext>
            </a:extLst>
          </p:cNvPr>
          <p:cNvSpPr>
            <a:spLocks xmlns:a="http://schemas.openxmlformats.org/drawingml/2006/main" noGrp="1"/>
          </p:cNvSpPr>
          <p:nvPr/>
        </p:nvSpPr>
        <p:spPr>
          <a:xfrm xmlns:a="http://schemas.openxmlformats.org/drawingml/2006/main">
            <a:off x="685800" y="3724275"/>
            <a:ext cx="3333750" cy="1352550"/>
          </a:xfrm>
          <a:prstGeom xmlns:a="http://schemas.openxmlformats.org/drawingml/2006/main" prst="roundRect">
            <a:avLst>
              <a:gd name="adj" fmla="val 9859"/>
            </a:avLst>
          </a:prstGeom>
          <a:solidFill xmlns:a="http://schemas.openxmlformats.org/drawingml/2006/main">
            <a:srgbClr val="F2F6FA"/>
          </a:solidFill>
          <a:ln xmlns:a="http://schemas.openxmlformats.org/drawingml/2006/main" w="19050">
            <a:solidFill>
              <a:srgbClr val="1F5B88"/>
            </a:solidFill>
            <a:prstDash val="solid"/>
          </a:ln>
        </p:spPr>
      </p:sp>
      <p:sp>
        <p:nvSpPr>
          <p:cNvPr id="17" name="">
            <a:extLst xmlns:a="http://schemas.openxmlformats.org/drawingml/2006/main">
              <a:ext uri="{FF2B5EF4-FFF2-40B4-BE49-F238E27FC236}">
                <a16:creationId xmlns:a16="http://schemas.microsoft.com/office/drawing/2014/main" id="{1C760514-7EF6-4B65-A473-3AAAB9F56836}"/>
              </a:ext>
            </a:extLst>
          </p:cNvPr>
          <p:cNvSpPr>
            <a:spLocks xmlns:a="http://schemas.openxmlformats.org/drawingml/2006/main" noGrp="1"/>
          </p:cNvSpPr>
          <p:nvPr/>
        </p:nvSpPr>
        <p:spPr>
          <a:xfrm xmlns:a="http://schemas.openxmlformats.org/drawingml/2006/main">
            <a:off x="800100" y="3810000"/>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GitHub</a:t>
            </a:r>
          </a:p>
        </p:txBody>
      </p:sp>
      <p:sp>
        <p:nvSpPr>
          <p:cNvPr id="18" name="">
            <a:extLst xmlns:a="http://schemas.openxmlformats.org/drawingml/2006/main">
              <a:ext uri="{FF2B5EF4-FFF2-40B4-BE49-F238E27FC236}">
                <a16:creationId xmlns:a16="http://schemas.microsoft.com/office/drawing/2014/main" id="{30240651-8167-4C71-8E1B-B4A6904A467C}"/>
              </a:ext>
            </a:extLst>
          </p:cNvPr>
          <p:cNvSpPr>
            <a:spLocks xmlns:a="http://schemas.openxmlformats.org/drawingml/2006/main" noGrp="1"/>
          </p:cNvSpPr>
          <p:nvPr/>
        </p:nvSpPr>
        <p:spPr>
          <a:xfrm xmlns:a="http://schemas.openxmlformats.org/drawingml/2006/main">
            <a:off x="819150" y="418147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Stores source history and runs automated checks.</a:t>
            </a:r>
          </a:p>
        </p:txBody>
      </p:sp>
      <p:sp>
        <p:nvSpPr>
          <p:cNvPr id="19" name="">
            <a:extLst xmlns:a="http://schemas.openxmlformats.org/drawingml/2006/main">
              <a:ext uri="{FF2B5EF4-FFF2-40B4-BE49-F238E27FC236}">
                <a16:creationId xmlns:a16="http://schemas.microsoft.com/office/drawing/2014/main" id="{B5BBB158-2B68-4A70-BE29-DDE07A2FFC54}"/>
              </a:ext>
            </a:extLst>
          </p:cNvPr>
          <p:cNvSpPr>
            <a:spLocks xmlns:a="http://schemas.openxmlformats.org/drawingml/2006/main" noGrp="1"/>
          </p:cNvSpPr>
          <p:nvPr/>
        </p:nvSpPr>
        <p:spPr>
          <a:xfrm xmlns:a="http://schemas.openxmlformats.org/drawingml/2006/main">
            <a:off x="4400550" y="3724275"/>
            <a:ext cx="3333750" cy="1352550"/>
          </a:xfrm>
          <a:prstGeom xmlns:a="http://schemas.openxmlformats.org/drawingml/2006/main" prst="roundRect">
            <a:avLst>
              <a:gd name="adj" fmla="val 9859"/>
            </a:avLst>
          </a:prstGeom>
          <a:solidFill xmlns:a="http://schemas.openxmlformats.org/drawingml/2006/main">
            <a:srgbClr val="E9F4F2"/>
          </a:solidFill>
          <a:ln xmlns:a="http://schemas.openxmlformats.org/drawingml/2006/main" w="19050">
            <a:solidFill>
              <a:srgbClr val="07897F"/>
            </a:solidFill>
            <a:prstDash val="solid"/>
          </a:ln>
        </p:spPr>
      </p:sp>
      <p:sp>
        <p:nvSpPr>
          <p:cNvPr id="20" name="">
            <a:extLst xmlns:a="http://schemas.openxmlformats.org/drawingml/2006/main">
              <a:ext uri="{FF2B5EF4-FFF2-40B4-BE49-F238E27FC236}">
                <a16:creationId xmlns:a16="http://schemas.microsoft.com/office/drawing/2014/main" id="{AA246DDB-E2DA-4B26-B15F-DF8821269715}"/>
              </a:ext>
            </a:extLst>
          </p:cNvPr>
          <p:cNvSpPr>
            <a:spLocks xmlns:a="http://schemas.openxmlformats.org/drawingml/2006/main" noGrp="1"/>
          </p:cNvSpPr>
          <p:nvPr/>
        </p:nvSpPr>
        <p:spPr>
          <a:xfrm xmlns:a="http://schemas.openxmlformats.org/drawingml/2006/main">
            <a:off x="4514850" y="3810000"/>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Vercel</a:t>
            </a:r>
          </a:p>
        </p:txBody>
      </p:sp>
      <p:sp>
        <p:nvSpPr>
          <p:cNvPr id="21" name="">
            <a:extLst xmlns:a="http://schemas.openxmlformats.org/drawingml/2006/main">
              <a:ext uri="{FF2B5EF4-FFF2-40B4-BE49-F238E27FC236}">
                <a16:creationId xmlns:a16="http://schemas.microsoft.com/office/drawing/2014/main" id="{412488A9-0F54-479E-8347-FC0F83F9C264}"/>
              </a:ext>
            </a:extLst>
          </p:cNvPr>
          <p:cNvSpPr>
            <a:spLocks xmlns:a="http://schemas.openxmlformats.org/drawingml/2006/main" noGrp="1"/>
          </p:cNvSpPr>
          <p:nvPr/>
        </p:nvSpPr>
        <p:spPr>
          <a:xfrm xmlns:a="http://schemas.openxmlformats.org/drawingml/2006/main">
            <a:off x="4533900" y="418147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Builds and hosts the web app when connected and configured.</a:t>
            </a:r>
          </a:p>
        </p:txBody>
      </p:sp>
      <p:sp>
        <p:nvSpPr>
          <p:cNvPr id="22" name="">
            <a:extLst xmlns:a="http://schemas.openxmlformats.org/drawingml/2006/main">
              <a:ext uri="{FF2B5EF4-FFF2-40B4-BE49-F238E27FC236}">
                <a16:creationId xmlns:a16="http://schemas.microsoft.com/office/drawing/2014/main" id="{D529DD6F-35BD-419C-AAFE-8F5743EA5993}"/>
              </a:ext>
            </a:extLst>
          </p:cNvPr>
          <p:cNvSpPr>
            <a:spLocks xmlns:a="http://schemas.openxmlformats.org/drawingml/2006/main" noGrp="1"/>
          </p:cNvSpPr>
          <p:nvPr/>
        </p:nvSpPr>
        <p:spPr>
          <a:xfrm xmlns:a="http://schemas.openxmlformats.org/drawingml/2006/main">
            <a:off x="8115300" y="3724275"/>
            <a:ext cx="3333750" cy="1352550"/>
          </a:xfrm>
          <a:prstGeom xmlns:a="http://schemas.openxmlformats.org/drawingml/2006/main" prst="roundRect">
            <a:avLst>
              <a:gd name="adj" fmla="val 9859"/>
            </a:avLst>
          </a:prstGeom>
          <a:solidFill xmlns:a="http://schemas.openxmlformats.org/drawingml/2006/main">
            <a:srgbClr val="F2F6FA"/>
          </a:solidFill>
          <a:ln xmlns:a="http://schemas.openxmlformats.org/drawingml/2006/main" w="19050">
            <a:solidFill>
              <a:srgbClr val="53677E"/>
            </a:solidFill>
            <a:prstDash val="solid"/>
          </a:ln>
        </p:spPr>
      </p:sp>
      <p:sp>
        <p:nvSpPr>
          <p:cNvPr id="23" name="">
            <a:extLst xmlns:a="http://schemas.openxmlformats.org/drawingml/2006/main">
              <a:ext uri="{FF2B5EF4-FFF2-40B4-BE49-F238E27FC236}">
                <a16:creationId xmlns:a16="http://schemas.microsoft.com/office/drawing/2014/main" id="{7BAFE877-0330-4EFA-AA9D-6EA1944CD38A}"/>
              </a:ext>
            </a:extLst>
          </p:cNvPr>
          <p:cNvSpPr>
            <a:spLocks xmlns:a="http://schemas.openxmlformats.org/drawingml/2006/main" noGrp="1"/>
          </p:cNvSpPr>
          <p:nvPr/>
        </p:nvSpPr>
        <p:spPr>
          <a:xfrm xmlns:a="http://schemas.openxmlformats.org/drawingml/2006/main">
            <a:off x="8229600" y="3810000"/>
            <a:ext cx="310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142B4B"/>
                </a:solidFill>
                <a:latin typeface="Arial"/>
                <a:ea typeface="Arial"/>
                <a:cs typeface="Arial"/>
              </a:defRPr>
            </a:pPr>
            <a:r>
              <a:rPr sz="1725" b="1">
                <a:solidFill>
                  <a:srgbClr val="142B4B"/>
                </a:solidFill>
                <a:latin typeface="Arial"/>
                <a:ea typeface="Arial"/>
                <a:cs typeface="Arial"/>
              </a:rPr>
              <a:t>Keycloak</a:t>
            </a:r>
          </a:p>
        </p:txBody>
      </p:sp>
      <p:sp>
        <p:nvSpPr>
          <p:cNvPr id="24" name="">
            <a:extLst xmlns:a="http://schemas.openxmlformats.org/drawingml/2006/main">
              <a:ext uri="{FF2B5EF4-FFF2-40B4-BE49-F238E27FC236}">
                <a16:creationId xmlns:a16="http://schemas.microsoft.com/office/drawing/2014/main" id="{27DAFD08-D3A0-49E3-9DCB-CBF18FB6A314}"/>
              </a:ext>
            </a:extLst>
          </p:cNvPr>
          <p:cNvSpPr>
            <a:spLocks xmlns:a="http://schemas.openxmlformats.org/drawingml/2006/main" noGrp="1"/>
          </p:cNvSpPr>
          <p:nvPr/>
        </p:nvSpPr>
        <p:spPr>
          <a:xfrm xmlns:a="http://schemas.openxmlformats.org/drawingml/2006/main">
            <a:off x="8248650" y="418147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b="0">
                <a:solidFill>
                  <a:srgbClr val="53677E"/>
                </a:solidFill>
                <a:latin typeface="Arial"/>
                <a:ea typeface="Arial"/>
                <a:cs typeface="Arial"/>
              </a:defRPr>
            </a:pPr>
            <a:r>
              <a:rPr sz="1425" b="0">
                <a:solidFill>
                  <a:srgbClr val="53677E"/>
                </a:solidFill>
                <a:latin typeface="Arial"/>
                <a:ea typeface="Arial"/>
                <a:cs typeface="Arial"/>
              </a:rPr>
              <a:t>Optional identity server; not required for Firebase SMS.</a:t>
            </a:r>
          </a:p>
        </p:txBody>
      </p:sp>
      <p:sp>
        <p:nvSpPr>
          <p:cNvPr id="25" name="">
            <a:extLst xmlns:a="http://schemas.openxmlformats.org/drawingml/2006/main">
              <a:ext uri="{FF2B5EF4-FFF2-40B4-BE49-F238E27FC236}">
                <a16:creationId xmlns:a16="http://schemas.microsoft.com/office/drawing/2014/main" id="{65B998A3-D9FC-49BF-B394-C12458C4D156}"/>
              </a:ext>
            </a:extLst>
          </p:cNvPr>
          <p:cNvSpPr>
            <a:spLocks xmlns:a="http://schemas.openxmlformats.org/drawingml/2006/main" noGrp="1"/>
          </p:cNvSpPr>
          <p:nvPr/>
        </p:nvSpPr>
        <p:spPr>
          <a:xfrm xmlns:a="http://schemas.openxmlformats.org/drawingml/2006/main">
            <a:off x="857250" y="56959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350" b="0">
                <a:solidFill>
                  <a:srgbClr val="53677E"/>
                </a:solidFill>
                <a:latin typeface="Arial"/>
                <a:ea typeface="Arial"/>
                <a:cs typeface="Arial"/>
              </a:defRPr>
            </a:pPr>
            <a:r>
              <a:rPr sz="1350" b="0">
                <a:solidFill>
                  <a:srgbClr val="53677E"/>
                </a:solidFill>
                <a:latin typeface="Arial"/>
                <a:ea typeface="Arial"/>
                <a:cs typeface="Arial"/>
              </a:rPr>
              <a:t>Team-reported Firebase credits: USD 300. Balance and current eligibility were not verified.</a:t>
            </a:r>
          </a:p>
        </p:txBody>
      </p:sp>
    </p:spTree>
    <p:extLst>
      <p:ext uri="{BB962C8B-B14F-4D97-AF65-F5344CB8AC3E}">
        <p14:creationId xmlns:p14="http://schemas.microsoft.com/office/powerpoint/2010/main" val="108359089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B60FF98-03BB-4F7F-9B34-36CDFEBDE7E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34426069-6F85-484E-B1B0-FCE888246983}"/>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What the checks do and do not prove</a:t>
            </a:r>
          </a:p>
        </p:txBody>
      </p:sp>
      <p:sp>
        <p:nvSpPr>
          <p:cNvPr id="3" name="">
            <a:extLst xmlns:a="http://schemas.openxmlformats.org/drawingml/2006/main">
              <a:ext uri="{FF2B5EF4-FFF2-40B4-BE49-F238E27FC236}">
                <a16:creationId xmlns:a16="http://schemas.microsoft.com/office/drawing/2014/main" id="{4D9A23C7-C33A-4EF6-828A-F2E6AA88229A}"/>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94C80928-305E-40E1-8F54-720F774FCA54}"/>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7B575434-B31F-470F-87B0-A5B11C471A05}"/>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18</a:t>
            </a:r>
          </a:p>
        </p:txBody>
      </p:sp>
      <p:sp>
        <p:nvSpPr>
          <p:cNvPr id="6" name="">
            <a:extLst xmlns:a="http://schemas.openxmlformats.org/drawingml/2006/main">
              <a:ext uri="{FF2B5EF4-FFF2-40B4-BE49-F238E27FC236}">
                <a16:creationId xmlns:a16="http://schemas.microsoft.com/office/drawing/2014/main" id="{0B08757C-6386-44B1-AB25-F604322CCCB2}"/>
              </a:ext>
            </a:extLst>
          </p:cNvPr>
          <p:cNvSpPr>
            <a:spLocks xmlns:a="http://schemas.openxmlformats.org/drawingml/2006/main" noGrp="1"/>
          </p:cNvSpPr>
          <p:nvPr/>
        </p:nvSpPr>
        <p:spPr>
          <a:xfrm xmlns:a="http://schemas.openxmlformats.org/drawingml/2006/main">
            <a:off x="714375" y="1714500"/>
            <a:ext cx="4905375" cy="3238500"/>
          </a:xfrm>
          <a:prstGeom xmlns:a="http://schemas.openxmlformats.org/drawingml/2006/main" prst="roundRect">
            <a:avLst>
              <a:gd name="adj" fmla="val 4118"/>
            </a:avLst>
          </a:prstGeom>
          <a:solidFill xmlns:a="http://schemas.openxmlformats.org/drawingml/2006/main">
            <a:srgbClr val="E9F4F2"/>
          </a:solidFill>
          <a:ln xmlns:a="http://schemas.openxmlformats.org/drawingml/2006/main" w="19050">
            <a:solidFill>
              <a:srgbClr val="07897F"/>
            </a:solidFill>
            <a:prstDash val="solid"/>
          </a:ln>
        </p:spPr>
      </p:sp>
      <p:sp>
        <p:nvSpPr>
          <p:cNvPr id="7" name="">
            <a:extLst xmlns:a="http://schemas.openxmlformats.org/drawingml/2006/main">
              <a:ext uri="{FF2B5EF4-FFF2-40B4-BE49-F238E27FC236}">
                <a16:creationId xmlns:a16="http://schemas.microsoft.com/office/drawing/2014/main" id="{5FD16593-298D-495D-8381-1483AA1FD714}"/>
              </a:ext>
            </a:extLst>
          </p:cNvPr>
          <p:cNvSpPr>
            <a:spLocks xmlns:a="http://schemas.openxmlformats.org/drawingml/2006/main" noGrp="1"/>
          </p:cNvSpPr>
          <p:nvPr/>
        </p:nvSpPr>
        <p:spPr>
          <a:xfrm xmlns:a="http://schemas.openxmlformats.org/drawingml/2006/main">
            <a:off x="828675" y="1800225"/>
            <a:ext cx="4676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75" b="1">
                <a:solidFill>
                  <a:srgbClr val="142B4B"/>
                </a:solidFill>
                <a:latin typeface="Arial"/>
                <a:ea typeface="Arial"/>
                <a:cs typeface="Arial"/>
              </a:defRPr>
            </a:pPr>
            <a:r>
              <a:rPr sz="1875" b="1">
                <a:solidFill>
                  <a:srgbClr val="142B4B"/>
                </a:solidFill>
                <a:latin typeface="Arial"/>
                <a:ea typeface="Arial"/>
                <a:cs typeface="Arial"/>
              </a:rPr>
              <a:t>Checked locally</a:t>
            </a:r>
          </a:p>
        </p:txBody>
      </p:sp>
      <p:sp>
        <p:nvSpPr>
          <p:cNvPr id="8" name="">
            <a:extLst xmlns:a="http://schemas.openxmlformats.org/drawingml/2006/main">
              <a:ext uri="{FF2B5EF4-FFF2-40B4-BE49-F238E27FC236}">
                <a16:creationId xmlns:a16="http://schemas.microsoft.com/office/drawing/2014/main" id="{206151A5-AC97-4DFA-954C-903BC1C3ED05}"/>
              </a:ext>
            </a:extLst>
          </p:cNvPr>
          <p:cNvSpPr>
            <a:spLocks xmlns:a="http://schemas.openxmlformats.org/drawingml/2006/main" noGrp="1"/>
          </p:cNvSpPr>
          <p:nvPr/>
        </p:nvSpPr>
        <p:spPr>
          <a:xfrm xmlns:a="http://schemas.openxmlformats.org/drawingml/2006/main">
            <a:off x="847725" y="2171700"/>
            <a:ext cx="4638675"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Django automated tests</a:t>
            </a:r>
          </a:p>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Ruff lint checks</a:t>
            </a:r>
          </a:p>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Django configuration checks</a:t>
            </a:r>
          </a:p>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Migration drift check</a:t>
            </a:r>
          </a:p>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Changed-code security review</a:t>
            </a:r>
          </a:p>
        </p:txBody>
      </p:sp>
      <p:sp>
        <p:nvSpPr>
          <p:cNvPr id="9" name="">
            <a:extLst xmlns:a="http://schemas.openxmlformats.org/drawingml/2006/main">
              <a:ext uri="{FF2B5EF4-FFF2-40B4-BE49-F238E27FC236}">
                <a16:creationId xmlns:a16="http://schemas.microsoft.com/office/drawing/2014/main" id="{138AD1D9-D6DA-45F4-AFA6-A1D1A0647220}"/>
              </a:ext>
            </a:extLst>
          </p:cNvPr>
          <p:cNvSpPr>
            <a:spLocks xmlns:a="http://schemas.openxmlformats.org/drawingml/2006/main" noGrp="1"/>
          </p:cNvSpPr>
          <p:nvPr/>
        </p:nvSpPr>
        <p:spPr>
          <a:xfrm xmlns:a="http://schemas.openxmlformats.org/drawingml/2006/main">
            <a:off x="6572250" y="1714500"/>
            <a:ext cx="4905375" cy="3238500"/>
          </a:xfrm>
          <a:prstGeom xmlns:a="http://schemas.openxmlformats.org/drawingml/2006/main" prst="roundRect">
            <a:avLst>
              <a:gd name="adj" fmla="val 4118"/>
            </a:avLst>
          </a:prstGeom>
          <a:solidFill xmlns:a="http://schemas.openxmlformats.org/drawingml/2006/main">
            <a:srgbClr val="FFF7E3"/>
          </a:solidFill>
          <a:ln xmlns:a="http://schemas.openxmlformats.org/drawingml/2006/main" w="19050">
            <a:solidFill>
              <a:srgbClr val="E4A51B"/>
            </a:solidFill>
            <a:prstDash val="solid"/>
          </a:ln>
        </p:spPr>
      </p:sp>
      <p:sp>
        <p:nvSpPr>
          <p:cNvPr id="10" name="">
            <a:extLst xmlns:a="http://schemas.openxmlformats.org/drawingml/2006/main">
              <a:ext uri="{FF2B5EF4-FFF2-40B4-BE49-F238E27FC236}">
                <a16:creationId xmlns:a16="http://schemas.microsoft.com/office/drawing/2014/main" id="{BBEC2830-838B-4FFA-9A5F-2B160CCFD28A}"/>
              </a:ext>
            </a:extLst>
          </p:cNvPr>
          <p:cNvSpPr>
            <a:spLocks xmlns:a="http://schemas.openxmlformats.org/drawingml/2006/main" noGrp="1"/>
          </p:cNvSpPr>
          <p:nvPr/>
        </p:nvSpPr>
        <p:spPr>
          <a:xfrm xmlns:a="http://schemas.openxmlformats.org/drawingml/2006/main">
            <a:off x="6686550" y="1800225"/>
            <a:ext cx="4676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75" b="1">
                <a:solidFill>
                  <a:srgbClr val="142B4B"/>
                </a:solidFill>
                <a:latin typeface="Arial"/>
                <a:ea typeface="Arial"/>
                <a:cs typeface="Arial"/>
              </a:defRPr>
            </a:pPr>
            <a:r>
              <a:rPr sz="1875" b="1">
                <a:solidFill>
                  <a:srgbClr val="142B4B"/>
                </a:solidFill>
                <a:latin typeface="Arial"/>
                <a:ea typeface="Arial"/>
                <a:cs typeface="Arial"/>
              </a:rPr>
              <a:t>Not checked live</a:t>
            </a:r>
          </a:p>
        </p:txBody>
      </p:sp>
      <p:sp>
        <p:nvSpPr>
          <p:cNvPr id="11" name="">
            <a:extLst xmlns:a="http://schemas.openxmlformats.org/drawingml/2006/main">
              <a:ext uri="{FF2B5EF4-FFF2-40B4-BE49-F238E27FC236}">
                <a16:creationId xmlns:a16="http://schemas.microsoft.com/office/drawing/2014/main" id="{06596D84-25B7-43FE-BEFC-7C78FED69565}"/>
              </a:ext>
            </a:extLst>
          </p:cNvPr>
          <p:cNvSpPr>
            <a:spLocks xmlns:a="http://schemas.openxmlformats.org/drawingml/2006/main" noGrp="1"/>
          </p:cNvSpPr>
          <p:nvPr/>
        </p:nvSpPr>
        <p:spPr>
          <a:xfrm xmlns:a="http://schemas.openxmlformats.org/drawingml/2006/main">
            <a:off x="6705600" y="2171700"/>
            <a:ext cx="4638675"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Real SMS or email delivery</a:t>
            </a:r>
          </a:p>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Production sign-in or admin access</a:t>
            </a:r>
          </a:p>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Live Vercel deployment state</a:t>
            </a:r>
          </a:p>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Neon production data, migration or restore</a:t>
            </a:r>
          </a:p>
          <a:p xmlns:a="http://schemas.openxmlformats.org/drawingml/2006/main">
            <a:pPr algn="ctr">
              <a:defRPr sz="1650" b="0">
                <a:solidFill>
                  <a:srgbClr val="53677E"/>
                </a:solidFill>
                <a:latin typeface="Arial"/>
                <a:ea typeface="Arial"/>
                <a:cs typeface="Arial"/>
              </a:defRPr>
            </a:pPr>
            <a:r>
              <a:rPr sz="1650" b="0">
                <a:solidFill>
                  <a:srgbClr val="53677E"/>
                </a:solidFill>
                <a:latin typeface="Arial"/>
                <a:ea typeface="Arial"/>
                <a:cs typeface="Arial"/>
              </a:rPr>
              <a:t>Keycloak realm, Admin API or MFA behavior</a:t>
            </a:r>
          </a:p>
        </p:txBody>
      </p:sp>
      <p:sp>
        <p:nvSpPr>
          <p:cNvPr id="12" name="">
            <a:extLst xmlns:a="http://schemas.openxmlformats.org/drawingml/2006/main">
              <a:ext uri="{FF2B5EF4-FFF2-40B4-BE49-F238E27FC236}">
                <a16:creationId xmlns:a16="http://schemas.microsoft.com/office/drawing/2014/main" id="{E07FD304-E0EE-4A50-82BE-A5D22D88605C}"/>
              </a:ext>
            </a:extLst>
          </p:cNvPr>
          <p:cNvSpPr>
            <a:spLocks xmlns:a="http://schemas.openxmlformats.org/drawingml/2006/main" noGrp="1"/>
          </p:cNvSpPr>
          <p:nvPr/>
        </p:nvSpPr>
        <p:spPr>
          <a:xfrm xmlns:a="http://schemas.openxmlformats.org/drawingml/2006/main">
            <a:off x="914400" y="5400675"/>
            <a:ext cx="1036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42B4B"/>
                </a:solidFill>
                <a:latin typeface="Arial"/>
                <a:ea typeface="Arial"/>
                <a:cs typeface="Arial"/>
              </a:defRPr>
            </a:pPr>
            <a:r>
              <a:rPr sz="1575" b="1">
                <a:solidFill>
                  <a:srgbClr val="142B4B"/>
                </a:solidFill>
                <a:latin typeface="Arial"/>
                <a:ea typeface="Arial"/>
                <a:cs typeface="Arial"/>
              </a:rPr>
              <a:t>A clean local review is useful evidence, not a security certification or a promise that no attack can succeed.</a:t>
            </a:r>
          </a:p>
        </p:txBody>
      </p:sp>
    </p:spTree>
    <p:extLst>
      <p:ext uri="{BB962C8B-B14F-4D97-AF65-F5344CB8AC3E}">
        <p14:creationId xmlns:p14="http://schemas.microsoft.com/office/powerpoint/2010/main" val="13286650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C365C54-D5C7-42F1-9E48-82213654D91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D50499F3-0A79-4302-9ACC-DD7A02FEAB18}"/>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Jury questions: concise answers</a:t>
            </a:r>
          </a:p>
        </p:txBody>
      </p:sp>
      <p:sp>
        <p:nvSpPr>
          <p:cNvPr id="3" name="">
            <a:extLst xmlns:a="http://schemas.openxmlformats.org/drawingml/2006/main">
              <a:ext uri="{FF2B5EF4-FFF2-40B4-BE49-F238E27FC236}">
                <a16:creationId xmlns:a16="http://schemas.microsoft.com/office/drawing/2014/main" id="{E18243B9-5CB5-4540-ABDB-47C6D28979FC}"/>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E4DA89D2-1870-4D18-9CCD-69D6849F5E08}"/>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7C39357B-9E2E-444C-88C0-A97C814EB809}"/>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19</a:t>
            </a:r>
          </a:p>
        </p:txBody>
      </p:sp>
      <p:sp>
        <p:nvSpPr>
          <p:cNvPr id="6" name="">
            <a:extLst xmlns:a="http://schemas.openxmlformats.org/drawingml/2006/main">
              <a:ext uri="{FF2B5EF4-FFF2-40B4-BE49-F238E27FC236}">
                <a16:creationId xmlns:a16="http://schemas.microsoft.com/office/drawing/2014/main" id="{34AA5C16-8CB2-4D54-A201-7DB4E96E28DC}"/>
              </a:ext>
            </a:extLst>
          </p:cNvPr>
          <p:cNvSpPr>
            <a:spLocks xmlns:a="http://schemas.openxmlformats.org/drawingml/2006/main" noGrp="1"/>
          </p:cNvSpPr>
          <p:nvPr/>
        </p:nvSpPr>
        <p:spPr>
          <a:xfrm xmlns:a="http://schemas.openxmlformats.org/drawingml/2006/main">
            <a:off x="714375" y="1552575"/>
            <a:ext cx="5048250" cy="1200150"/>
          </a:xfrm>
          <a:prstGeom xmlns:a="http://schemas.openxmlformats.org/drawingml/2006/main" prst="roundRect">
            <a:avLst>
              <a:gd name="adj" fmla="val 9524"/>
            </a:avLst>
          </a:prstGeom>
          <a:solidFill xmlns:a="http://schemas.openxmlformats.org/drawingml/2006/main">
            <a:srgbClr val="F2F6FA"/>
          </a:solidFill>
          <a:ln xmlns:a="http://schemas.openxmlformats.org/drawingml/2006/main" w="19050">
            <a:solidFill>
              <a:srgbClr val="1F5B88"/>
            </a:solidFill>
            <a:prstDash val="solid"/>
          </a:ln>
        </p:spPr>
      </p:sp>
      <p:sp>
        <p:nvSpPr>
          <p:cNvPr id="7" name="">
            <a:extLst xmlns:a="http://schemas.openxmlformats.org/drawingml/2006/main">
              <a:ext uri="{FF2B5EF4-FFF2-40B4-BE49-F238E27FC236}">
                <a16:creationId xmlns:a16="http://schemas.microsoft.com/office/drawing/2014/main" id="{3EB9F820-851F-4A7E-B900-7146CB57EA6C}"/>
              </a:ext>
            </a:extLst>
          </p:cNvPr>
          <p:cNvSpPr>
            <a:spLocks xmlns:a="http://schemas.openxmlformats.org/drawingml/2006/main" noGrp="1"/>
          </p:cNvSpPr>
          <p:nvPr/>
        </p:nvSpPr>
        <p:spPr>
          <a:xfrm xmlns:a="http://schemas.openxmlformats.org/drawingml/2006/main">
            <a:off x="857250" y="1638300"/>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00" b="1">
                <a:solidFill>
                  <a:srgbClr val="142B4B"/>
                </a:solidFill>
                <a:latin typeface="Arial"/>
                <a:ea typeface="Arial"/>
                <a:cs typeface="Arial"/>
              </a:defRPr>
            </a:pPr>
            <a:r>
              <a:rPr sz="1500" b="1">
                <a:solidFill>
                  <a:srgbClr val="142B4B"/>
                </a:solidFill>
                <a:latin typeface="Arial"/>
                <a:ea typeface="Arial"/>
                <a:cs typeface="Arial"/>
              </a:rPr>
              <a:t>Why SMS before email?</a:t>
            </a:r>
          </a:p>
        </p:txBody>
      </p:sp>
      <p:sp>
        <p:nvSpPr>
          <p:cNvPr id="8" name="">
            <a:extLst xmlns:a="http://schemas.openxmlformats.org/drawingml/2006/main">
              <a:ext uri="{FF2B5EF4-FFF2-40B4-BE49-F238E27FC236}">
                <a16:creationId xmlns:a16="http://schemas.microsoft.com/office/drawing/2014/main" id="{85466407-1AE0-4E8E-AEE1-42388EC686F3}"/>
              </a:ext>
            </a:extLst>
          </p:cNvPr>
          <p:cNvSpPr>
            <a:spLocks xmlns:a="http://schemas.openxmlformats.org/drawingml/2006/main" noGrp="1"/>
          </p:cNvSpPr>
          <p:nvPr/>
        </p:nvSpPr>
        <p:spPr>
          <a:xfrm xmlns:a="http://schemas.openxmlformats.org/drawingml/2006/main">
            <a:off x="857250" y="2009775"/>
            <a:ext cx="4762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350" b="0">
                <a:solidFill>
                  <a:srgbClr val="53677E"/>
                </a:solidFill>
                <a:latin typeface="Arial"/>
                <a:ea typeface="Arial"/>
                <a:cs typeface="Arial"/>
              </a:defRPr>
            </a:pPr>
            <a:r>
              <a:rPr sz="1350" b="0">
                <a:solidFill>
                  <a:srgbClr val="53677E"/>
                </a:solidFill>
                <a:latin typeface="Arial"/>
                <a:ea typeface="Arial"/>
                <a:cs typeface="Arial"/>
              </a:rPr>
              <a:t>It follows the project’s specified sign-in sequence: password, SMS, then email.</a:t>
            </a:r>
          </a:p>
        </p:txBody>
      </p:sp>
      <p:sp>
        <p:nvSpPr>
          <p:cNvPr id="9" name="">
            <a:extLst xmlns:a="http://schemas.openxmlformats.org/drawingml/2006/main">
              <a:ext uri="{FF2B5EF4-FFF2-40B4-BE49-F238E27FC236}">
                <a16:creationId xmlns:a16="http://schemas.microsoft.com/office/drawing/2014/main" id="{C6F8B90E-5956-4360-84A7-FD254B57827D}"/>
              </a:ext>
            </a:extLst>
          </p:cNvPr>
          <p:cNvSpPr>
            <a:spLocks xmlns:a="http://schemas.openxmlformats.org/drawingml/2006/main" noGrp="1"/>
          </p:cNvSpPr>
          <p:nvPr/>
        </p:nvSpPr>
        <p:spPr>
          <a:xfrm xmlns:a="http://schemas.openxmlformats.org/drawingml/2006/main">
            <a:off x="714375" y="2990850"/>
            <a:ext cx="5048250" cy="1200150"/>
          </a:xfrm>
          <a:prstGeom xmlns:a="http://schemas.openxmlformats.org/drawingml/2006/main" prst="roundRect">
            <a:avLst>
              <a:gd name="adj" fmla="val 9524"/>
            </a:avLst>
          </a:prstGeom>
          <a:solidFill xmlns:a="http://schemas.openxmlformats.org/drawingml/2006/main">
            <a:srgbClr val="F2F6FA"/>
          </a:solidFill>
          <a:ln xmlns:a="http://schemas.openxmlformats.org/drawingml/2006/main" w="19050">
            <a:solidFill>
              <a:srgbClr val="1F5B88"/>
            </a:solidFill>
            <a:prstDash val="solid"/>
          </a:ln>
        </p:spPr>
      </p:sp>
      <p:sp>
        <p:nvSpPr>
          <p:cNvPr id="10" name="">
            <a:extLst xmlns:a="http://schemas.openxmlformats.org/drawingml/2006/main">
              <a:ext uri="{FF2B5EF4-FFF2-40B4-BE49-F238E27FC236}">
                <a16:creationId xmlns:a16="http://schemas.microsoft.com/office/drawing/2014/main" id="{11990077-AB11-421C-9101-A2A3DDEC70CC}"/>
              </a:ext>
            </a:extLst>
          </p:cNvPr>
          <p:cNvSpPr>
            <a:spLocks xmlns:a="http://schemas.openxmlformats.org/drawingml/2006/main" noGrp="1"/>
          </p:cNvSpPr>
          <p:nvPr/>
        </p:nvSpPr>
        <p:spPr>
          <a:xfrm xmlns:a="http://schemas.openxmlformats.org/drawingml/2006/main">
            <a:off x="857250" y="3076575"/>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00" b="1">
                <a:solidFill>
                  <a:srgbClr val="142B4B"/>
                </a:solidFill>
                <a:latin typeface="Arial"/>
                <a:ea typeface="Arial"/>
                <a:cs typeface="Arial"/>
              </a:defRPr>
            </a:pPr>
            <a:r>
              <a:rPr sz="1500" b="1">
                <a:solidFill>
                  <a:srgbClr val="142B4B"/>
                </a:solidFill>
                <a:latin typeface="Arial"/>
                <a:ea typeface="Arial"/>
                <a:cs typeface="Arial"/>
              </a:rPr>
              <a:t>Why Django and PostgreSQL?</a:t>
            </a:r>
          </a:p>
        </p:txBody>
      </p:sp>
      <p:sp>
        <p:nvSpPr>
          <p:cNvPr id="11" name="">
            <a:extLst xmlns:a="http://schemas.openxmlformats.org/drawingml/2006/main">
              <a:ext uri="{FF2B5EF4-FFF2-40B4-BE49-F238E27FC236}">
                <a16:creationId xmlns:a16="http://schemas.microsoft.com/office/drawing/2014/main" id="{6AE1B010-589C-46D8-B232-0F22AF38BAFE}"/>
              </a:ext>
            </a:extLst>
          </p:cNvPr>
          <p:cNvSpPr>
            <a:spLocks xmlns:a="http://schemas.openxmlformats.org/drawingml/2006/main" noGrp="1"/>
          </p:cNvSpPr>
          <p:nvPr/>
        </p:nvSpPr>
        <p:spPr>
          <a:xfrm xmlns:a="http://schemas.openxmlformats.org/drawingml/2006/main">
            <a:off x="857250" y="3448050"/>
            <a:ext cx="4762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350" b="0">
                <a:solidFill>
                  <a:srgbClr val="53677E"/>
                </a:solidFill>
                <a:latin typeface="Arial"/>
                <a:ea typeface="Arial"/>
                <a:cs typeface="Arial"/>
              </a:defRPr>
            </a:pPr>
            <a:r>
              <a:rPr sz="1350" b="0">
                <a:solidFill>
                  <a:srgbClr val="53677E"/>
                </a:solidFill>
                <a:latin typeface="Arial"/>
                <a:ea typeface="Arial"/>
                <a:cs typeface="Arial"/>
              </a:rPr>
              <a:t>They provide server-side rules and structured, linked school records.</a:t>
            </a:r>
          </a:p>
        </p:txBody>
      </p:sp>
      <p:sp>
        <p:nvSpPr>
          <p:cNvPr id="12" name="">
            <a:extLst xmlns:a="http://schemas.openxmlformats.org/drawingml/2006/main">
              <a:ext uri="{FF2B5EF4-FFF2-40B4-BE49-F238E27FC236}">
                <a16:creationId xmlns:a16="http://schemas.microsoft.com/office/drawing/2014/main" id="{B7193A1D-6B21-41B2-9CCD-53FFC6331009}"/>
              </a:ext>
            </a:extLst>
          </p:cNvPr>
          <p:cNvSpPr>
            <a:spLocks xmlns:a="http://schemas.openxmlformats.org/drawingml/2006/main" noGrp="1"/>
          </p:cNvSpPr>
          <p:nvPr/>
        </p:nvSpPr>
        <p:spPr>
          <a:xfrm xmlns:a="http://schemas.openxmlformats.org/drawingml/2006/main">
            <a:off x="714375" y="4429125"/>
            <a:ext cx="5048250" cy="1200150"/>
          </a:xfrm>
          <a:prstGeom xmlns:a="http://schemas.openxmlformats.org/drawingml/2006/main" prst="roundRect">
            <a:avLst>
              <a:gd name="adj" fmla="val 9524"/>
            </a:avLst>
          </a:prstGeom>
          <a:solidFill xmlns:a="http://schemas.openxmlformats.org/drawingml/2006/main">
            <a:srgbClr val="F2F6FA"/>
          </a:solidFill>
          <a:ln xmlns:a="http://schemas.openxmlformats.org/drawingml/2006/main" w="19050">
            <a:solidFill>
              <a:srgbClr val="1F5B88"/>
            </a:solidFill>
            <a:prstDash val="solid"/>
          </a:ln>
        </p:spPr>
      </p:sp>
      <p:sp>
        <p:nvSpPr>
          <p:cNvPr id="13" name="">
            <a:extLst xmlns:a="http://schemas.openxmlformats.org/drawingml/2006/main">
              <a:ext uri="{FF2B5EF4-FFF2-40B4-BE49-F238E27FC236}">
                <a16:creationId xmlns:a16="http://schemas.microsoft.com/office/drawing/2014/main" id="{FE8A487E-B639-4A41-BA47-5EEB225C0587}"/>
              </a:ext>
            </a:extLst>
          </p:cNvPr>
          <p:cNvSpPr>
            <a:spLocks xmlns:a="http://schemas.openxmlformats.org/drawingml/2006/main" noGrp="1"/>
          </p:cNvSpPr>
          <p:nvPr/>
        </p:nvSpPr>
        <p:spPr>
          <a:xfrm xmlns:a="http://schemas.openxmlformats.org/drawingml/2006/main">
            <a:off x="857250" y="4514850"/>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00" b="1">
                <a:solidFill>
                  <a:srgbClr val="142B4B"/>
                </a:solidFill>
                <a:latin typeface="Arial"/>
                <a:ea typeface="Arial"/>
                <a:cs typeface="Arial"/>
              </a:defRPr>
            </a:pPr>
            <a:r>
              <a:rPr sz="1500" b="1">
                <a:solidFill>
                  <a:srgbClr val="142B4B"/>
                </a:solidFill>
                <a:latin typeface="Arial"/>
                <a:ea typeface="Arial"/>
                <a:cs typeface="Arial"/>
              </a:rPr>
              <a:t>What does Firebase do?</a:t>
            </a:r>
          </a:p>
        </p:txBody>
      </p:sp>
      <p:sp>
        <p:nvSpPr>
          <p:cNvPr id="14" name="">
            <a:extLst xmlns:a="http://schemas.openxmlformats.org/drawingml/2006/main">
              <a:ext uri="{FF2B5EF4-FFF2-40B4-BE49-F238E27FC236}">
                <a16:creationId xmlns:a16="http://schemas.microsoft.com/office/drawing/2014/main" id="{B826739A-DDC2-41A6-AA46-160E93F43AB6}"/>
              </a:ext>
            </a:extLst>
          </p:cNvPr>
          <p:cNvSpPr>
            <a:spLocks xmlns:a="http://schemas.openxmlformats.org/drawingml/2006/main" noGrp="1"/>
          </p:cNvSpPr>
          <p:nvPr/>
        </p:nvSpPr>
        <p:spPr>
          <a:xfrm xmlns:a="http://schemas.openxmlformats.org/drawingml/2006/main">
            <a:off x="857250" y="4886325"/>
            <a:ext cx="4762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350" b="0">
                <a:solidFill>
                  <a:srgbClr val="53677E"/>
                </a:solidFill>
                <a:latin typeface="Arial"/>
                <a:ea typeface="Arial"/>
                <a:cs typeface="Arial"/>
              </a:defRPr>
            </a:pPr>
            <a:r>
              <a:rPr sz="1350" b="0">
                <a:solidFill>
                  <a:srgbClr val="53677E"/>
                </a:solidFill>
                <a:latin typeface="Arial"/>
                <a:ea typeface="Arial"/>
                <a:cs typeface="Arial"/>
              </a:rPr>
              <a:t>It handles phone verification and the SMS code; the portal enforces its own flow too.</a:t>
            </a:r>
          </a:p>
        </p:txBody>
      </p:sp>
      <p:sp>
        <p:nvSpPr>
          <p:cNvPr id="15" name="">
            <a:extLst xmlns:a="http://schemas.openxmlformats.org/drawingml/2006/main">
              <a:ext uri="{FF2B5EF4-FFF2-40B4-BE49-F238E27FC236}">
                <a16:creationId xmlns:a16="http://schemas.microsoft.com/office/drawing/2014/main" id="{85C0B9AC-B20C-4538-BC9F-446D153E3F93}"/>
              </a:ext>
            </a:extLst>
          </p:cNvPr>
          <p:cNvSpPr>
            <a:spLocks xmlns:a="http://schemas.openxmlformats.org/drawingml/2006/main" noGrp="1"/>
          </p:cNvSpPr>
          <p:nvPr/>
        </p:nvSpPr>
        <p:spPr>
          <a:xfrm xmlns:a="http://schemas.openxmlformats.org/drawingml/2006/main">
            <a:off x="6191250" y="1552575"/>
            <a:ext cx="5048250" cy="1200150"/>
          </a:xfrm>
          <a:prstGeom xmlns:a="http://schemas.openxmlformats.org/drawingml/2006/main" prst="roundRect">
            <a:avLst>
              <a:gd name="adj" fmla="val 9524"/>
            </a:avLst>
          </a:prstGeom>
          <a:solidFill xmlns:a="http://schemas.openxmlformats.org/drawingml/2006/main">
            <a:srgbClr val="E8F1F8"/>
          </a:solidFill>
          <a:ln xmlns:a="http://schemas.openxmlformats.org/drawingml/2006/main" w="19050">
            <a:solidFill>
              <a:srgbClr val="07897F"/>
            </a:solidFill>
            <a:prstDash val="solid"/>
          </a:ln>
        </p:spPr>
      </p:sp>
      <p:sp>
        <p:nvSpPr>
          <p:cNvPr id="16" name="">
            <a:extLst xmlns:a="http://schemas.openxmlformats.org/drawingml/2006/main">
              <a:ext uri="{FF2B5EF4-FFF2-40B4-BE49-F238E27FC236}">
                <a16:creationId xmlns:a16="http://schemas.microsoft.com/office/drawing/2014/main" id="{4BABA6F4-9588-46F9-99EF-A226565851E0}"/>
              </a:ext>
            </a:extLst>
          </p:cNvPr>
          <p:cNvSpPr>
            <a:spLocks xmlns:a="http://schemas.openxmlformats.org/drawingml/2006/main" noGrp="1"/>
          </p:cNvSpPr>
          <p:nvPr/>
        </p:nvSpPr>
        <p:spPr>
          <a:xfrm xmlns:a="http://schemas.openxmlformats.org/drawingml/2006/main">
            <a:off x="6334125" y="1638300"/>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00" b="1">
                <a:solidFill>
                  <a:srgbClr val="142B4B"/>
                </a:solidFill>
                <a:latin typeface="Arial"/>
                <a:ea typeface="Arial"/>
                <a:cs typeface="Arial"/>
              </a:defRPr>
            </a:pPr>
            <a:r>
              <a:rPr sz="1500" b="1">
                <a:solidFill>
                  <a:srgbClr val="142B4B"/>
                </a:solidFill>
                <a:latin typeface="Arial"/>
                <a:ea typeface="Arial"/>
                <a:cs typeface="Arial"/>
              </a:rPr>
              <a:t>What is Keycloak’s role?</a:t>
            </a:r>
          </a:p>
        </p:txBody>
      </p:sp>
      <p:sp>
        <p:nvSpPr>
          <p:cNvPr id="17" name="">
            <a:extLst xmlns:a="http://schemas.openxmlformats.org/drawingml/2006/main">
              <a:ext uri="{FF2B5EF4-FFF2-40B4-BE49-F238E27FC236}">
                <a16:creationId xmlns:a16="http://schemas.microsoft.com/office/drawing/2014/main" id="{07A9188E-185A-4F99-A12B-9A3574D0D039}"/>
              </a:ext>
            </a:extLst>
          </p:cNvPr>
          <p:cNvSpPr>
            <a:spLocks xmlns:a="http://schemas.openxmlformats.org/drawingml/2006/main" noGrp="1"/>
          </p:cNvSpPr>
          <p:nvPr/>
        </p:nvSpPr>
        <p:spPr>
          <a:xfrm xmlns:a="http://schemas.openxmlformats.org/drawingml/2006/main">
            <a:off x="6334125" y="2009775"/>
            <a:ext cx="4762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350" b="0">
                <a:solidFill>
                  <a:srgbClr val="53677E"/>
                </a:solidFill>
                <a:latin typeface="Arial"/>
                <a:ea typeface="Arial"/>
                <a:cs typeface="Arial"/>
              </a:defRPr>
            </a:pPr>
            <a:r>
              <a:rPr sz="1350" b="0">
                <a:solidFill>
                  <a:srgbClr val="53677E"/>
                </a:solidFill>
                <a:latin typeface="Arial"/>
                <a:ea typeface="Arial"/>
                <a:cs typeface="Arial"/>
              </a:rPr>
              <a:t>Optional OIDC/TOTP source. Firebase, not Keycloak, handles the current SMS step.</a:t>
            </a:r>
          </a:p>
        </p:txBody>
      </p:sp>
      <p:sp>
        <p:nvSpPr>
          <p:cNvPr id="18" name="">
            <a:extLst xmlns:a="http://schemas.openxmlformats.org/drawingml/2006/main">
              <a:ext uri="{FF2B5EF4-FFF2-40B4-BE49-F238E27FC236}">
                <a16:creationId xmlns:a16="http://schemas.microsoft.com/office/drawing/2014/main" id="{08BC62A9-C243-4E47-90B5-0F35876DFBB0}"/>
              </a:ext>
            </a:extLst>
          </p:cNvPr>
          <p:cNvSpPr>
            <a:spLocks xmlns:a="http://schemas.openxmlformats.org/drawingml/2006/main" noGrp="1"/>
          </p:cNvSpPr>
          <p:nvPr/>
        </p:nvSpPr>
        <p:spPr>
          <a:xfrm xmlns:a="http://schemas.openxmlformats.org/drawingml/2006/main">
            <a:off x="6191250" y="2990850"/>
            <a:ext cx="5048250" cy="1200150"/>
          </a:xfrm>
          <a:prstGeom xmlns:a="http://schemas.openxmlformats.org/drawingml/2006/main" prst="roundRect">
            <a:avLst>
              <a:gd name="adj" fmla="val 9524"/>
            </a:avLst>
          </a:prstGeom>
          <a:solidFill xmlns:a="http://schemas.openxmlformats.org/drawingml/2006/main">
            <a:srgbClr val="E8F1F8"/>
          </a:solidFill>
          <a:ln xmlns:a="http://schemas.openxmlformats.org/drawingml/2006/main" w="19050">
            <a:solidFill>
              <a:srgbClr val="07897F"/>
            </a:solidFill>
            <a:prstDash val="solid"/>
          </a:ln>
        </p:spPr>
      </p:sp>
      <p:sp>
        <p:nvSpPr>
          <p:cNvPr id="19" name="">
            <a:extLst xmlns:a="http://schemas.openxmlformats.org/drawingml/2006/main">
              <a:ext uri="{FF2B5EF4-FFF2-40B4-BE49-F238E27FC236}">
                <a16:creationId xmlns:a16="http://schemas.microsoft.com/office/drawing/2014/main" id="{13614C28-4902-4A9D-B383-9D03B84935B8}"/>
              </a:ext>
            </a:extLst>
          </p:cNvPr>
          <p:cNvSpPr>
            <a:spLocks xmlns:a="http://schemas.openxmlformats.org/drawingml/2006/main" noGrp="1"/>
          </p:cNvSpPr>
          <p:nvPr/>
        </p:nvSpPr>
        <p:spPr>
          <a:xfrm xmlns:a="http://schemas.openxmlformats.org/drawingml/2006/main">
            <a:off x="6334125" y="3076575"/>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00" b="1">
                <a:solidFill>
                  <a:srgbClr val="142B4B"/>
                </a:solidFill>
                <a:latin typeface="Arial"/>
                <a:ea typeface="Arial"/>
                <a:cs typeface="Arial"/>
              </a:defRPr>
            </a:pPr>
            <a:r>
              <a:rPr sz="1500" b="1">
                <a:solidFill>
                  <a:srgbClr val="142B4B"/>
                </a:solidFill>
                <a:latin typeface="Arial"/>
                <a:ea typeface="Arial"/>
                <a:cs typeface="Arial"/>
              </a:rPr>
              <a:t>Is it unhackable?</a:t>
            </a:r>
          </a:p>
        </p:txBody>
      </p:sp>
      <p:sp>
        <p:nvSpPr>
          <p:cNvPr id="20" name="">
            <a:extLst xmlns:a="http://schemas.openxmlformats.org/drawingml/2006/main">
              <a:ext uri="{FF2B5EF4-FFF2-40B4-BE49-F238E27FC236}">
                <a16:creationId xmlns:a16="http://schemas.microsoft.com/office/drawing/2014/main" id="{40FB8814-0B2A-422A-BC37-624FE1A9BBF2}"/>
              </a:ext>
            </a:extLst>
          </p:cNvPr>
          <p:cNvSpPr>
            <a:spLocks xmlns:a="http://schemas.openxmlformats.org/drawingml/2006/main" noGrp="1"/>
          </p:cNvSpPr>
          <p:nvPr/>
        </p:nvSpPr>
        <p:spPr>
          <a:xfrm xmlns:a="http://schemas.openxmlformats.org/drawingml/2006/main">
            <a:off x="6334125" y="3448050"/>
            <a:ext cx="4762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350" b="0">
                <a:solidFill>
                  <a:srgbClr val="53677E"/>
                </a:solidFill>
                <a:latin typeface="Arial"/>
                <a:ea typeface="Arial"/>
                <a:cs typeface="Arial"/>
              </a:defRPr>
            </a:pPr>
            <a:r>
              <a:rPr sz="1350" b="0">
                <a:solidFill>
                  <a:srgbClr val="53677E"/>
                </a:solidFill>
                <a:latin typeface="Arial"/>
                <a:ea typeface="Arial"/>
                <a:cs typeface="Arial"/>
              </a:rPr>
              <a:t>No. We can show scoped checks and explain what was not tested.</a:t>
            </a:r>
          </a:p>
        </p:txBody>
      </p:sp>
      <p:sp>
        <p:nvSpPr>
          <p:cNvPr id="21" name="">
            <a:extLst xmlns:a="http://schemas.openxmlformats.org/drawingml/2006/main">
              <a:ext uri="{FF2B5EF4-FFF2-40B4-BE49-F238E27FC236}">
                <a16:creationId xmlns:a16="http://schemas.microsoft.com/office/drawing/2014/main" id="{BDAB260C-D1A2-4F00-AC91-BC33DD993368}"/>
              </a:ext>
            </a:extLst>
          </p:cNvPr>
          <p:cNvSpPr>
            <a:spLocks xmlns:a="http://schemas.openxmlformats.org/drawingml/2006/main" noGrp="1"/>
          </p:cNvSpPr>
          <p:nvPr/>
        </p:nvSpPr>
        <p:spPr>
          <a:xfrm xmlns:a="http://schemas.openxmlformats.org/drawingml/2006/main">
            <a:off x="6191250" y="4429125"/>
            <a:ext cx="5048250" cy="1200150"/>
          </a:xfrm>
          <a:prstGeom xmlns:a="http://schemas.openxmlformats.org/drawingml/2006/main" prst="roundRect">
            <a:avLst>
              <a:gd name="adj" fmla="val 9524"/>
            </a:avLst>
          </a:prstGeom>
          <a:solidFill xmlns:a="http://schemas.openxmlformats.org/drawingml/2006/main">
            <a:srgbClr val="E8F1F8"/>
          </a:solidFill>
          <a:ln xmlns:a="http://schemas.openxmlformats.org/drawingml/2006/main" w="19050">
            <a:solidFill>
              <a:srgbClr val="07897F"/>
            </a:solidFill>
            <a:prstDash val="solid"/>
          </a:ln>
        </p:spPr>
      </p:sp>
      <p:sp>
        <p:nvSpPr>
          <p:cNvPr id="22" name="">
            <a:extLst xmlns:a="http://schemas.openxmlformats.org/drawingml/2006/main">
              <a:ext uri="{FF2B5EF4-FFF2-40B4-BE49-F238E27FC236}">
                <a16:creationId xmlns:a16="http://schemas.microsoft.com/office/drawing/2014/main" id="{D50A6676-C018-4709-A0F6-BF52BB80931F}"/>
              </a:ext>
            </a:extLst>
          </p:cNvPr>
          <p:cNvSpPr>
            <a:spLocks xmlns:a="http://schemas.openxmlformats.org/drawingml/2006/main" noGrp="1"/>
          </p:cNvSpPr>
          <p:nvPr/>
        </p:nvSpPr>
        <p:spPr>
          <a:xfrm xmlns:a="http://schemas.openxmlformats.org/drawingml/2006/main">
            <a:off x="6334125" y="4514850"/>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00" b="1">
                <a:solidFill>
                  <a:srgbClr val="142B4B"/>
                </a:solidFill>
                <a:latin typeface="Arial"/>
                <a:ea typeface="Arial"/>
                <a:cs typeface="Arial"/>
              </a:defRPr>
            </a:pPr>
            <a:r>
              <a:rPr sz="1500" b="1">
                <a:solidFill>
                  <a:srgbClr val="142B4B"/>
                </a:solidFill>
                <a:latin typeface="Arial"/>
                <a:ea typeface="Arial"/>
                <a:cs typeface="Arial"/>
              </a:rPr>
              <a:t>Does a request mean an account exists?</a:t>
            </a:r>
          </a:p>
        </p:txBody>
      </p:sp>
      <p:sp>
        <p:nvSpPr>
          <p:cNvPr id="23" name="">
            <a:extLst xmlns:a="http://schemas.openxmlformats.org/drawingml/2006/main">
              <a:ext uri="{FF2B5EF4-FFF2-40B4-BE49-F238E27FC236}">
                <a16:creationId xmlns:a16="http://schemas.microsoft.com/office/drawing/2014/main" id="{D2CBDCEC-5A63-472C-B02E-76F6E6A41F59}"/>
              </a:ext>
            </a:extLst>
          </p:cNvPr>
          <p:cNvSpPr>
            <a:spLocks xmlns:a="http://schemas.openxmlformats.org/drawingml/2006/main" noGrp="1"/>
          </p:cNvSpPr>
          <p:nvPr/>
        </p:nvSpPr>
        <p:spPr>
          <a:xfrm xmlns:a="http://schemas.openxmlformats.org/drawingml/2006/main">
            <a:off x="6334125" y="4886325"/>
            <a:ext cx="4762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350" b="0">
                <a:solidFill>
                  <a:srgbClr val="53677E"/>
                </a:solidFill>
                <a:latin typeface="Arial"/>
                <a:ea typeface="Arial"/>
                <a:cs typeface="Arial"/>
              </a:defRPr>
            </a:pPr>
            <a:r>
              <a:rPr sz="1350" b="0">
                <a:solidFill>
                  <a:srgbClr val="53677E"/>
                </a:solidFill>
                <a:latin typeface="Arial"/>
                <a:ea typeface="Arial"/>
                <a:cs typeface="Arial"/>
              </a:rPr>
              <a:t>No. An administrator must review and approve access requests.</a:t>
            </a:r>
          </a:p>
        </p:txBody>
      </p:sp>
    </p:spTree>
    <p:extLst>
      <p:ext uri="{BB962C8B-B14F-4D97-AF65-F5344CB8AC3E}">
        <p14:creationId xmlns:p14="http://schemas.microsoft.com/office/powerpoint/2010/main" val="15832551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C8323BC-B681-4ED3-B020-25D8FA55859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07897F"/>
          </a:solidFill>
          <a:ln xmlns:a="http://schemas.openxmlformats.org/drawingml/2006/main" w="0">
            <a:solidFill>
              <a:srgbClr val="07897F"/>
            </a:solidFill>
          </a:ln>
        </p:spPr>
      </p:sp>
      <p:sp>
        <p:nvSpPr>
          <p:cNvPr id="2" name="">
            <a:extLst xmlns:a="http://schemas.openxmlformats.org/drawingml/2006/main">
              <a:ext uri="{FF2B5EF4-FFF2-40B4-BE49-F238E27FC236}">
                <a16:creationId xmlns:a16="http://schemas.microsoft.com/office/drawing/2014/main" id="{5507EE76-2E07-48E3-A648-8124284A8173}"/>
              </a:ext>
            </a:extLst>
          </p:cNvPr>
          <p:cNvSpPr>
            <a:spLocks xmlns:a="http://schemas.openxmlformats.org/drawingml/2006/main" noGrp="1"/>
          </p:cNvSpPr>
          <p:nvPr/>
        </p:nvSpPr>
        <p:spPr>
          <a:xfrm xmlns:a="http://schemas.openxmlformats.org/drawingml/2006/main">
            <a:off x="666750" y="3810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3300" b="1">
                <a:solidFill>
                  <a:srgbClr val="142B4B"/>
                </a:solidFill>
                <a:latin typeface="Arial"/>
                <a:ea typeface="Arial"/>
                <a:cs typeface="Arial"/>
              </a:defRPr>
            </a:pPr>
            <a:r>
              <a:rPr sz="3300" b="1">
                <a:solidFill>
                  <a:srgbClr val="142B4B"/>
                </a:solidFill>
                <a:latin typeface="Arial"/>
                <a:ea typeface="Arial"/>
                <a:cs typeface="Arial"/>
              </a:rPr>
              <a:t>Takeaway and next evidence</a:t>
            </a:r>
          </a:p>
        </p:txBody>
      </p:sp>
      <p:sp>
        <p:nvSpPr>
          <p:cNvPr id="3" name="">
            <a:extLst xmlns:a="http://schemas.openxmlformats.org/drawingml/2006/main">
              <a:ext uri="{FF2B5EF4-FFF2-40B4-BE49-F238E27FC236}">
                <a16:creationId xmlns:a16="http://schemas.microsoft.com/office/drawing/2014/main" id="{BFFD467D-378D-45A1-B6C1-872759A9A5D4}"/>
              </a:ext>
            </a:extLst>
          </p:cNvPr>
          <p:cNvSpPr>
            <a:spLocks xmlns:a="http://schemas.openxmlformats.org/drawingml/2006/main" noGrp="1"/>
          </p:cNvSpPr>
          <p:nvPr/>
        </p:nvSpPr>
        <p:spPr>
          <a:xfrm xmlns:a="http://schemas.openxmlformats.org/drawingml/2006/main">
            <a:off x="666750" y="6191250"/>
            <a:ext cx="108585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4" name="">
            <a:extLst xmlns:a="http://schemas.openxmlformats.org/drawingml/2006/main">
              <a:ext uri="{FF2B5EF4-FFF2-40B4-BE49-F238E27FC236}">
                <a16:creationId xmlns:a16="http://schemas.microsoft.com/office/drawing/2014/main" id="{FF720310-9335-4CD4-BD0D-63E4E81029DB}"/>
              </a:ext>
            </a:extLst>
          </p:cNvPr>
          <p:cNvSpPr>
            <a:spLocks xmlns:a="http://schemas.openxmlformats.org/drawingml/2006/main" noGrp="1"/>
          </p:cNvSpPr>
          <p:nvPr/>
        </p:nvSpPr>
        <p:spPr>
          <a:xfrm xmlns:a="http://schemas.openxmlformats.org/drawingml/2006/main">
            <a:off x="666750" y="62769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200" b="0">
                <a:solidFill>
                  <a:srgbClr val="53677E"/>
                </a:solidFill>
                <a:latin typeface="Arial"/>
                <a:ea typeface="Arial"/>
                <a:cs typeface="Arial"/>
              </a:defRPr>
            </a:pPr>
            <a:r>
              <a:rPr sz="1200" b="0">
                <a:solidFill>
                  <a:srgbClr val="53677E"/>
                </a:solidFill>
                <a:latin typeface="Arial"/>
                <a:ea typeface="Arial"/>
                <a:cs typeface="Arial"/>
              </a:rPr>
              <a:t>AuthShield 360  |  MSG Security Squad</a:t>
            </a:r>
          </a:p>
        </p:txBody>
      </p:sp>
      <p:sp>
        <p:nvSpPr>
          <p:cNvPr id="5" name="">
            <a:extLst xmlns:a="http://schemas.openxmlformats.org/drawingml/2006/main">
              <a:ext uri="{FF2B5EF4-FFF2-40B4-BE49-F238E27FC236}">
                <a16:creationId xmlns:a16="http://schemas.microsoft.com/office/drawing/2014/main" id="{D759D362-1389-4138-B62F-D51B8B48DA15}"/>
              </a:ext>
            </a:extLst>
          </p:cNvPr>
          <p:cNvSpPr>
            <a:spLocks xmlns:a="http://schemas.openxmlformats.org/drawingml/2006/main" noGrp="1"/>
          </p:cNvSpPr>
          <p:nvPr/>
        </p:nvSpPr>
        <p:spPr>
          <a:xfrm xmlns:a="http://schemas.openxmlformats.org/drawingml/2006/main">
            <a:off x="11049000" y="6276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r">
              <a:defRPr sz="1200" b="0">
                <a:solidFill>
                  <a:srgbClr val="53677E"/>
                </a:solidFill>
                <a:latin typeface="Arial"/>
                <a:ea typeface="Arial"/>
                <a:cs typeface="Arial"/>
              </a:defRPr>
            </a:pPr>
            <a:r>
              <a:rPr sz="1200" b="0">
                <a:solidFill>
                  <a:srgbClr val="53677E"/>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BBC79CC4-57B9-45BE-BBA2-59678AD7A41F}"/>
              </a:ext>
            </a:extLst>
          </p:cNvPr>
          <p:cNvSpPr>
            <a:spLocks xmlns:a="http://schemas.openxmlformats.org/drawingml/2006/main" noGrp="1"/>
          </p:cNvSpPr>
          <p:nvPr/>
        </p:nvSpPr>
        <p:spPr>
          <a:xfrm xmlns:a="http://schemas.openxmlformats.org/drawingml/2006/main">
            <a:off x="952500" y="1409700"/>
            <a:ext cx="1028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2325" b="1">
                <a:solidFill>
                  <a:srgbClr val="142B4B"/>
                </a:solidFill>
                <a:latin typeface="Arial"/>
                <a:ea typeface="Arial"/>
                <a:cs typeface="Arial"/>
              </a:defRPr>
            </a:pPr>
            <a:r>
              <a:rPr sz="2325" b="1">
                <a:solidFill>
                  <a:srgbClr val="142B4B"/>
                </a:solidFill>
                <a:latin typeface="Arial"/>
                <a:ea typeface="Arial"/>
                <a:cs typeface="Arial"/>
              </a:rPr>
              <a:t>AuthShield 360 is a role-based school portal with layered sign-in and separate provider responsibilities.</a:t>
            </a:r>
          </a:p>
        </p:txBody>
      </p:sp>
      <p:sp>
        <p:nvSpPr>
          <p:cNvPr id="7" name="">
            <a:extLst xmlns:a="http://schemas.openxmlformats.org/drawingml/2006/main">
              <a:ext uri="{FF2B5EF4-FFF2-40B4-BE49-F238E27FC236}">
                <a16:creationId xmlns:a16="http://schemas.microsoft.com/office/drawing/2014/main" id="{4C0B5F6D-6AA7-4188-AC8C-6A9881AC020B}"/>
              </a:ext>
            </a:extLst>
          </p:cNvPr>
          <p:cNvSpPr>
            <a:spLocks xmlns:a="http://schemas.openxmlformats.org/drawingml/2006/main" noGrp="1"/>
          </p:cNvSpPr>
          <p:nvPr/>
        </p:nvSpPr>
        <p:spPr>
          <a:xfrm xmlns:a="http://schemas.openxmlformats.org/drawingml/2006/main">
            <a:off x="1809750" y="2714625"/>
            <a:ext cx="8572500" cy="514350"/>
          </a:xfrm>
          <a:prstGeom xmlns:a="http://schemas.openxmlformats.org/drawingml/2006/main" prst="roundRect">
            <a:avLst>
              <a:gd name="adj" fmla="val 22222"/>
            </a:avLst>
          </a:prstGeom>
          <a:solidFill xmlns:a="http://schemas.openxmlformats.org/drawingml/2006/main">
            <a:srgbClr val="E8F1F8"/>
          </a:solidFill>
          <a:ln xmlns:a="http://schemas.openxmlformats.org/drawingml/2006/main" w="19050">
            <a:solidFill>
              <a:srgbClr val="1F5B88"/>
            </a:solidFill>
            <a:prstDash val="solid"/>
          </a:ln>
        </p:spPr>
      </p:sp>
      <p:sp>
        <p:nvSpPr>
          <p:cNvPr id="8" name="">
            <a:extLst xmlns:a="http://schemas.openxmlformats.org/drawingml/2006/main">
              <a:ext uri="{FF2B5EF4-FFF2-40B4-BE49-F238E27FC236}">
                <a16:creationId xmlns:a16="http://schemas.microsoft.com/office/drawing/2014/main" id="{A0B2E1F0-C572-421B-82BE-6DCD2F74B34C}"/>
              </a:ext>
            </a:extLst>
          </p:cNvPr>
          <p:cNvSpPr>
            <a:spLocks xmlns:a="http://schemas.openxmlformats.org/drawingml/2006/main" noGrp="1"/>
          </p:cNvSpPr>
          <p:nvPr/>
        </p:nvSpPr>
        <p:spPr>
          <a:xfrm xmlns:a="http://schemas.openxmlformats.org/drawingml/2006/main">
            <a:off x="1981200" y="278130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F5B88"/>
                </a:solidFill>
                <a:latin typeface="Arial"/>
                <a:ea typeface="Arial"/>
                <a:cs typeface="Arial"/>
              </a:defRPr>
            </a:pPr>
            <a:r>
              <a:rPr sz="1650" b="1">
                <a:solidFill>
                  <a:srgbClr val="1F5B88"/>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BBCB4234-3DF4-4DEC-806A-75C1A0DB660E}"/>
              </a:ext>
            </a:extLst>
          </p:cNvPr>
          <p:cNvSpPr>
            <a:spLocks xmlns:a="http://schemas.openxmlformats.org/drawingml/2006/main" noGrp="1"/>
          </p:cNvSpPr>
          <p:nvPr/>
        </p:nvSpPr>
        <p:spPr>
          <a:xfrm xmlns:a="http://schemas.openxmlformats.org/drawingml/2006/main">
            <a:off x="2638425" y="2771775"/>
            <a:ext cx="747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75" b="1">
                <a:solidFill>
                  <a:srgbClr val="142B4B"/>
                </a:solidFill>
                <a:latin typeface="Arial"/>
                <a:ea typeface="Arial"/>
                <a:cs typeface="Arial"/>
              </a:defRPr>
            </a:pPr>
            <a:r>
              <a:rPr sz="1575" b="1">
                <a:solidFill>
                  <a:srgbClr val="142B4B"/>
                </a:solidFill>
                <a:latin typeface="Arial"/>
                <a:ea typeface="Arial"/>
                <a:cs typeface="Arial"/>
              </a:rPr>
              <a:t>Review the approved SRS</a:t>
            </a:r>
          </a:p>
        </p:txBody>
      </p:sp>
      <p:sp>
        <p:nvSpPr>
          <p:cNvPr id="10" name="">
            <a:extLst xmlns:a="http://schemas.openxmlformats.org/drawingml/2006/main">
              <a:ext uri="{FF2B5EF4-FFF2-40B4-BE49-F238E27FC236}">
                <a16:creationId xmlns:a16="http://schemas.microsoft.com/office/drawing/2014/main" id="{83EE1287-D365-47F8-BBD5-13B48C195D65}"/>
              </a:ext>
            </a:extLst>
          </p:cNvPr>
          <p:cNvSpPr>
            <a:spLocks xmlns:a="http://schemas.openxmlformats.org/drawingml/2006/main" noGrp="1"/>
          </p:cNvSpPr>
          <p:nvPr/>
        </p:nvSpPr>
        <p:spPr>
          <a:xfrm xmlns:a="http://schemas.openxmlformats.org/drawingml/2006/main">
            <a:off x="1809750" y="3400425"/>
            <a:ext cx="8572500" cy="514350"/>
          </a:xfrm>
          <a:prstGeom xmlns:a="http://schemas.openxmlformats.org/drawingml/2006/main" prst="roundRect">
            <a:avLst>
              <a:gd name="adj" fmla="val 22222"/>
            </a:avLst>
          </a:prstGeom>
          <a:solidFill xmlns:a="http://schemas.openxmlformats.org/drawingml/2006/main">
            <a:srgbClr val="E9F4F2"/>
          </a:solidFill>
          <a:ln xmlns:a="http://schemas.openxmlformats.org/drawingml/2006/main" w="19050">
            <a:solidFill>
              <a:srgbClr val="07897F"/>
            </a:solidFill>
            <a:prstDash val="solid"/>
          </a:ln>
        </p:spPr>
      </p:sp>
      <p:sp>
        <p:nvSpPr>
          <p:cNvPr id="11" name="">
            <a:extLst xmlns:a="http://schemas.openxmlformats.org/drawingml/2006/main">
              <a:ext uri="{FF2B5EF4-FFF2-40B4-BE49-F238E27FC236}">
                <a16:creationId xmlns:a16="http://schemas.microsoft.com/office/drawing/2014/main" id="{483AD488-69F3-42EB-BDEC-8A2F214CB3D6}"/>
              </a:ext>
            </a:extLst>
          </p:cNvPr>
          <p:cNvSpPr>
            <a:spLocks xmlns:a="http://schemas.openxmlformats.org/drawingml/2006/main" noGrp="1"/>
          </p:cNvSpPr>
          <p:nvPr/>
        </p:nvSpPr>
        <p:spPr>
          <a:xfrm xmlns:a="http://schemas.openxmlformats.org/drawingml/2006/main">
            <a:off x="1981200" y="346710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07897F"/>
                </a:solidFill>
                <a:latin typeface="Arial"/>
                <a:ea typeface="Arial"/>
                <a:cs typeface="Arial"/>
              </a:defRPr>
            </a:pPr>
            <a:r>
              <a:rPr sz="1650" b="1">
                <a:solidFill>
                  <a:srgbClr val="07897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F1BCB547-663C-4798-B6DC-C70D6E579763}"/>
              </a:ext>
            </a:extLst>
          </p:cNvPr>
          <p:cNvSpPr>
            <a:spLocks xmlns:a="http://schemas.openxmlformats.org/drawingml/2006/main" noGrp="1"/>
          </p:cNvSpPr>
          <p:nvPr/>
        </p:nvSpPr>
        <p:spPr>
          <a:xfrm xmlns:a="http://schemas.openxmlformats.org/drawingml/2006/main">
            <a:off x="2638425" y="3457575"/>
            <a:ext cx="747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75" b="1">
                <a:solidFill>
                  <a:srgbClr val="142B4B"/>
                </a:solidFill>
                <a:latin typeface="Arial"/>
                <a:ea typeface="Arial"/>
                <a:cs typeface="Arial"/>
              </a:defRPr>
            </a:pPr>
            <a:r>
              <a:rPr sz="1575" b="1">
                <a:solidFill>
                  <a:srgbClr val="142B4B"/>
                </a:solidFill>
                <a:latin typeface="Arial"/>
                <a:ea typeface="Arial"/>
                <a:cs typeface="Arial"/>
              </a:rPr>
              <a:t>Record a successful release build</a:t>
            </a:r>
          </a:p>
        </p:txBody>
      </p:sp>
      <p:sp>
        <p:nvSpPr>
          <p:cNvPr id="13" name="">
            <a:extLst xmlns:a="http://schemas.openxmlformats.org/drawingml/2006/main">
              <a:ext uri="{FF2B5EF4-FFF2-40B4-BE49-F238E27FC236}">
                <a16:creationId xmlns:a16="http://schemas.microsoft.com/office/drawing/2014/main" id="{919F1888-6C72-4EC4-A506-0EB4D0BA5ECD}"/>
              </a:ext>
            </a:extLst>
          </p:cNvPr>
          <p:cNvSpPr>
            <a:spLocks xmlns:a="http://schemas.openxmlformats.org/drawingml/2006/main" noGrp="1"/>
          </p:cNvSpPr>
          <p:nvPr/>
        </p:nvSpPr>
        <p:spPr>
          <a:xfrm xmlns:a="http://schemas.openxmlformats.org/drawingml/2006/main">
            <a:off x="1809750" y="4086225"/>
            <a:ext cx="8572500" cy="514350"/>
          </a:xfrm>
          <a:prstGeom xmlns:a="http://schemas.openxmlformats.org/drawingml/2006/main" prst="roundRect">
            <a:avLst>
              <a:gd name="adj" fmla="val 22222"/>
            </a:avLst>
          </a:prstGeom>
          <a:solidFill xmlns:a="http://schemas.openxmlformats.org/drawingml/2006/main">
            <a:srgbClr val="FFF7E3"/>
          </a:solidFill>
          <a:ln xmlns:a="http://schemas.openxmlformats.org/drawingml/2006/main" w="19050">
            <a:solidFill>
              <a:srgbClr val="E4A51B"/>
            </a:solidFill>
            <a:prstDash val="solid"/>
          </a:ln>
        </p:spPr>
      </p:sp>
      <p:sp>
        <p:nvSpPr>
          <p:cNvPr id="14" name="">
            <a:extLst xmlns:a="http://schemas.openxmlformats.org/drawingml/2006/main">
              <a:ext uri="{FF2B5EF4-FFF2-40B4-BE49-F238E27FC236}">
                <a16:creationId xmlns:a16="http://schemas.microsoft.com/office/drawing/2014/main" id="{0C2865C2-8858-4F2A-8EE4-E105A30BA03D}"/>
              </a:ext>
            </a:extLst>
          </p:cNvPr>
          <p:cNvSpPr>
            <a:spLocks xmlns:a="http://schemas.openxmlformats.org/drawingml/2006/main" noGrp="1"/>
          </p:cNvSpPr>
          <p:nvPr/>
        </p:nvSpPr>
        <p:spPr>
          <a:xfrm xmlns:a="http://schemas.openxmlformats.org/drawingml/2006/main">
            <a:off x="1981200" y="415290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E4A51B"/>
                </a:solidFill>
                <a:latin typeface="Arial"/>
                <a:ea typeface="Arial"/>
                <a:cs typeface="Arial"/>
              </a:defRPr>
            </a:pPr>
            <a:r>
              <a:rPr sz="1650" b="1">
                <a:solidFill>
                  <a:srgbClr val="E4A51B"/>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86E31568-A0EB-4463-8F71-76B64A27E2D7}"/>
              </a:ext>
            </a:extLst>
          </p:cNvPr>
          <p:cNvSpPr>
            <a:spLocks xmlns:a="http://schemas.openxmlformats.org/drawingml/2006/main" noGrp="1"/>
          </p:cNvSpPr>
          <p:nvPr/>
        </p:nvSpPr>
        <p:spPr>
          <a:xfrm xmlns:a="http://schemas.openxmlformats.org/drawingml/2006/main">
            <a:off x="2638425" y="4143375"/>
            <a:ext cx="747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75" b="1">
                <a:solidFill>
                  <a:srgbClr val="142B4B"/>
                </a:solidFill>
                <a:latin typeface="Arial"/>
                <a:ea typeface="Arial"/>
                <a:cs typeface="Arial"/>
              </a:defRPr>
            </a:pPr>
            <a:r>
              <a:rPr sz="1575" b="1">
                <a:solidFill>
                  <a:srgbClr val="142B4B"/>
                </a:solidFill>
                <a:latin typeface="Arial"/>
                <a:ea typeface="Arial"/>
                <a:cs typeface="Arial"/>
              </a:rPr>
              <a:t>Confirm provider and backup ownership</a:t>
            </a:r>
          </a:p>
        </p:txBody>
      </p:sp>
      <p:sp>
        <p:nvSpPr>
          <p:cNvPr id="16" name="">
            <a:extLst xmlns:a="http://schemas.openxmlformats.org/drawingml/2006/main">
              <a:ext uri="{FF2B5EF4-FFF2-40B4-BE49-F238E27FC236}">
                <a16:creationId xmlns:a16="http://schemas.microsoft.com/office/drawing/2014/main" id="{471D15EE-F065-4800-BD38-87769959D4EE}"/>
              </a:ext>
            </a:extLst>
          </p:cNvPr>
          <p:cNvSpPr>
            <a:spLocks xmlns:a="http://schemas.openxmlformats.org/drawingml/2006/main" noGrp="1"/>
          </p:cNvSpPr>
          <p:nvPr/>
        </p:nvSpPr>
        <p:spPr>
          <a:xfrm xmlns:a="http://schemas.openxmlformats.org/drawingml/2006/main">
            <a:off x="1809750" y="4772025"/>
            <a:ext cx="8572500" cy="514350"/>
          </a:xfrm>
          <a:prstGeom xmlns:a="http://schemas.openxmlformats.org/drawingml/2006/main" prst="roundRect">
            <a:avLst>
              <a:gd name="adj" fmla="val 22222"/>
            </a:avLst>
          </a:prstGeom>
          <a:solidFill xmlns:a="http://schemas.openxmlformats.org/drawingml/2006/main">
            <a:srgbClr val="F2F6FA"/>
          </a:solidFill>
          <a:ln xmlns:a="http://schemas.openxmlformats.org/drawingml/2006/main" w="19050">
            <a:solidFill>
              <a:srgbClr val="53677E"/>
            </a:solidFill>
            <a:prstDash val="solid"/>
          </a:ln>
        </p:spPr>
      </p:sp>
      <p:sp>
        <p:nvSpPr>
          <p:cNvPr id="17" name="">
            <a:extLst xmlns:a="http://schemas.openxmlformats.org/drawingml/2006/main">
              <a:ext uri="{FF2B5EF4-FFF2-40B4-BE49-F238E27FC236}">
                <a16:creationId xmlns:a16="http://schemas.microsoft.com/office/drawing/2014/main" id="{5B7DA86C-6915-4255-893F-6659E0493BA3}"/>
              </a:ext>
            </a:extLst>
          </p:cNvPr>
          <p:cNvSpPr>
            <a:spLocks xmlns:a="http://schemas.openxmlformats.org/drawingml/2006/main" noGrp="1"/>
          </p:cNvSpPr>
          <p:nvPr/>
        </p:nvSpPr>
        <p:spPr>
          <a:xfrm xmlns:a="http://schemas.openxmlformats.org/drawingml/2006/main">
            <a:off x="1981200" y="483870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53677E"/>
                </a:solidFill>
                <a:latin typeface="Arial"/>
                <a:ea typeface="Arial"/>
                <a:cs typeface="Arial"/>
              </a:defRPr>
            </a:pPr>
            <a:r>
              <a:rPr sz="1650" b="1">
                <a:solidFill>
                  <a:srgbClr val="53677E"/>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1E3AAC0E-2E1D-4E93-86C3-6B23D5504085}"/>
              </a:ext>
            </a:extLst>
          </p:cNvPr>
          <p:cNvSpPr>
            <a:spLocks xmlns:a="http://schemas.openxmlformats.org/drawingml/2006/main" noGrp="1"/>
          </p:cNvSpPr>
          <p:nvPr/>
        </p:nvSpPr>
        <p:spPr>
          <a:xfrm xmlns:a="http://schemas.openxmlformats.org/drawingml/2006/main">
            <a:off x="2638425" y="4829175"/>
            <a:ext cx="747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defRPr sz="1575" b="1">
                <a:solidFill>
                  <a:srgbClr val="142B4B"/>
                </a:solidFill>
                <a:latin typeface="Arial"/>
                <a:ea typeface="Arial"/>
                <a:cs typeface="Arial"/>
              </a:defRPr>
            </a:pPr>
            <a:r>
              <a:rPr sz="1575" b="1">
                <a:solidFill>
                  <a:srgbClr val="142B4B"/>
                </a:solidFill>
                <a:latin typeface="Arial"/>
                <a:ea typeface="Arial"/>
                <a:cs typeface="Arial"/>
              </a:rPr>
              <a:t>Run an authorized delivery check</a:t>
            </a:r>
          </a:p>
        </p:txBody>
      </p:sp>
      <p:sp>
        <p:nvSpPr>
          <p:cNvPr id="19" name="">
            <a:extLst xmlns:a="http://schemas.openxmlformats.org/drawingml/2006/main">
              <a:ext uri="{FF2B5EF4-FFF2-40B4-BE49-F238E27FC236}">
                <a16:creationId xmlns:a16="http://schemas.microsoft.com/office/drawing/2014/main" id="{13B1736A-52C3-4CB8-9486-30197829A895}"/>
              </a:ext>
            </a:extLst>
          </p:cNvPr>
          <p:cNvSpPr>
            <a:spLocks xmlns:a="http://schemas.openxmlformats.org/drawingml/2006/main" noGrp="1"/>
          </p:cNvSpPr>
          <p:nvPr/>
        </p:nvSpPr>
        <p:spPr>
          <a:xfrm xmlns:a="http://schemas.openxmlformats.org/drawingml/2006/main">
            <a:off x="952500" y="56578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2250" b="1">
                <a:solidFill>
                  <a:srgbClr val="07897F"/>
                </a:solidFill>
                <a:latin typeface="Arial"/>
                <a:ea typeface="Arial"/>
                <a:cs typeface="Arial"/>
              </a:defRPr>
            </a:pPr>
            <a:r>
              <a:rPr sz="2250" b="1">
                <a:solidFill>
                  <a:srgbClr val="07897F"/>
                </a:solidFill>
                <a:latin typeface="Arial"/>
                <a:ea typeface="Arial"/>
                <a:cs typeface="Arial"/>
              </a:rPr>
              <a:t>Thank you</a:t>
            </a:r>
          </a:p>
        </p:txBody>
      </p:sp>
    </p:spTree>
    <p:extLst>
      <p:ext uri="{BB962C8B-B14F-4D97-AF65-F5344CB8AC3E}">
        <p14:creationId xmlns:p14="http://schemas.microsoft.com/office/powerpoint/2010/main" val="4360252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2026-10-01T15:53:49.5780000Z</dcterms:created>
  <dcterms:modified xsi:type="dcterms:W3CDTF">2026-10-01T15:53:49.5780000Z</dcterms:modified>
</coreProperties>
</file>